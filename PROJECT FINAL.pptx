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5"/>
  </p:notesMasterIdLst>
  <p:handoutMasterIdLst>
    <p:handoutMasterId r:id="rId26"/>
  </p:handoutMasterIdLst>
  <p:sldIdLst>
    <p:sldId id="256" r:id="rId2"/>
    <p:sldId id="257" r:id="rId3"/>
    <p:sldId id="259" r:id="rId4"/>
    <p:sldId id="283" r:id="rId5"/>
    <p:sldId id="274" r:id="rId6"/>
    <p:sldId id="285" r:id="rId7"/>
    <p:sldId id="282" r:id="rId8"/>
    <p:sldId id="263" r:id="rId9"/>
    <p:sldId id="286" r:id="rId10"/>
    <p:sldId id="264" r:id="rId11"/>
    <p:sldId id="275" r:id="rId12"/>
    <p:sldId id="287" r:id="rId13"/>
    <p:sldId id="284" r:id="rId14"/>
    <p:sldId id="288" r:id="rId15"/>
    <p:sldId id="265" r:id="rId16"/>
    <p:sldId id="260" r:id="rId17"/>
    <p:sldId id="289" r:id="rId18"/>
    <p:sldId id="266" r:id="rId19"/>
    <p:sldId id="280" r:id="rId20"/>
    <p:sldId id="290" r:id="rId21"/>
    <p:sldId id="269" r:id="rId22"/>
    <p:sldId id="267" r:id="rId23"/>
    <p:sldId id="268" r:id="rId24"/>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15:guide id="1" orient="horz" pos="2160">
          <p15:clr>
            <a:srgbClr val="A4A3A4"/>
          </p15:clr>
        </p15:guide>
        <p15:guide id="2" pos="384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923C029-27D9-4D47-89C6-AF31FBA30674}" v="25" dt="2026-08-22T03:32:46.479"/>
    <p1510:client id="{A3E3F2EE-7F11-4C70-A115-22C612C66634}" v="2" dt="2026-08-22T04:27:19.088"/>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2" autoAdjust="0"/>
    <p:restoredTop sz="94660"/>
  </p:normalViewPr>
  <p:slideViewPr>
    <p:cSldViewPr>
      <p:cViewPr varScale="1">
        <p:scale>
          <a:sx n="97" d="100"/>
          <a:sy n="97" d="100"/>
        </p:scale>
        <p:origin x="149" y="53"/>
      </p:cViewPr>
      <p:guideLst>
        <p:guide orient="horz" pos="2880"/>
        <p:guide pos="2160"/>
      </p:guideLst>
    </p:cSldViewPr>
  </p:slideViewPr>
  <p:notesTextViewPr>
    <p:cViewPr>
      <p:scale>
        <a:sx n="100" d="100"/>
        <a:sy n="100" d="100"/>
      </p:scale>
      <p:origin x="0" y="0"/>
    </p:cViewPr>
  </p:notesTextViewPr>
  <p:sorterViewPr>
    <p:cViewPr>
      <p:scale>
        <a:sx n="100" d="100"/>
        <a:sy n="100" d="100"/>
      </p:scale>
      <p:origin x="0" y="0"/>
    </p:cViewPr>
  </p:sorterViewPr>
  <p:notesViewPr>
    <p:cSldViewPr>
      <p:cViewPr varScale="1">
        <p:scale>
          <a:sx n="117" d="100"/>
          <a:sy n="117" d="100"/>
        </p:scale>
        <p:origin x="-1236" y="-96"/>
      </p:cViewPr>
      <p:guideLst>
        <p:guide orient="horz" pos="2160"/>
        <p:guide pos="384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 Chetan S" userId="6230acdc-96f8-49cb-89d3-4aa55472d295" providerId="ADAL" clId="{5FD64CC8-0B46-4C1B-A1D0-8E9F4A8FDDAB}"/>
    <pc:docChg chg="undo custSel addSld modSld">
      <pc:chgData name="P, Chetan S" userId="6230acdc-96f8-49cb-89d3-4aa55472d295" providerId="ADAL" clId="{5FD64CC8-0B46-4C1B-A1D0-8E9F4A8FDDAB}" dt="2026-08-22T04:27:50.098" v="74" actId="20577"/>
      <pc:docMkLst>
        <pc:docMk/>
      </pc:docMkLst>
      <pc:sldChg chg="modSp mod">
        <pc:chgData name="P, Chetan S" userId="6230acdc-96f8-49cb-89d3-4aa55472d295" providerId="ADAL" clId="{5FD64CC8-0B46-4C1B-A1D0-8E9F4A8FDDAB}" dt="2026-08-22T04:25:59.508" v="33" actId="20577"/>
        <pc:sldMkLst>
          <pc:docMk/>
          <pc:sldMk cId="2796070860" sldId="260"/>
        </pc:sldMkLst>
        <pc:graphicFrameChg chg="mod modGraphic">
          <ac:chgData name="P, Chetan S" userId="6230acdc-96f8-49cb-89d3-4aa55472d295" providerId="ADAL" clId="{5FD64CC8-0B46-4C1B-A1D0-8E9F4A8FDDAB}" dt="2026-08-22T04:25:59.508" v="33" actId="20577"/>
          <ac:graphicFrameMkLst>
            <pc:docMk/>
            <pc:sldMk cId="2796070860" sldId="260"/>
            <ac:graphicFrameMk id="9" creationId="{2F93C695-F9CD-4373-A0DF-59DC223FB9F0}"/>
          </ac:graphicFrameMkLst>
        </pc:graphicFrameChg>
      </pc:sldChg>
      <pc:sldChg chg="modSp mod">
        <pc:chgData name="P, Chetan S" userId="6230acdc-96f8-49cb-89d3-4aa55472d295" providerId="ADAL" clId="{5FD64CC8-0B46-4C1B-A1D0-8E9F4A8FDDAB}" dt="2026-08-22T04:21:58.562" v="8" actId="20577"/>
        <pc:sldMkLst>
          <pc:docMk/>
          <pc:sldMk cId="3411273271" sldId="274"/>
        </pc:sldMkLst>
        <pc:spChg chg="mod">
          <ac:chgData name="P, Chetan S" userId="6230acdc-96f8-49cb-89d3-4aa55472d295" providerId="ADAL" clId="{5FD64CC8-0B46-4C1B-A1D0-8E9F4A8FDDAB}" dt="2026-08-22T04:21:58.562" v="8" actId="20577"/>
          <ac:spMkLst>
            <pc:docMk/>
            <pc:sldMk cId="3411273271" sldId="274"/>
            <ac:spMk id="7" creationId="{10893C3A-EE4A-1329-2933-54CDCD3DEB4B}"/>
          </ac:spMkLst>
        </pc:spChg>
      </pc:sldChg>
      <pc:sldChg chg="modSp mod">
        <pc:chgData name="P, Chetan S" userId="6230acdc-96f8-49cb-89d3-4aa55472d295" providerId="ADAL" clId="{5FD64CC8-0B46-4C1B-A1D0-8E9F4A8FDDAB}" dt="2026-08-22T04:20:34.201" v="4" actId="12"/>
        <pc:sldMkLst>
          <pc:docMk/>
          <pc:sldMk cId="1510474781" sldId="280"/>
        </pc:sldMkLst>
        <pc:spChg chg="mod">
          <ac:chgData name="P, Chetan S" userId="6230acdc-96f8-49cb-89d3-4aa55472d295" providerId="ADAL" clId="{5FD64CC8-0B46-4C1B-A1D0-8E9F4A8FDDAB}" dt="2026-08-22T04:20:28.667" v="2" actId="12"/>
          <ac:spMkLst>
            <pc:docMk/>
            <pc:sldMk cId="1510474781" sldId="280"/>
            <ac:spMk id="7" creationId="{C2C151E9-4B11-C060-76C9-0D0C1995ECF1}"/>
          </ac:spMkLst>
        </pc:spChg>
        <pc:spChg chg="mod">
          <ac:chgData name="P, Chetan S" userId="6230acdc-96f8-49cb-89d3-4aa55472d295" providerId="ADAL" clId="{5FD64CC8-0B46-4C1B-A1D0-8E9F4A8FDDAB}" dt="2026-08-22T04:20:34.201" v="4" actId="12"/>
          <ac:spMkLst>
            <pc:docMk/>
            <pc:sldMk cId="1510474781" sldId="280"/>
            <ac:spMk id="8" creationId="{976F0F92-10B4-4412-7673-2FDE5DA74F04}"/>
          </ac:spMkLst>
        </pc:spChg>
      </pc:sldChg>
      <pc:sldChg chg="modSp mod">
        <pc:chgData name="P, Chetan S" userId="6230acdc-96f8-49cb-89d3-4aa55472d295" providerId="ADAL" clId="{5FD64CC8-0B46-4C1B-A1D0-8E9F4A8FDDAB}" dt="2026-08-22T04:22:39.788" v="15" actId="20577"/>
        <pc:sldMkLst>
          <pc:docMk/>
          <pc:sldMk cId="3562915488" sldId="282"/>
        </pc:sldMkLst>
        <pc:spChg chg="mod">
          <ac:chgData name="P, Chetan S" userId="6230acdc-96f8-49cb-89d3-4aa55472d295" providerId="ADAL" clId="{5FD64CC8-0B46-4C1B-A1D0-8E9F4A8FDDAB}" dt="2026-08-22T04:22:39.788" v="15" actId="20577"/>
          <ac:spMkLst>
            <pc:docMk/>
            <pc:sldMk cId="3562915488" sldId="282"/>
            <ac:spMk id="7" creationId="{00000000-0000-0000-0000-000000000000}"/>
          </ac:spMkLst>
        </pc:spChg>
      </pc:sldChg>
      <pc:sldChg chg="modSp mod">
        <pc:chgData name="P, Chetan S" userId="6230acdc-96f8-49cb-89d3-4aa55472d295" providerId="ADAL" clId="{5FD64CC8-0B46-4C1B-A1D0-8E9F4A8FDDAB}" dt="2026-08-22T04:21:50.340" v="6" actId="20577"/>
        <pc:sldMkLst>
          <pc:docMk/>
          <pc:sldMk cId="326443406" sldId="283"/>
        </pc:sldMkLst>
        <pc:spChg chg="mod">
          <ac:chgData name="P, Chetan S" userId="6230acdc-96f8-49cb-89d3-4aa55472d295" providerId="ADAL" clId="{5FD64CC8-0B46-4C1B-A1D0-8E9F4A8FDDAB}" dt="2026-08-22T04:21:50.340" v="6" actId="20577"/>
          <ac:spMkLst>
            <pc:docMk/>
            <pc:sldMk cId="326443406" sldId="283"/>
            <ac:spMk id="7" creationId="{00000000-0000-0000-0000-000000000000}"/>
          </ac:spMkLst>
        </pc:spChg>
      </pc:sldChg>
      <pc:sldChg chg="addSp delSp modSp mod">
        <pc:chgData name="P, Chetan S" userId="6230acdc-96f8-49cb-89d3-4aa55472d295" providerId="ADAL" clId="{5FD64CC8-0B46-4C1B-A1D0-8E9F4A8FDDAB}" dt="2026-08-22T04:22:30.117" v="13" actId="20577"/>
        <pc:sldMkLst>
          <pc:docMk/>
          <pc:sldMk cId="1529802784" sldId="285"/>
        </pc:sldMkLst>
        <pc:spChg chg="add del mod">
          <ac:chgData name="P, Chetan S" userId="6230acdc-96f8-49cb-89d3-4aa55472d295" providerId="ADAL" clId="{5FD64CC8-0B46-4C1B-A1D0-8E9F4A8FDDAB}" dt="2026-08-22T04:22:30.117" v="13" actId="20577"/>
          <ac:spMkLst>
            <pc:docMk/>
            <pc:sldMk cId="1529802784" sldId="285"/>
            <ac:spMk id="7" creationId="{5E6F2026-7A50-B72D-41F0-70FF9D068888}"/>
          </ac:spMkLst>
        </pc:spChg>
        <pc:graphicFrameChg chg="mod modGraphic">
          <ac:chgData name="P, Chetan S" userId="6230acdc-96f8-49cb-89d3-4aa55472d295" providerId="ADAL" clId="{5FD64CC8-0B46-4C1B-A1D0-8E9F4A8FDDAB}" dt="2026-08-22T04:22:11.086" v="9" actId="14100"/>
          <ac:graphicFrameMkLst>
            <pc:docMk/>
            <pc:sldMk cId="1529802784" sldId="285"/>
            <ac:graphicFrameMk id="10" creationId="{E361C7E3-6325-B15C-7CE9-B85FB9EC9C03}"/>
          </ac:graphicFrameMkLst>
        </pc:graphicFrameChg>
      </pc:sldChg>
      <pc:sldChg chg="modSp add mod">
        <pc:chgData name="P, Chetan S" userId="6230acdc-96f8-49cb-89d3-4aa55472d295" providerId="ADAL" clId="{5FD64CC8-0B46-4C1B-A1D0-8E9F4A8FDDAB}" dt="2026-08-22T04:27:50.098" v="74" actId="20577"/>
        <pc:sldMkLst>
          <pc:docMk/>
          <pc:sldMk cId="2504997077" sldId="290"/>
        </pc:sldMkLst>
        <pc:spChg chg="mod">
          <ac:chgData name="P, Chetan S" userId="6230acdc-96f8-49cb-89d3-4aa55472d295" providerId="ADAL" clId="{5FD64CC8-0B46-4C1B-A1D0-8E9F4A8FDDAB}" dt="2026-08-22T04:27:50.098" v="74" actId="20577"/>
          <ac:spMkLst>
            <pc:docMk/>
            <pc:sldMk cId="2504997077" sldId="290"/>
            <ac:spMk id="4"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6905625" y="0"/>
            <a:ext cx="5283200" cy="342900"/>
          </a:xfrm>
          <a:prstGeom prst="rect">
            <a:avLst/>
          </a:prstGeom>
        </p:spPr>
        <p:txBody>
          <a:bodyPr vert="horz" lIns="91440" tIns="45720" rIns="91440" bIns="45720" rtlCol="0"/>
          <a:lstStyle>
            <a:lvl1pPr algn="r">
              <a:defRPr sz="1200"/>
            </a:lvl1pPr>
          </a:lstStyle>
          <a:p>
            <a:fld id="{36AF76A7-18AC-47C8-ACF7-BA24C7E2A76E}" type="datetimeFigureOut">
              <a:rPr lang="en-US" smtClean="0"/>
              <a:t>8/22/2026</a:t>
            </a:fld>
            <a:endParaRPr lang="en-US"/>
          </a:p>
        </p:txBody>
      </p:sp>
      <p:sp>
        <p:nvSpPr>
          <p:cNvPr id="4" name="Footer Placeholder 3"/>
          <p:cNvSpPr>
            <a:spLocks noGrp="1"/>
          </p:cNvSpPr>
          <p:nvPr>
            <p:ph type="ftr" sz="quarter" idx="2"/>
          </p:nvPr>
        </p:nvSpPr>
        <p:spPr>
          <a:xfrm>
            <a:off x="0" y="6513513"/>
            <a:ext cx="5283200" cy="3429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6905625" y="6513513"/>
            <a:ext cx="5283200" cy="342900"/>
          </a:xfrm>
          <a:prstGeom prst="rect">
            <a:avLst/>
          </a:prstGeom>
        </p:spPr>
        <p:txBody>
          <a:bodyPr vert="horz" lIns="91440" tIns="45720" rIns="91440" bIns="45720" rtlCol="0" anchor="b"/>
          <a:lstStyle>
            <a:lvl1pPr algn="r">
              <a:defRPr sz="1200"/>
            </a:lvl1pPr>
          </a:lstStyle>
          <a:p>
            <a:fld id="{E206D4E0-A129-4CA5-9917-0D976B1F61F4}" type="slidenum">
              <a:rPr lang="en-US" smtClean="0"/>
              <a:t>‹#›</a:t>
            </a:fld>
            <a:endParaRPr lang="en-US"/>
          </a:p>
        </p:txBody>
      </p:sp>
    </p:spTree>
    <p:extLst>
      <p:ext uri="{BB962C8B-B14F-4D97-AF65-F5344CB8AC3E}">
        <p14:creationId xmlns:p14="http://schemas.microsoft.com/office/powerpoint/2010/main" val="32862517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EE4EDC57-CD7B-477C-94DD-CA82AFE64D9F}" type="datetimeFigureOut">
              <a:rPr lang="en-IN" smtClean="0"/>
              <a:t>22-08-2026</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154C5EF1-11E9-4CE9-98CC-3F3BB12C0550}" type="slidenum">
              <a:rPr lang="en-IN" smtClean="0"/>
              <a:t>‹#›</a:t>
            </a:fld>
            <a:endParaRPr lang="en-IN"/>
          </a:p>
        </p:txBody>
      </p:sp>
    </p:spTree>
    <p:extLst>
      <p:ext uri="{BB962C8B-B14F-4D97-AF65-F5344CB8AC3E}">
        <p14:creationId xmlns:p14="http://schemas.microsoft.com/office/powerpoint/2010/main" val="41661392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54C5EF1-11E9-4CE9-98CC-3F3BB12C0550}" type="slidenum">
              <a:rPr lang="en-IN" smtClean="0"/>
              <a:t>1</a:t>
            </a:fld>
            <a:endParaRPr lang="en-IN"/>
          </a:p>
        </p:txBody>
      </p:sp>
    </p:spTree>
    <p:extLst>
      <p:ext uri="{BB962C8B-B14F-4D97-AF65-F5344CB8AC3E}">
        <p14:creationId xmlns:p14="http://schemas.microsoft.com/office/powerpoint/2010/main" val="10413597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54C5EF1-11E9-4CE9-98CC-3F3BB12C0550}" type="slidenum">
              <a:rPr lang="en-IN" smtClean="0"/>
              <a:t>2</a:t>
            </a:fld>
            <a:endParaRPr lang="en-IN"/>
          </a:p>
        </p:txBody>
      </p:sp>
    </p:spTree>
    <p:extLst>
      <p:ext uri="{BB962C8B-B14F-4D97-AF65-F5344CB8AC3E}">
        <p14:creationId xmlns:p14="http://schemas.microsoft.com/office/powerpoint/2010/main" val="4514786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54C5EF1-11E9-4CE9-98CC-3F3BB12C0550}" type="slidenum">
              <a:rPr lang="en-IN" smtClean="0"/>
              <a:t>3</a:t>
            </a:fld>
            <a:endParaRPr lang="en-IN"/>
          </a:p>
        </p:txBody>
      </p:sp>
    </p:spTree>
    <p:extLst>
      <p:ext uri="{BB962C8B-B14F-4D97-AF65-F5344CB8AC3E}">
        <p14:creationId xmlns:p14="http://schemas.microsoft.com/office/powerpoint/2010/main" val="37131829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54C5EF1-11E9-4CE9-98CC-3F3BB12C0550}" type="slidenum">
              <a:rPr lang="en-IN" smtClean="0"/>
              <a:t>4</a:t>
            </a:fld>
            <a:endParaRPr lang="en-IN"/>
          </a:p>
        </p:txBody>
      </p:sp>
    </p:spTree>
    <p:extLst>
      <p:ext uri="{BB962C8B-B14F-4D97-AF65-F5344CB8AC3E}">
        <p14:creationId xmlns:p14="http://schemas.microsoft.com/office/powerpoint/2010/main" val="37131829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54C5EF1-11E9-4CE9-98CC-3F3BB12C0550}" type="slidenum">
              <a:rPr lang="en-IN" smtClean="0"/>
              <a:t>5</a:t>
            </a:fld>
            <a:endParaRPr lang="en-IN"/>
          </a:p>
        </p:txBody>
      </p:sp>
    </p:spTree>
    <p:extLst>
      <p:ext uri="{BB962C8B-B14F-4D97-AF65-F5344CB8AC3E}">
        <p14:creationId xmlns:p14="http://schemas.microsoft.com/office/powerpoint/2010/main" val="30359653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CEBBA-59A2-CB5B-78A0-E7E4796D75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10B212-A193-705E-8AB1-D3AE7803FA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ECCA53-416B-B8B9-63EF-A252BA44D05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F05B272-6691-5D1D-27F4-A00152F5B8AC}"/>
              </a:ext>
            </a:extLst>
          </p:cNvPr>
          <p:cNvSpPr>
            <a:spLocks noGrp="1"/>
          </p:cNvSpPr>
          <p:nvPr>
            <p:ph type="sldNum" sz="quarter" idx="5"/>
          </p:nvPr>
        </p:nvSpPr>
        <p:spPr/>
        <p:txBody>
          <a:bodyPr/>
          <a:lstStyle/>
          <a:p>
            <a:fld id="{154C5EF1-11E9-4CE9-98CC-3F3BB12C0550}" type="slidenum">
              <a:rPr lang="en-IN" smtClean="0"/>
              <a:t>6</a:t>
            </a:fld>
            <a:endParaRPr lang="en-IN"/>
          </a:p>
        </p:txBody>
      </p:sp>
    </p:spTree>
    <p:extLst>
      <p:ext uri="{BB962C8B-B14F-4D97-AF65-F5344CB8AC3E}">
        <p14:creationId xmlns:p14="http://schemas.microsoft.com/office/powerpoint/2010/main" val="18818124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54C5EF1-11E9-4CE9-98CC-3F3BB12C0550}" type="slidenum">
              <a:rPr lang="en-IN" smtClean="0"/>
              <a:t>7</a:t>
            </a:fld>
            <a:endParaRPr lang="en-IN"/>
          </a:p>
        </p:txBody>
      </p:sp>
    </p:spTree>
    <p:extLst>
      <p:ext uri="{BB962C8B-B14F-4D97-AF65-F5344CB8AC3E}">
        <p14:creationId xmlns:p14="http://schemas.microsoft.com/office/powerpoint/2010/main" val="37131829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54C5EF1-11E9-4CE9-98CC-3F3BB12C0550}" type="slidenum">
              <a:rPr lang="en-IN" smtClean="0"/>
              <a:t>8</a:t>
            </a:fld>
            <a:endParaRPr lang="en-IN"/>
          </a:p>
        </p:txBody>
      </p:sp>
    </p:spTree>
    <p:extLst>
      <p:ext uri="{BB962C8B-B14F-4D97-AF65-F5344CB8AC3E}">
        <p14:creationId xmlns:p14="http://schemas.microsoft.com/office/powerpoint/2010/main" val="38715039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eaLnBrk="1" fontAlgn="auto" latinLnBrk="0" hangingPunct="1">
              <a:lnSpc>
                <a:spcPct val="100000"/>
              </a:lnSpc>
              <a:spcBef>
                <a:spcPts val="0"/>
              </a:spcBef>
              <a:spcAft>
                <a:spcPts val="0"/>
              </a:spcAft>
              <a:buClrTx/>
              <a:buSzTx/>
              <a:buFontTx/>
              <a:buNone/>
              <a:tabLst/>
              <a:defRPr/>
            </a:pPr>
            <a:fld id="{154C5EF1-11E9-4CE9-98CC-3F3BB12C0550}" type="slidenum">
              <a:rPr kumimoji="0" lang="en-IN" sz="1200" b="0" i="0" u="none" strike="noStrike" kern="0" cap="none" spc="0" normalizeH="0" baseline="0" noProof="0" smtClean="0">
                <a:ln>
                  <a:noFill/>
                </a:ln>
                <a:solidFill>
                  <a:sysClr val="windowText" lastClr="000000"/>
                </a:solidFill>
                <a:effectLst/>
                <a:uLnTx/>
                <a:uFillTx/>
              </a:rPr>
              <a:pPr marL="0" marR="0" lvl="0" indent="0" algn="r" defTabSz="914400" eaLnBrk="1" fontAlgn="auto" latinLnBrk="0" hangingPunct="1">
                <a:lnSpc>
                  <a:spcPct val="100000"/>
                </a:lnSpc>
                <a:spcBef>
                  <a:spcPts val="0"/>
                </a:spcBef>
                <a:spcAft>
                  <a:spcPts val="0"/>
                </a:spcAft>
                <a:buClrTx/>
                <a:buSzTx/>
                <a:buFontTx/>
                <a:buNone/>
                <a:tabLst/>
                <a:defRPr/>
              </a:pPr>
              <a:t>10</a:t>
            </a:fld>
            <a:endParaRPr kumimoji="0" lang="en-IN" sz="12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30816194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54C5EF1-11E9-4CE9-98CC-3F3BB12C0550}" type="slidenum">
              <a:rPr lang="en-IN" smtClean="0"/>
              <a:t>11</a:t>
            </a:fld>
            <a:endParaRPr lang="en-IN"/>
          </a:p>
        </p:txBody>
      </p:sp>
    </p:spTree>
    <p:extLst>
      <p:ext uri="{BB962C8B-B14F-4D97-AF65-F5344CB8AC3E}">
        <p14:creationId xmlns:p14="http://schemas.microsoft.com/office/powerpoint/2010/main" val="5173097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eaLnBrk="1" fontAlgn="auto" latinLnBrk="0" hangingPunct="1">
              <a:lnSpc>
                <a:spcPct val="100000"/>
              </a:lnSpc>
              <a:spcBef>
                <a:spcPts val="0"/>
              </a:spcBef>
              <a:spcAft>
                <a:spcPts val="0"/>
              </a:spcAft>
              <a:buClrTx/>
              <a:buSzTx/>
              <a:buFontTx/>
              <a:buNone/>
              <a:tabLst/>
              <a:defRPr/>
            </a:pPr>
            <a:fld id="{154C5EF1-11E9-4CE9-98CC-3F3BB12C0550}" type="slidenum">
              <a:rPr kumimoji="0" lang="en-IN" sz="1200" b="0" i="0" u="none" strike="noStrike" kern="0" cap="none" spc="0" normalizeH="0" baseline="0" noProof="0" smtClean="0">
                <a:ln>
                  <a:noFill/>
                </a:ln>
                <a:solidFill>
                  <a:sysClr val="windowText" lastClr="000000"/>
                </a:solidFill>
                <a:effectLst/>
                <a:uLnTx/>
                <a:uFillTx/>
              </a:rPr>
              <a:pPr marL="0" marR="0" lvl="0" indent="0" algn="r" defTabSz="914400" eaLnBrk="1" fontAlgn="auto" latinLnBrk="0" hangingPunct="1">
                <a:lnSpc>
                  <a:spcPct val="100000"/>
                </a:lnSpc>
                <a:spcBef>
                  <a:spcPts val="0"/>
                </a:spcBef>
                <a:spcAft>
                  <a:spcPts val="0"/>
                </a:spcAft>
                <a:buClrTx/>
                <a:buSzTx/>
                <a:buFontTx/>
                <a:buNone/>
                <a:tabLst/>
                <a:defRPr/>
              </a:pPr>
              <a:t>12</a:t>
            </a:fld>
            <a:endParaRPr kumimoji="0" lang="en-IN" sz="12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38715039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355501-9D04-8B62-AEA7-5C9ECEC80B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75D57C-BF78-5D48-2BE8-BD7D65868D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2B7B92-D647-6282-6849-FCF49E90C98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DBC19C2-240A-C4FC-29C2-E98B8FB71158}"/>
              </a:ext>
            </a:extLst>
          </p:cNvPr>
          <p:cNvSpPr>
            <a:spLocks noGrp="1"/>
          </p:cNvSpPr>
          <p:nvPr>
            <p:ph type="sldNum" sz="quarter" idx="10"/>
          </p:nvPr>
        </p:nvSpPr>
        <p:spPr/>
        <p:txBody>
          <a:bodyPr/>
          <a:lstStyle/>
          <a:p>
            <a:pPr marL="0" marR="0" lvl="0" indent="0" algn="r" defTabSz="914400" eaLnBrk="1" fontAlgn="auto" latinLnBrk="0" hangingPunct="1">
              <a:lnSpc>
                <a:spcPct val="100000"/>
              </a:lnSpc>
              <a:spcBef>
                <a:spcPts val="0"/>
              </a:spcBef>
              <a:spcAft>
                <a:spcPts val="0"/>
              </a:spcAft>
              <a:buClrTx/>
              <a:buSzTx/>
              <a:buFontTx/>
              <a:buNone/>
              <a:tabLst/>
              <a:defRPr/>
            </a:pPr>
            <a:fld id="{154C5EF1-11E9-4CE9-98CC-3F3BB12C0550}" type="slidenum">
              <a:rPr kumimoji="0" lang="en-IN" sz="1200" b="0" i="0" u="none" strike="noStrike" kern="0" cap="none" spc="0" normalizeH="0" baseline="0" noProof="0" smtClean="0">
                <a:ln>
                  <a:noFill/>
                </a:ln>
                <a:solidFill>
                  <a:sysClr val="windowText" lastClr="000000"/>
                </a:solidFill>
                <a:effectLst/>
                <a:uLnTx/>
                <a:uFillTx/>
              </a:rPr>
              <a:pPr marL="0" marR="0" lvl="0" indent="0" algn="r" defTabSz="914400" eaLnBrk="1" fontAlgn="auto" latinLnBrk="0" hangingPunct="1">
                <a:lnSpc>
                  <a:spcPct val="100000"/>
                </a:lnSpc>
                <a:spcBef>
                  <a:spcPts val="0"/>
                </a:spcBef>
                <a:spcAft>
                  <a:spcPts val="0"/>
                </a:spcAft>
                <a:buClrTx/>
                <a:buSzTx/>
                <a:buFontTx/>
                <a:buNone/>
                <a:tabLst/>
                <a:defRPr/>
              </a:pPr>
              <a:t>13</a:t>
            </a:fld>
            <a:endParaRPr kumimoji="0" lang="en-IN" sz="12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11124657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0DE5D-A795-7C56-EA44-8B1B032058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45E64E-DF16-6652-219F-11524E3A9D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102087-B586-2E04-CF0F-79E93E42E87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C23F0BD-6023-C3FE-825F-FFC75F677FDF}"/>
              </a:ext>
            </a:extLst>
          </p:cNvPr>
          <p:cNvSpPr>
            <a:spLocks noGrp="1"/>
          </p:cNvSpPr>
          <p:nvPr>
            <p:ph type="sldNum" sz="quarter" idx="10"/>
          </p:nvPr>
        </p:nvSpPr>
        <p:spPr/>
        <p:txBody>
          <a:bodyPr/>
          <a:lstStyle/>
          <a:p>
            <a:pPr marL="0" marR="0" lvl="0" indent="0" algn="r" defTabSz="914400" eaLnBrk="1" fontAlgn="auto" latinLnBrk="0" hangingPunct="1">
              <a:lnSpc>
                <a:spcPct val="100000"/>
              </a:lnSpc>
              <a:spcBef>
                <a:spcPts val="0"/>
              </a:spcBef>
              <a:spcAft>
                <a:spcPts val="0"/>
              </a:spcAft>
              <a:buClrTx/>
              <a:buSzTx/>
              <a:buFontTx/>
              <a:buNone/>
              <a:tabLst/>
              <a:defRPr/>
            </a:pPr>
            <a:fld id="{154C5EF1-11E9-4CE9-98CC-3F3BB12C0550}" type="slidenum">
              <a:rPr kumimoji="0" lang="en-IN" sz="1200" b="0" i="0" u="none" strike="noStrike" kern="0" cap="none" spc="0" normalizeH="0" baseline="0" noProof="0" smtClean="0">
                <a:ln>
                  <a:noFill/>
                </a:ln>
                <a:solidFill>
                  <a:sysClr val="windowText" lastClr="000000"/>
                </a:solidFill>
                <a:effectLst/>
                <a:uLnTx/>
                <a:uFillTx/>
              </a:rPr>
              <a:pPr marL="0" marR="0" lvl="0" indent="0" algn="r" defTabSz="914400" eaLnBrk="1" fontAlgn="auto" latinLnBrk="0" hangingPunct="1">
                <a:lnSpc>
                  <a:spcPct val="100000"/>
                </a:lnSpc>
                <a:spcBef>
                  <a:spcPts val="0"/>
                </a:spcBef>
                <a:spcAft>
                  <a:spcPts val="0"/>
                </a:spcAft>
                <a:buClrTx/>
                <a:buSzTx/>
                <a:buFontTx/>
                <a:buNone/>
                <a:tabLst/>
                <a:defRPr/>
              </a:pPr>
              <a:t>14</a:t>
            </a:fld>
            <a:endParaRPr kumimoji="0" lang="en-IN" sz="12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16251859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eaLnBrk="1" fontAlgn="auto" latinLnBrk="0" hangingPunct="1">
              <a:lnSpc>
                <a:spcPct val="100000"/>
              </a:lnSpc>
              <a:spcBef>
                <a:spcPts val="0"/>
              </a:spcBef>
              <a:spcAft>
                <a:spcPts val="0"/>
              </a:spcAft>
              <a:buClrTx/>
              <a:buSzTx/>
              <a:buFontTx/>
              <a:buNone/>
              <a:tabLst/>
              <a:defRPr/>
            </a:pPr>
            <a:fld id="{154C5EF1-11E9-4CE9-98CC-3F3BB12C0550}" type="slidenum">
              <a:rPr kumimoji="0" lang="en-IN" sz="1200" b="0" i="0" u="none" strike="noStrike" kern="0" cap="none" spc="0" normalizeH="0" baseline="0" noProof="0" smtClean="0">
                <a:ln>
                  <a:noFill/>
                </a:ln>
                <a:solidFill>
                  <a:sysClr val="windowText" lastClr="000000"/>
                </a:solidFill>
                <a:effectLst/>
                <a:uLnTx/>
                <a:uFillTx/>
              </a:rPr>
              <a:pPr marL="0" marR="0" lvl="0" indent="0" algn="r" defTabSz="914400" eaLnBrk="1" fontAlgn="auto" latinLnBrk="0" hangingPunct="1">
                <a:lnSpc>
                  <a:spcPct val="100000"/>
                </a:lnSpc>
                <a:spcBef>
                  <a:spcPts val="0"/>
                </a:spcBef>
                <a:spcAft>
                  <a:spcPts val="0"/>
                </a:spcAft>
                <a:buClrTx/>
                <a:buSzTx/>
                <a:buFontTx/>
                <a:buNone/>
                <a:tabLst/>
                <a:defRPr/>
              </a:pPr>
              <a:t>15</a:t>
            </a:fld>
            <a:endParaRPr kumimoji="0" lang="en-IN" sz="12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20665266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eaLnBrk="1" fontAlgn="auto" latinLnBrk="0" hangingPunct="1">
              <a:lnSpc>
                <a:spcPct val="100000"/>
              </a:lnSpc>
              <a:spcBef>
                <a:spcPts val="0"/>
              </a:spcBef>
              <a:spcAft>
                <a:spcPts val="0"/>
              </a:spcAft>
              <a:buClrTx/>
              <a:buSzTx/>
              <a:buFontTx/>
              <a:buNone/>
              <a:tabLst/>
              <a:defRPr/>
            </a:pPr>
            <a:fld id="{154C5EF1-11E9-4CE9-98CC-3F3BB12C0550}" type="slidenum">
              <a:rPr kumimoji="0" lang="en-IN" sz="1200" b="0" i="0" u="none" strike="noStrike" kern="0" cap="none" spc="0" normalizeH="0" baseline="0" noProof="0" smtClean="0">
                <a:ln>
                  <a:noFill/>
                </a:ln>
                <a:solidFill>
                  <a:sysClr val="windowText" lastClr="000000"/>
                </a:solidFill>
                <a:effectLst/>
                <a:uLnTx/>
                <a:uFillTx/>
              </a:rPr>
              <a:pPr marL="0" marR="0" lvl="0" indent="0" algn="r" defTabSz="914400" eaLnBrk="1" fontAlgn="auto" latinLnBrk="0" hangingPunct="1">
                <a:lnSpc>
                  <a:spcPct val="100000"/>
                </a:lnSpc>
                <a:spcBef>
                  <a:spcPts val="0"/>
                </a:spcBef>
                <a:spcAft>
                  <a:spcPts val="0"/>
                </a:spcAft>
                <a:buClrTx/>
                <a:buSzTx/>
                <a:buFontTx/>
                <a:buNone/>
                <a:tabLst/>
                <a:defRPr/>
              </a:pPr>
              <a:t>16</a:t>
            </a:fld>
            <a:endParaRPr kumimoji="0" lang="en-IN" sz="12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35488028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eaLnBrk="1" fontAlgn="auto" latinLnBrk="0" hangingPunct="1">
              <a:lnSpc>
                <a:spcPct val="100000"/>
              </a:lnSpc>
              <a:spcBef>
                <a:spcPts val="0"/>
              </a:spcBef>
              <a:spcAft>
                <a:spcPts val="0"/>
              </a:spcAft>
              <a:buClrTx/>
              <a:buSzTx/>
              <a:buFontTx/>
              <a:buNone/>
              <a:tabLst/>
              <a:defRPr/>
            </a:pPr>
            <a:fld id="{154C5EF1-11E9-4CE9-98CC-3F3BB12C0550}" type="slidenum">
              <a:rPr kumimoji="0" lang="en-IN" sz="1200" b="0" i="0" u="none" strike="noStrike" kern="0" cap="none" spc="0" normalizeH="0" baseline="0" noProof="0" smtClean="0">
                <a:ln>
                  <a:noFill/>
                </a:ln>
                <a:solidFill>
                  <a:sysClr val="windowText" lastClr="000000"/>
                </a:solidFill>
                <a:effectLst/>
                <a:uLnTx/>
                <a:uFillTx/>
              </a:rPr>
              <a:pPr marL="0" marR="0" lvl="0" indent="0" algn="r" defTabSz="914400" eaLnBrk="1" fontAlgn="auto" latinLnBrk="0" hangingPunct="1">
                <a:lnSpc>
                  <a:spcPct val="100000"/>
                </a:lnSpc>
                <a:spcBef>
                  <a:spcPts val="0"/>
                </a:spcBef>
                <a:spcAft>
                  <a:spcPts val="0"/>
                </a:spcAft>
                <a:buClrTx/>
                <a:buSzTx/>
                <a:buFontTx/>
                <a:buNone/>
                <a:tabLst/>
                <a:defRPr/>
              </a:pPr>
              <a:t>17</a:t>
            </a:fld>
            <a:endParaRPr kumimoji="0" lang="en-IN" sz="12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12637852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54C5EF1-11E9-4CE9-98CC-3F3BB12C0550}" type="slidenum">
              <a:rPr lang="en-IN" smtClean="0"/>
              <a:t>18</a:t>
            </a:fld>
            <a:endParaRPr lang="en-IN"/>
          </a:p>
        </p:txBody>
      </p:sp>
    </p:spTree>
    <p:extLst>
      <p:ext uri="{BB962C8B-B14F-4D97-AF65-F5344CB8AC3E}">
        <p14:creationId xmlns:p14="http://schemas.microsoft.com/office/powerpoint/2010/main" val="17369240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54C5EF1-11E9-4CE9-98CC-3F3BB12C0550}" type="slidenum">
              <a:rPr lang="en-IN" smtClean="0"/>
              <a:t>19</a:t>
            </a:fld>
            <a:endParaRPr lang="en-IN"/>
          </a:p>
        </p:txBody>
      </p:sp>
    </p:spTree>
    <p:extLst>
      <p:ext uri="{BB962C8B-B14F-4D97-AF65-F5344CB8AC3E}">
        <p14:creationId xmlns:p14="http://schemas.microsoft.com/office/powerpoint/2010/main" val="17369240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eaLnBrk="1" fontAlgn="auto" latinLnBrk="0" hangingPunct="1">
              <a:lnSpc>
                <a:spcPct val="100000"/>
              </a:lnSpc>
              <a:spcBef>
                <a:spcPts val="0"/>
              </a:spcBef>
              <a:spcAft>
                <a:spcPts val="0"/>
              </a:spcAft>
              <a:buClrTx/>
              <a:buSzTx/>
              <a:buFontTx/>
              <a:buNone/>
              <a:tabLst/>
              <a:defRPr/>
            </a:pPr>
            <a:fld id="{154C5EF1-11E9-4CE9-98CC-3F3BB12C0550}" type="slidenum">
              <a:rPr kumimoji="0" lang="en-IN" sz="1200" b="0" i="0" u="none" strike="noStrike" kern="0" cap="none" spc="0" normalizeH="0" baseline="0" noProof="0" smtClean="0">
                <a:ln>
                  <a:noFill/>
                </a:ln>
                <a:solidFill>
                  <a:sysClr val="windowText" lastClr="000000"/>
                </a:solidFill>
                <a:effectLst/>
                <a:uLnTx/>
                <a:uFillTx/>
              </a:rPr>
              <a:pPr marL="0" marR="0" lvl="0" indent="0" algn="r" defTabSz="914400" eaLnBrk="1" fontAlgn="auto" latinLnBrk="0" hangingPunct="1">
                <a:lnSpc>
                  <a:spcPct val="100000"/>
                </a:lnSpc>
                <a:spcBef>
                  <a:spcPts val="0"/>
                </a:spcBef>
                <a:spcAft>
                  <a:spcPts val="0"/>
                </a:spcAft>
                <a:buClrTx/>
                <a:buSzTx/>
                <a:buFontTx/>
                <a:buNone/>
                <a:tabLst/>
                <a:defRPr/>
              </a:pPr>
              <a:t>20</a:t>
            </a:fld>
            <a:endParaRPr kumimoji="0" lang="en-IN" sz="12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173692401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54C5EF1-11E9-4CE9-98CC-3F3BB12C0550}" type="slidenum">
              <a:rPr lang="en-IN" smtClean="0"/>
              <a:t>21</a:t>
            </a:fld>
            <a:endParaRPr lang="en-IN"/>
          </a:p>
        </p:txBody>
      </p:sp>
    </p:spTree>
    <p:extLst>
      <p:ext uri="{BB962C8B-B14F-4D97-AF65-F5344CB8AC3E}">
        <p14:creationId xmlns:p14="http://schemas.microsoft.com/office/powerpoint/2010/main" val="16113075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54C5EF1-11E9-4CE9-98CC-3F3BB12C0550}" type="slidenum">
              <a:rPr lang="en-IN" smtClean="0"/>
              <a:t>22</a:t>
            </a:fld>
            <a:endParaRPr lang="en-IN"/>
          </a:p>
        </p:txBody>
      </p:sp>
    </p:spTree>
    <p:extLst>
      <p:ext uri="{BB962C8B-B14F-4D97-AF65-F5344CB8AC3E}">
        <p14:creationId xmlns:p14="http://schemas.microsoft.com/office/powerpoint/2010/main" val="281316918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54C5EF1-11E9-4CE9-98CC-3F3BB12C0550}" type="slidenum">
              <a:rPr lang="en-IN" smtClean="0"/>
              <a:t>23</a:t>
            </a:fld>
            <a:endParaRPr lang="en-IN"/>
          </a:p>
        </p:txBody>
      </p:sp>
    </p:spTree>
    <p:extLst>
      <p:ext uri="{BB962C8B-B14F-4D97-AF65-F5344CB8AC3E}">
        <p14:creationId xmlns:p14="http://schemas.microsoft.com/office/powerpoint/2010/main" val="15402192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3600" b="1" i="0">
                <a:solidFill>
                  <a:srgbClr val="C00000"/>
                </a:solidFill>
                <a:latin typeface="Cambria"/>
                <a:cs typeface="Cambria"/>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1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8/22/2026</a:t>
            </a:fld>
            <a:endParaRPr lang="en-US"/>
          </a:p>
        </p:txBody>
      </p:sp>
      <p:sp>
        <p:nvSpPr>
          <p:cNvPr id="6" name="Holder 6"/>
          <p:cNvSpPr>
            <a:spLocks noGrp="1"/>
          </p:cNvSpPr>
          <p:nvPr>
            <p:ph type="sldNum" sz="quarter" idx="7"/>
          </p:nvPr>
        </p:nvSpPr>
        <p:spPr/>
        <p:txBody>
          <a:bodyPr lIns="0" tIns="0" rIns="0" bIns="0"/>
          <a:lstStyle>
            <a:lvl1pPr>
              <a:defRPr sz="1800" b="1" i="0">
                <a:solidFill>
                  <a:srgbClr val="2D5395"/>
                </a:solidFill>
                <a:latin typeface="Cambria"/>
                <a:cs typeface="Cambria"/>
              </a:defRPr>
            </a:lvl1pPr>
          </a:lstStyle>
          <a:p>
            <a:pPr marL="351790">
              <a:lnSpc>
                <a:spcPct val="100000"/>
              </a:lnSpc>
              <a:spcBef>
                <a:spcPts val="10"/>
              </a:spcBef>
            </a:pPr>
            <a:fld id="{81D60167-4931-47E6-BA6A-407CBD079E47}" type="slidenum">
              <a:rPr spc="-50" dirty="0"/>
              <a:t>‹#›</a:t>
            </a:fld>
            <a:endParaRPr spc="-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rgbClr val="C00000"/>
                </a:solidFill>
                <a:latin typeface="Cambria"/>
                <a:cs typeface="Cambria"/>
              </a:defRPr>
            </a:lvl1pPr>
          </a:lstStyle>
          <a:p>
            <a:endParaRPr/>
          </a:p>
        </p:txBody>
      </p:sp>
      <p:sp>
        <p:nvSpPr>
          <p:cNvPr id="3" name="Holder 3"/>
          <p:cNvSpPr>
            <a:spLocks noGrp="1"/>
          </p:cNvSpPr>
          <p:nvPr>
            <p:ph type="body" idx="1"/>
          </p:nvPr>
        </p:nvSpPr>
        <p:spPr/>
        <p:txBody>
          <a:bodyPr lIns="0" tIns="0" rIns="0" bIns="0"/>
          <a:lstStyle>
            <a:lvl1pPr>
              <a:defRPr sz="1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8/22/2026</a:t>
            </a:fld>
            <a:endParaRPr lang="en-US"/>
          </a:p>
        </p:txBody>
      </p:sp>
      <p:sp>
        <p:nvSpPr>
          <p:cNvPr id="6" name="Holder 6"/>
          <p:cNvSpPr>
            <a:spLocks noGrp="1"/>
          </p:cNvSpPr>
          <p:nvPr>
            <p:ph type="sldNum" sz="quarter" idx="7"/>
          </p:nvPr>
        </p:nvSpPr>
        <p:spPr/>
        <p:txBody>
          <a:bodyPr lIns="0" tIns="0" rIns="0" bIns="0"/>
          <a:lstStyle>
            <a:lvl1pPr>
              <a:defRPr sz="1800" b="1" i="0">
                <a:solidFill>
                  <a:srgbClr val="2D5395"/>
                </a:solidFill>
                <a:latin typeface="Cambria"/>
                <a:cs typeface="Cambria"/>
              </a:defRPr>
            </a:lvl1pPr>
          </a:lstStyle>
          <a:p>
            <a:pPr marL="351790">
              <a:lnSpc>
                <a:spcPct val="100000"/>
              </a:lnSpc>
              <a:spcBef>
                <a:spcPts val="10"/>
              </a:spcBef>
            </a:pPr>
            <a:fld id="{81D60167-4931-47E6-BA6A-407CBD079E47}" type="slidenum">
              <a:rPr spc="-50" dirty="0"/>
              <a:t>‹#›</a:t>
            </a:fld>
            <a:endParaRPr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rgbClr val="C00000"/>
                </a:solidFill>
                <a:latin typeface="Cambria"/>
                <a:cs typeface="Cambria"/>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8/22/2026</a:t>
            </a:fld>
            <a:endParaRPr lang="en-US"/>
          </a:p>
        </p:txBody>
      </p:sp>
      <p:sp>
        <p:nvSpPr>
          <p:cNvPr id="7" name="Holder 7"/>
          <p:cNvSpPr>
            <a:spLocks noGrp="1"/>
          </p:cNvSpPr>
          <p:nvPr>
            <p:ph type="sldNum" sz="quarter" idx="7"/>
          </p:nvPr>
        </p:nvSpPr>
        <p:spPr/>
        <p:txBody>
          <a:bodyPr lIns="0" tIns="0" rIns="0" bIns="0"/>
          <a:lstStyle>
            <a:lvl1pPr>
              <a:defRPr sz="1800" b="1" i="0">
                <a:solidFill>
                  <a:srgbClr val="2D5395"/>
                </a:solidFill>
                <a:latin typeface="Cambria"/>
                <a:cs typeface="Cambria"/>
              </a:defRPr>
            </a:lvl1pPr>
          </a:lstStyle>
          <a:p>
            <a:pPr marL="351790">
              <a:lnSpc>
                <a:spcPct val="100000"/>
              </a:lnSpc>
              <a:spcBef>
                <a:spcPts val="10"/>
              </a:spcBef>
            </a:pPr>
            <a:fld id="{81D60167-4931-47E6-BA6A-407CBD079E47}" type="slidenum">
              <a:rPr spc="-50" dirty="0"/>
              <a:t>‹#›</a:t>
            </a:fld>
            <a:endParaRPr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rgbClr val="C00000"/>
                </a:solidFill>
                <a:latin typeface="Cambria"/>
                <a:cs typeface="Cambri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8/22/2026</a:t>
            </a:fld>
            <a:endParaRPr lang="en-US"/>
          </a:p>
        </p:txBody>
      </p:sp>
      <p:sp>
        <p:nvSpPr>
          <p:cNvPr id="5" name="Holder 5"/>
          <p:cNvSpPr>
            <a:spLocks noGrp="1"/>
          </p:cNvSpPr>
          <p:nvPr>
            <p:ph type="sldNum" sz="quarter" idx="7"/>
          </p:nvPr>
        </p:nvSpPr>
        <p:spPr/>
        <p:txBody>
          <a:bodyPr lIns="0" tIns="0" rIns="0" bIns="0"/>
          <a:lstStyle>
            <a:lvl1pPr>
              <a:defRPr sz="1800" b="1" i="0">
                <a:solidFill>
                  <a:srgbClr val="2D5395"/>
                </a:solidFill>
                <a:latin typeface="Cambria"/>
                <a:cs typeface="Cambria"/>
              </a:defRPr>
            </a:lvl1pPr>
          </a:lstStyle>
          <a:p>
            <a:pPr marL="351790">
              <a:lnSpc>
                <a:spcPct val="100000"/>
              </a:lnSpc>
              <a:spcBef>
                <a:spcPts val="10"/>
              </a:spcBef>
            </a:pPr>
            <a:fld id="{81D60167-4931-47E6-BA6A-407CBD079E47}" type="slidenum">
              <a:rPr spc="-50" dirty="0"/>
              <a:t>‹#›</a:t>
            </a:fld>
            <a:endParaRPr spc="-5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8/22/2026</a:t>
            </a:fld>
            <a:endParaRPr lang="en-US"/>
          </a:p>
        </p:txBody>
      </p:sp>
      <p:sp>
        <p:nvSpPr>
          <p:cNvPr id="4" name="Holder 4"/>
          <p:cNvSpPr>
            <a:spLocks noGrp="1"/>
          </p:cNvSpPr>
          <p:nvPr>
            <p:ph type="sldNum" sz="quarter" idx="7"/>
          </p:nvPr>
        </p:nvSpPr>
        <p:spPr/>
        <p:txBody>
          <a:bodyPr lIns="0" tIns="0" rIns="0" bIns="0"/>
          <a:lstStyle>
            <a:lvl1pPr>
              <a:defRPr sz="1800" b="1" i="0">
                <a:solidFill>
                  <a:srgbClr val="2D5395"/>
                </a:solidFill>
                <a:latin typeface="Cambria"/>
                <a:cs typeface="Cambria"/>
              </a:defRPr>
            </a:lvl1pPr>
          </a:lstStyle>
          <a:p>
            <a:pPr marL="351790">
              <a:lnSpc>
                <a:spcPct val="100000"/>
              </a:lnSpc>
              <a:spcBef>
                <a:spcPts val="10"/>
              </a:spcBef>
            </a:pPr>
            <a:fld id="{81D60167-4931-47E6-BA6A-407CBD079E47}" type="slidenum">
              <a:rPr spc="-50" dirty="0"/>
              <a:t>‹#›</a:t>
            </a:fld>
            <a:endParaRPr spc="-5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79070" y="151637"/>
            <a:ext cx="11780520" cy="6560820"/>
          </a:xfrm>
          <a:custGeom>
            <a:avLst/>
            <a:gdLst/>
            <a:ahLst/>
            <a:cxnLst/>
            <a:rect l="l" t="t" r="r" b="b"/>
            <a:pathLst>
              <a:path w="11780520" h="6560820">
                <a:moveTo>
                  <a:pt x="0" y="6560820"/>
                </a:moveTo>
                <a:lnTo>
                  <a:pt x="11780520" y="6560820"/>
                </a:lnTo>
                <a:lnTo>
                  <a:pt x="11780520" y="0"/>
                </a:lnTo>
                <a:lnTo>
                  <a:pt x="0" y="0"/>
                </a:lnTo>
                <a:lnTo>
                  <a:pt x="0" y="6560820"/>
                </a:lnTo>
                <a:close/>
              </a:path>
            </a:pathLst>
          </a:custGeom>
          <a:ln w="28575">
            <a:solidFill>
              <a:srgbClr val="2D5395"/>
            </a:solidFill>
          </a:ln>
        </p:spPr>
        <p:txBody>
          <a:bodyPr wrap="square" lIns="0" tIns="0" rIns="0" bIns="0" rtlCol="0"/>
          <a:lstStyle/>
          <a:p>
            <a:endParaRPr/>
          </a:p>
        </p:txBody>
      </p:sp>
      <p:sp>
        <p:nvSpPr>
          <p:cNvPr id="2" name="Holder 2"/>
          <p:cNvSpPr>
            <a:spLocks noGrp="1"/>
          </p:cNvSpPr>
          <p:nvPr>
            <p:ph type="title"/>
          </p:nvPr>
        </p:nvSpPr>
        <p:spPr>
          <a:xfrm>
            <a:off x="2418969" y="176236"/>
            <a:ext cx="7928609" cy="1075690"/>
          </a:xfrm>
          <a:prstGeom prst="rect">
            <a:avLst/>
          </a:prstGeom>
        </p:spPr>
        <p:txBody>
          <a:bodyPr wrap="square" lIns="0" tIns="0" rIns="0" bIns="0">
            <a:spAutoFit/>
          </a:bodyPr>
          <a:lstStyle>
            <a:lvl1pPr>
              <a:defRPr sz="3600" b="1" i="0">
                <a:solidFill>
                  <a:srgbClr val="C00000"/>
                </a:solidFill>
                <a:latin typeface="Cambria"/>
                <a:cs typeface="Cambria"/>
              </a:defRPr>
            </a:lvl1pPr>
          </a:lstStyle>
          <a:p>
            <a:endParaRPr/>
          </a:p>
        </p:txBody>
      </p:sp>
      <p:sp>
        <p:nvSpPr>
          <p:cNvPr id="3" name="Holder 3"/>
          <p:cNvSpPr>
            <a:spLocks noGrp="1"/>
          </p:cNvSpPr>
          <p:nvPr>
            <p:ph type="body" idx="1"/>
          </p:nvPr>
        </p:nvSpPr>
        <p:spPr>
          <a:xfrm>
            <a:off x="607872" y="1882267"/>
            <a:ext cx="10605770" cy="4140835"/>
          </a:xfrm>
          <a:prstGeom prst="rect">
            <a:avLst/>
          </a:prstGeom>
        </p:spPr>
        <p:txBody>
          <a:bodyPr wrap="square" lIns="0" tIns="0" rIns="0" bIns="0">
            <a:spAutoFit/>
          </a:bodyPr>
          <a:lstStyle>
            <a:lvl1pPr>
              <a:defRPr sz="1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8/22/2026</a:t>
            </a:fld>
            <a:endParaRPr lang="en-US"/>
          </a:p>
        </p:txBody>
      </p:sp>
      <p:sp>
        <p:nvSpPr>
          <p:cNvPr id="6" name="Holder 6"/>
          <p:cNvSpPr>
            <a:spLocks noGrp="1"/>
          </p:cNvSpPr>
          <p:nvPr>
            <p:ph type="sldNum" sz="quarter" idx="7"/>
          </p:nvPr>
        </p:nvSpPr>
        <p:spPr>
          <a:xfrm>
            <a:off x="11436095" y="6359861"/>
            <a:ext cx="538734" cy="366547"/>
          </a:xfrm>
          <a:prstGeom prst="rect">
            <a:avLst/>
          </a:prstGeom>
        </p:spPr>
        <p:txBody>
          <a:bodyPr wrap="square" lIns="0" tIns="0" rIns="0" bIns="0">
            <a:spAutoFit/>
          </a:bodyPr>
          <a:lstStyle>
            <a:lvl1pPr>
              <a:defRPr sz="1800" b="1" i="0">
                <a:solidFill>
                  <a:srgbClr val="2D5395"/>
                </a:solidFill>
                <a:latin typeface="Cambria"/>
                <a:cs typeface="Cambria"/>
              </a:defRPr>
            </a:lvl1pPr>
          </a:lstStyle>
          <a:p>
            <a:pPr marL="351790">
              <a:lnSpc>
                <a:spcPct val="100000"/>
              </a:lnSpc>
              <a:spcBef>
                <a:spcPts val="10"/>
              </a:spcBef>
            </a:pPr>
            <a:fld id="{81D60167-4931-47E6-BA6A-407CBD079E47}" type="slidenum">
              <a:rPr spc="-50" dirty="0"/>
              <a:t>‹#›</a:t>
            </a:fld>
            <a:endParaRPr spc="-5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jp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2.xml"/><Relationship Id="rId1" Type="http://schemas.openxmlformats.org/officeDocument/2006/relationships/slideLayout" Target="../slideLayouts/slideLayout5.xml"/><Relationship Id="rId5" Type="http://schemas.openxmlformats.org/officeDocument/2006/relationships/image" Target="../media/image13.png"/><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94310" y="137921"/>
            <a:ext cx="11878310" cy="6583680"/>
          </a:xfrm>
          <a:custGeom>
            <a:avLst/>
            <a:gdLst/>
            <a:ahLst/>
            <a:cxnLst/>
            <a:rect l="l" t="t" r="r" b="b"/>
            <a:pathLst>
              <a:path w="11878310" h="6583680">
                <a:moveTo>
                  <a:pt x="0" y="6583680"/>
                </a:moveTo>
                <a:lnTo>
                  <a:pt x="11878056" y="6583680"/>
                </a:lnTo>
                <a:lnTo>
                  <a:pt x="11878056" y="0"/>
                </a:lnTo>
                <a:lnTo>
                  <a:pt x="0" y="0"/>
                </a:lnTo>
                <a:lnTo>
                  <a:pt x="0" y="6583680"/>
                </a:lnTo>
                <a:close/>
              </a:path>
            </a:pathLst>
          </a:custGeom>
          <a:ln w="28575">
            <a:solidFill>
              <a:srgbClr val="2D528F"/>
            </a:solidFill>
          </a:ln>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72720" rIns="0" bIns="0" rtlCol="0">
            <a:spAutoFit/>
          </a:bodyPr>
          <a:lstStyle/>
          <a:p>
            <a:pPr marL="167640">
              <a:lnSpc>
                <a:spcPct val="100000"/>
              </a:lnSpc>
              <a:spcBef>
                <a:spcPts val="1360"/>
              </a:spcBef>
            </a:pPr>
            <a:r>
              <a:rPr sz="3500" dirty="0">
                <a:latin typeface="Times New Roman"/>
                <a:cs typeface="Times New Roman"/>
              </a:rPr>
              <a:t>K</a:t>
            </a:r>
            <a:r>
              <a:rPr sz="3500" spc="-10" dirty="0">
                <a:latin typeface="Times New Roman"/>
                <a:cs typeface="Times New Roman"/>
              </a:rPr>
              <a:t> </a:t>
            </a:r>
            <a:r>
              <a:rPr sz="3500" dirty="0">
                <a:latin typeface="Times New Roman"/>
                <a:cs typeface="Times New Roman"/>
              </a:rPr>
              <a:t>S</a:t>
            </a:r>
            <a:r>
              <a:rPr sz="3500" spc="-10" dirty="0">
                <a:latin typeface="Times New Roman"/>
                <a:cs typeface="Times New Roman"/>
              </a:rPr>
              <a:t> </a:t>
            </a:r>
            <a:r>
              <a:rPr sz="3500" dirty="0">
                <a:latin typeface="Times New Roman"/>
                <a:cs typeface="Times New Roman"/>
              </a:rPr>
              <a:t>INSTITUTE</a:t>
            </a:r>
            <a:r>
              <a:rPr sz="3500" spc="-20" dirty="0">
                <a:latin typeface="Times New Roman"/>
                <a:cs typeface="Times New Roman"/>
              </a:rPr>
              <a:t> </a:t>
            </a:r>
            <a:r>
              <a:rPr sz="3500" dirty="0">
                <a:latin typeface="Times New Roman"/>
                <a:cs typeface="Times New Roman"/>
              </a:rPr>
              <a:t>OF</a:t>
            </a:r>
            <a:r>
              <a:rPr sz="3500" spc="-204" dirty="0">
                <a:latin typeface="Times New Roman"/>
                <a:cs typeface="Times New Roman"/>
              </a:rPr>
              <a:t> </a:t>
            </a:r>
            <a:r>
              <a:rPr sz="3500" spc="-10" dirty="0">
                <a:latin typeface="Times New Roman"/>
                <a:cs typeface="Times New Roman"/>
              </a:rPr>
              <a:t>TECHNOLOGY</a:t>
            </a:r>
            <a:endParaRPr sz="3500">
              <a:latin typeface="Times New Roman"/>
              <a:cs typeface="Times New Roman"/>
            </a:endParaRPr>
          </a:p>
          <a:p>
            <a:pPr marL="12700">
              <a:lnSpc>
                <a:spcPct val="100000"/>
              </a:lnSpc>
              <a:spcBef>
                <a:spcPts val="645"/>
              </a:spcBef>
            </a:pPr>
            <a:r>
              <a:rPr sz="1800" spc="-25" dirty="0">
                <a:solidFill>
                  <a:srgbClr val="81034D"/>
                </a:solidFill>
                <a:latin typeface="Times New Roman"/>
                <a:cs typeface="Times New Roman"/>
              </a:rPr>
              <a:t>DEPARTMENT</a:t>
            </a:r>
            <a:r>
              <a:rPr sz="1800" spc="-65" dirty="0">
                <a:solidFill>
                  <a:srgbClr val="81034D"/>
                </a:solidFill>
                <a:latin typeface="Times New Roman"/>
                <a:cs typeface="Times New Roman"/>
              </a:rPr>
              <a:t> </a:t>
            </a:r>
            <a:r>
              <a:rPr sz="1800" spc="-20" dirty="0">
                <a:solidFill>
                  <a:srgbClr val="81034D"/>
                </a:solidFill>
                <a:latin typeface="Times New Roman"/>
                <a:cs typeface="Times New Roman"/>
              </a:rPr>
              <a:t>OF</a:t>
            </a:r>
            <a:r>
              <a:rPr sz="1800" spc="-170" dirty="0">
                <a:solidFill>
                  <a:srgbClr val="81034D"/>
                </a:solidFill>
                <a:latin typeface="Times New Roman"/>
                <a:cs typeface="Times New Roman"/>
              </a:rPr>
              <a:t> </a:t>
            </a:r>
            <a:r>
              <a:rPr sz="1800" spc="-10" dirty="0">
                <a:solidFill>
                  <a:srgbClr val="81034D"/>
                </a:solidFill>
                <a:latin typeface="Times New Roman"/>
                <a:cs typeface="Times New Roman"/>
              </a:rPr>
              <a:t>ARTIFICIAL</a:t>
            </a:r>
            <a:r>
              <a:rPr sz="1800" spc="-95" dirty="0">
                <a:solidFill>
                  <a:srgbClr val="81034D"/>
                </a:solidFill>
                <a:latin typeface="Times New Roman"/>
                <a:cs typeface="Times New Roman"/>
              </a:rPr>
              <a:t> </a:t>
            </a:r>
            <a:r>
              <a:rPr sz="1800" dirty="0">
                <a:solidFill>
                  <a:srgbClr val="81034D"/>
                </a:solidFill>
                <a:latin typeface="Times New Roman"/>
                <a:cs typeface="Times New Roman"/>
              </a:rPr>
              <a:t>INTELLIGENCE</a:t>
            </a:r>
            <a:r>
              <a:rPr sz="1800" spc="-10" dirty="0">
                <a:solidFill>
                  <a:srgbClr val="81034D"/>
                </a:solidFill>
                <a:latin typeface="Times New Roman"/>
                <a:cs typeface="Times New Roman"/>
              </a:rPr>
              <a:t> </a:t>
            </a:r>
            <a:r>
              <a:rPr sz="1800" dirty="0">
                <a:solidFill>
                  <a:srgbClr val="81034D"/>
                </a:solidFill>
                <a:latin typeface="Times New Roman"/>
                <a:cs typeface="Times New Roman"/>
              </a:rPr>
              <a:t>&amp;</a:t>
            </a:r>
            <a:r>
              <a:rPr sz="1800" spc="-10" dirty="0">
                <a:solidFill>
                  <a:srgbClr val="81034D"/>
                </a:solidFill>
                <a:latin typeface="Times New Roman"/>
                <a:cs typeface="Times New Roman"/>
              </a:rPr>
              <a:t> </a:t>
            </a:r>
            <a:r>
              <a:rPr sz="1800" dirty="0">
                <a:solidFill>
                  <a:srgbClr val="81034D"/>
                </a:solidFill>
                <a:latin typeface="Times New Roman"/>
                <a:cs typeface="Times New Roman"/>
              </a:rPr>
              <a:t>MACHINE</a:t>
            </a:r>
            <a:r>
              <a:rPr sz="1800" spc="-15" dirty="0">
                <a:solidFill>
                  <a:srgbClr val="81034D"/>
                </a:solidFill>
                <a:latin typeface="Times New Roman"/>
                <a:cs typeface="Times New Roman"/>
              </a:rPr>
              <a:t> </a:t>
            </a:r>
            <a:r>
              <a:rPr sz="1800" spc="-10" dirty="0">
                <a:solidFill>
                  <a:srgbClr val="81034D"/>
                </a:solidFill>
                <a:latin typeface="Times New Roman"/>
                <a:cs typeface="Times New Roman"/>
              </a:rPr>
              <a:t>LEARNING</a:t>
            </a:r>
            <a:endParaRPr sz="1800">
              <a:latin typeface="Times New Roman"/>
              <a:cs typeface="Times New Roman"/>
            </a:endParaRPr>
          </a:p>
        </p:txBody>
      </p:sp>
      <p:sp>
        <p:nvSpPr>
          <p:cNvPr id="4" name="object 4"/>
          <p:cNvSpPr txBox="1"/>
          <p:nvPr/>
        </p:nvSpPr>
        <p:spPr>
          <a:xfrm>
            <a:off x="1591436" y="1371349"/>
            <a:ext cx="9269730" cy="1956305"/>
          </a:xfrm>
          <a:prstGeom prst="rect">
            <a:avLst/>
          </a:prstGeom>
        </p:spPr>
        <p:txBody>
          <a:bodyPr vert="horz" wrap="square" lIns="0" tIns="159385" rIns="0" bIns="0" rtlCol="0">
            <a:spAutoFit/>
          </a:bodyPr>
          <a:lstStyle/>
          <a:p>
            <a:pPr algn="ctr">
              <a:lnSpc>
                <a:spcPct val="100000"/>
              </a:lnSpc>
              <a:spcBef>
                <a:spcPts val="1255"/>
              </a:spcBef>
            </a:pPr>
            <a:r>
              <a:rPr sz="2800" b="1" dirty="0">
                <a:solidFill>
                  <a:srgbClr val="6F2F9F"/>
                </a:solidFill>
                <a:latin typeface="Times New Roman"/>
                <a:cs typeface="Times New Roman"/>
              </a:rPr>
              <a:t>PROJECT</a:t>
            </a:r>
            <a:r>
              <a:rPr sz="2800" b="1" spc="-120" dirty="0">
                <a:solidFill>
                  <a:srgbClr val="6F2F9F"/>
                </a:solidFill>
                <a:latin typeface="Times New Roman"/>
                <a:cs typeface="Times New Roman"/>
              </a:rPr>
              <a:t> </a:t>
            </a:r>
            <a:r>
              <a:rPr lang="en-IN" sz="2800" b="1" spc="-120" dirty="0">
                <a:solidFill>
                  <a:srgbClr val="6F2F9F"/>
                </a:solidFill>
                <a:latin typeface="Times New Roman"/>
                <a:cs typeface="Times New Roman"/>
              </a:rPr>
              <a:t> PHASE REVIEW 1- BAI685</a:t>
            </a:r>
            <a:endParaRPr sz="2800" dirty="0">
              <a:latin typeface="Times New Roman"/>
              <a:cs typeface="Times New Roman"/>
            </a:endParaRPr>
          </a:p>
          <a:p>
            <a:pPr marL="236854" algn="ctr">
              <a:lnSpc>
                <a:spcPct val="100000"/>
              </a:lnSpc>
              <a:spcBef>
                <a:spcPts val="1000"/>
              </a:spcBef>
            </a:pPr>
            <a:r>
              <a:rPr lang="en-IN" sz="2400" b="1" spc="-10" dirty="0">
                <a:solidFill>
                  <a:srgbClr val="FF0000"/>
                </a:solidFill>
                <a:latin typeface="Times New Roman"/>
                <a:cs typeface="Times New Roman"/>
              </a:rPr>
              <a:t>PRESENTATION ON</a:t>
            </a:r>
          </a:p>
          <a:p>
            <a:pPr marL="236854" algn="ctr">
              <a:lnSpc>
                <a:spcPct val="100000"/>
              </a:lnSpc>
              <a:spcBef>
                <a:spcPts val="1000"/>
              </a:spcBef>
            </a:pPr>
            <a:r>
              <a:rPr lang="en-IN" sz="2400" spc="-10" dirty="0">
                <a:solidFill>
                  <a:srgbClr val="FF0000"/>
                </a:solidFill>
                <a:latin typeface="Times New Roman"/>
                <a:cs typeface="Times New Roman"/>
              </a:rPr>
              <a:t>“DATA DRIVEN ELECTRIC VEHICLE RANGE PREDICTION USING ML TECHNIQUES”</a:t>
            </a:r>
          </a:p>
        </p:txBody>
      </p:sp>
      <p:grpSp>
        <p:nvGrpSpPr>
          <p:cNvPr id="5" name="object 5"/>
          <p:cNvGrpSpPr/>
          <p:nvPr/>
        </p:nvGrpSpPr>
        <p:grpSpPr>
          <a:xfrm>
            <a:off x="7318629" y="4470949"/>
            <a:ext cx="3498356" cy="202104"/>
            <a:chOff x="7327382" y="4794410"/>
            <a:chExt cx="3498356" cy="202104"/>
          </a:xfrm>
        </p:grpSpPr>
        <p:pic>
          <p:nvPicPr>
            <p:cNvPr id="6" name="object 6"/>
            <p:cNvPicPr/>
            <p:nvPr/>
          </p:nvPicPr>
          <p:blipFill>
            <a:blip r:embed="rId3" cstate="print"/>
            <a:stretch>
              <a:fillRect/>
            </a:stretch>
          </p:blipFill>
          <p:spPr>
            <a:xfrm>
              <a:off x="7327382" y="4794410"/>
              <a:ext cx="3498356" cy="202104"/>
            </a:xfrm>
            <a:prstGeom prst="rect">
              <a:avLst/>
            </a:prstGeom>
          </p:spPr>
        </p:pic>
        <p:pic>
          <p:nvPicPr>
            <p:cNvPr id="7" name="object 7"/>
            <p:cNvPicPr/>
            <p:nvPr/>
          </p:nvPicPr>
          <p:blipFill>
            <a:blip r:embed="rId4" cstate="print"/>
            <a:stretch>
              <a:fillRect/>
            </a:stretch>
          </p:blipFill>
          <p:spPr>
            <a:xfrm>
              <a:off x="7336409" y="4797424"/>
              <a:ext cx="3478530" cy="176530"/>
            </a:xfrm>
            <a:prstGeom prst="rect">
              <a:avLst/>
            </a:prstGeom>
          </p:spPr>
        </p:pic>
      </p:grpSp>
      <p:sp>
        <p:nvSpPr>
          <p:cNvPr id="9" name="object 9"/>
          <p:cNvSpPr txBox="1"/>
          <p:nvPr/>
        </p:nvSpPr>
        <p:spPr>
          <a:xfrm>
            <a:off x="7318629" y="4752793"/>
            <a:ext cx="4039642" cy="1603644"/>
          </a:xfrm>
          <a:prstGeom prst="rect">
            <a:avLst/>
          </a:prstGeom>
        </p:spPr>
        <p:txBody>
          <a:bodyPr vert="horz" wrap="square" lIns="0" tIns="13335" rIns="0" bIns="0" rtlCol="0">
            <a:spAutoFit/>
          </a:bodyPr>
          <a:lstStyle/>
          <a:p>
            <a:pPr marL="12700">
              <a:lnSpc>
                <a:spcPct val="100000"/>
              </a:lnSpc>
              <a:spcBef>
                <a:spcPts val="105"/>
              </a:spcBef>
            </a:pPr>
            <a:r>
              <a:rPr lang="en-US" sz="2000" b="1" spc="-10" dirty="0">
                <a:solidFill>
                  <a:srgbClr val="001F5F"/>
                </a:solidFill>
                <a:latin typeface="Times New Roman"/>
                <a:cs typeface="Times New Roman"/>
              </a:rPr>
              <a:t>DR. Girish TR</a:t>
            </a:r>
          </a:p>
          <a:p>
            <a:pPr marL="12700">
              <a:lnSpc>
                <a:spcPct val="100000"/>
              </a:lnSpc>
              <a:spcBef>
                <a:spcPts val="105"/>
              </a:spcBef>
            </a:pPr>
            <a:r>
              <a:rPr lang="en-US" sz="2000" b="1" spc="-10" dirty="0">
                <a:solidFill>
                  <a:srgbClr val="001F5F"/>
                </a:solidFill>
                <a:latin typeface="Times New Roman"/>
                <a:cs typeface="Times New Roman"/>
              </a:rPr>
              <a:t>Department of AIML</a:t>
            </a:r>
          </a:p>
          <a:p>
            <a:pPr marL="12700">
              <a:lnSpc>
                <a:spcPct val="100000"/>
              </a:lnSpc>
              <a:spcBef>
                <a:spcPts val="105"/>
              </a:spcBef>
            </a:pPr>
            <a:r>
              <a:rPr lang="en-US" sz="2000" b="1" spc="-10" dirty="0">
                <a:solidFill>
                  <a:srgbClr val="001F5F"/>
                </a:solidFill>
                <a:latin typeface="Times New Roman"/>
                <a:cs typeface="Times New Roman"/>
              </a:rPr>
              <a:t>K.S.I.T</a:t>
            </a:r>
          </a:p>
          <a:p>
            <a:pPr marL="12700">
              <a:lnSpc>
                <a:spcPct val="100000"/>
              </a:lnSpc>
              <a:spcBef>
                <a:spcPts val="105"/>
              </a:spcBef>
            </a:pPr>
            <a:endParaRPr lang="en-US" sz="2000" b="1" spc="-10" dirty="0">
              <a:solidFill>
                <a:srgbClr val="001F5F"/>
              </a:solidFill>
              <a:latin typeface="Times New Roman"/>
              <a:cs typeface="Times New Roman"/>
            </a:endParaRPr>
          </a:p>
          <a:p>
            <a:pPr marL="12700">
              <a:lnSpc>
                <a:spcPct val="100000"/>
              </a:lnSpc>
              <a:spcBef>
                <a:spcPts val="105"/>
              </a:spcBef>
            </a:pPr>
            <a:r>
              <a:rPr lang="en-US" sz="2000" b="1" spc="-10" dirty="0">
                <a:solidFill>
                  <a:srgbClr val="001F5F"/>
                </a:solidFill>
                <a:latin typeface="Times New Roman"/>
                <a:cs typeface="Times New Roman"/>
              </a:rPr>
              <a:t> </a:t>
            </a:r>
            <a:endParaRPr sz="2000" dirty="0">
              <a:latin typeface="Times New Roman"/>
              <a:cs typeface="Times New Roman"/>
            </a:endParaRPr>
          </a:p>
        </p:txBody>
      </p:sp>
      <p:pic>
        <p:nvPicPr>
          <p:cNvPr id="10" name="object 10"/>
          <p:cNvPicPr/>
          <p:nvPr/>
        </p:nvPicPr>
        <p:blipFill>
          <a:blip r:embed="rId5" cstate="print"/>
          <a:stretch>
            <a:fillRect/>
          </a:stretch>
        </p:blipFill>
        <p:spPr>
          <a:xfrm>
            <a:off x="833729" y="4470949"/>
            <a:ext cx="1774583" cy="177252"/>
          </a:xfrm>
          <a:prstGeom prst="rect">
            <a:avLst/>
          </a:prstGeom>
        </p:spPr>
      </p:pic>
      <p:sp>
        <p:nvSpPr>
          <p:cNvPr id="11" name="object 11"/>
          <p:cNvSpPr txBox="1"/>
          <p:nvPr/>
        </p:nvSpPr>
        <p:spPr>
          <a:xfrm>
            <a:off x="833728" y="4825451"/>
            <a:ext cx="4576471" cy="1263166"/>
          </a:xfrm>
          <a:prstGeom prst="rect">
            <a:avLst/>
          </a:prstGeom>
        </p:spPr>
        <p:txBody>
          <a:bodyPr vert="horz" wrap="square" lIns="0" tIns="39370" rIns="0" bIns="0" rtlCol="0">
            <a:spAutoFit/>
          </a:bodyPr>
          <a:lstStyle/>
          <a:p>
            <a:pPr marL="354965" indent="-342265">
              <a:spcBef>
                <a:spcPts val="310"/>
              </a:spcBef>
              <a:buFontTx/>
              <a:buAutoNum type="arabicPeriod"/>
              <a:tabLst>
                <a:tab pos="354965" algn="l"/>
              </a:tabLst>
            </a:pPr>
            <a:r>
              <a:rPr lang="en-IN" b="1" spc="-10" dirty="0">
                <a:solidFill>
                  <a:srgbClr val="001F5F"/>
                </a:solidFill>
                <a:latin typeface="Times New Roman"/>
                <a:cs typeface="Times New Roman"/>
              </a:rPr>
              <a:t>SOUJANYA</a:t>
            </a:r>
          </a:p>
          <a:p>
            <a:pPr marL="354965" indent="-342265">
              <a:spcBef>
                <a:spcPts val="310"/>
              </a:spcBef>
              <a:buFontTx/>
              <a:buAutoNum type="arabicPeriod"/>
              <a:tabLst>
                <a:tab pos="354965" algn="l"/>
              </a:tabLst>
            </a:pPr>
            <a:r>
              <a:rPr lang="en-IN" sz="1800" b="1" spc="-10" dirty="0">
                <a:solidFill>
                  <a:srgbClr val="001F5F"/>
                </a:solidFill>
                <a:latin typeface="Times New Roman"/>
                <a:cs typeface="Times New Roman"/>
              </a:rPr>
              <a:t>ANITA KUMARI</a:t>
            </a:r>
          </a:p>
          <a:p>
            <a:pPr marL="354965" indent="-342265">
              <a:spcBef>
                <a:spcPts val="310"/>
              </a:spcBef>
              <a:buFontTx/>
              <a:buAutoNum type="arabicPeriod"/>
              <a:tabLst>
                <a:tab pos="354965" algn="l"/>
              </a:tabLst>
            </a:pPr>
            <a:r>
              <a:rPr lang="en-IN" b="1" spc="-10" dirty="0">
                <a:solidFill>
                  <a:srgbClr val="001F5F"/>
                </a:solidFill>
                <a:latin typeface="Times New Roman"/>
                <a:cs typeface="Times New Roman"/>
              </a:rPr>
              <a:t>KARUNA SINDHU</a:t>
            </a:r>
          </a:p>
          <a:p>
            <a:pPr marL="354965" indent="-342265">
              <a:spcBef>
                <a:spcPts val="310"/>
              </a:spcBef>
              <a:buFontTx/>
              <a:buAutoNum type="arabicPeriod"/>
              <a:tabLst>
                <a:tab pos="354965" algn="l"/>
              </a:tabLst>
            </a:pPr>
            <a:r>
              <a:rPr lang="en-IN" sz="1800" b="1" spc="-10" dirty="0">
                <a:solidFill>
                  <a:srgbClr val="001F5F"/>
                </a:solidFill>
                <a:latin typeface="Times New Roman"/>
                <a:cs typeface="Times New Roman"/>
              </a:rPr>
              <a:t>REVANTH </a:t>
            </a:r>
            <a:endParaRPr sz="1800" dirty="0">
              <a:latin typeface="Times New Roman"/>
              <a:cs typeface="Times New Roman"/>
            </a:endParaRPr>
          </a:p>
        </p:txBody>
      </p:sp>
      <p:sp>
        <p:nvSpPr>
          <p:cNvPr id="12" name="object 12"/>
          <p:cNvSpPr txBox="1"/>
          <p:nvPr/>
        </p:nvSpPr>
        <p:spPr>
          <a:xfrm>
            <a:off x="3733800" y="4820644"/>
            <a:ext cx="1422400" cy="1248034"/>
          </a:xfrm>
          <a:prstGeom prst="rect">
            <a:avLst/>
          </a:prstGeom>
        </p:spPr>
        <p:txBody>
          <a:bodyPr vert="horz" wrap="square" lIns="0" tIns="12700" rIns="0" bIns="0" rtlCol="0">
            <a:spAutoFit/>
          </a:bodyPr>
          <a:lstStyle/>
          <a:p>
            <a:pPr marL="12700" marR="5080" algn="just">
              <a:lnSpc>
                <a:spcPct val="110100"/>
              </a:lnSpc>
              <a:spcBef>
                <a:spcPts val="100"/>
              </a:spcBef>
            </a:pPr>
            <a:r>
              <a:rPr sz="1800" b="1" spc="-10" dirty="0">
                <a:solidFill>
                  <a:srgbClr val="001F5F"/>
                </a:solidFill>
                <a:latin typeface="Times New Roman"/>
                <a:cs typeface="Times New Roman"/>
              </a:rPr>
              <a:t>(1KS2</a:t>
            </a:r>
            <a:r>
              <a:rPr lang="en-US" sz="1800" b="1" spc="-10" dirty="0">
                <a:solidFill>
                  <a:srgbClr val="001F5F"/>
                </a:solidFill>
                <a:latin typeface="Times New Roman"/>
                <a:cs typeface="Times New Roman"/>
              </a:rPr>
              <a:t>4AI403</a:t>
            </a:r>
            <a:r>
              <a:rPr sz="1800" b="1" spc="-10" dirty="0">
                <a:solidFill>
                  <a:srgbClr val="001F5F"/>
                </a:solidFill>
                <a:latin typeface="Times New Roman"/>
                <a:cs typeface="Times New Roman"/>
              </a:rPr>
              <a:t>)</a:t>
            </a:r>
            <a:endParaRPr lang="en-US" sz="1800" b="1" spc="-10" dirty="0">
              <a:solidFill>
                <a:srgbClr val="001F5F"/>
              </a:solidFill>
              <a:latin typeface="Times New Roman"/>
              <a:cs typeface="Times New Roman"/>
            </a:endParaRPr>
          </a:p>
          <a:p>
            <a:pPr marL="12700" marR="5080" algn="just">
              <a:lnSpc>
                <a:spcPct val="110100"/>
              </a:lnSpc>
              <a:spcBef>
                <a:spcPts val="100"/>
              </a:spcBef>
            </a:pPr>
            <a:r>
              <a:rPr lang="en-IN" b="1" spc="-10" dirty="0">
                <a:solidFill>
                  <a:srgbClr val="001F5F"/>
                </a:solidFill>
                <a:latin typeface="Times New Roman"/>
                <a:cs typeface="Times New Roman"/>
              </a:rPr>
              <a:t>(1KS23AI002)</a:t>
            </a:r>
          </a:p>
          <a:p>
            <a:pPr marL="12700" marR="5080" algn="just">
              <a:lnSpc>
                <a:spcPct val="110100"/>
              </a:lnSpc>
              <a:spcBef>
                <a:spcPts val="100"/>
              </a:spcBef>
            </a:pPr>
            <a:r>
              <a:rPr lang="en-IN" sz="1800" b="1" spc="-10" dirty="0">
                <a:solidFill>
                  <a:srgbClr val="001F5F"/>
                </a:solidFill>
                <a:latin typeface="Times New Roman"/>
                <a:cs typeface="Times New Roman"/>
              </a:rPr>
              <a:t>(1KS24AI401)</a:t>
            </a:r>
          </a:p>
          <a:p>
            <a:pPr marL="12700" marR="5080" algn="just">
              <a:lnSpc>
                <a:spcPct val="110100"/>
              </a:lnSpc>
              <a:spcBef>
                <a:spcPts val="100"/>
              </a:spcBef>
            </a:pPr>
            <a:r>
              <a:rPr lang="en-IN" b="1" spc="-10" dirty="0">
                <a:solidFill>
                  <a:srgbClr val="001F5F"/>
                </a:solidFill>
                <a:latin typeface="Times New Roman"/>
                <a:cs typeface="Times New Roman"/>
              </a:rPr>
              <a:t>(1KS23AI038)</a:t>
            </a:r>
            <a:r>
              <a:rPr sz="1800" b="1" spc="-10" dirty="0">
                <a:solidFill>
                  <a:srgbClr val="001F5F"/>
                </a:solidFill>
                <a:latin typeface="Times New Roman"/>
                <a:cs typeface="Times New Roman"/>
              </a:rPr>
              <a:t> </a:t>
            </a:r>
            <a:endParaRPr sz="1800" dirty="0">
              <a:latin typeface="Times New Roman"/>
              <a:cs typeface="Times New Roman"/>
            </a:endParaRPr>
          </a:p>
        </p:txBody>
      </p:sp>
      <p:pic>
        <p:nvPicPr>
          <p:cNvPr id="13" name="object 13"/>
          <p:cNvPicPr/>
          <p:nvPr/>
        </p:nvPicPr>
        <p:blipFill>
          <a:blip r:embed="rId6" cstate="print"/>
          <a:stretch>
            <a:fillRect/>
          </a:stretch>
        </p:blipFill>
        <p:spPr>
          <a:xfrm>
            <a:off x="482168" y="371983"/>
            <a:ext cx="1186243" cy="1479931"/>
          </a:xfrm>
          <a:prstGeom prst="rect">
            <a:avLst/>
          </a:prstGeom>
        </p:spPr>
      </p:pic>
      <p:sp>
        <p:nvSpPr>
          <p:cNvPr id="14" name="object 14"/>
          <p:cNvSpPr txBox="1">
            <a:spLocks noGrp="1"/>
          </p:cNvSpPr>
          <p:nvPr>
            <p:ph type="sldNum" sz="quarter" idx="7"/>
          </p:nvPr>
        </p:nvSpPr>
        <p:spPr>
          <a:prstGeom prst="rect">
            <a:avLst/>
          </a:prstGeom>
        </p:spPr>
        <p:txBody>
          <a:bodyPr vert="horz" wrap="square" lIns="0" tIns="59791" rIns="0" bIns="0" rtlCol="0">
            <a:spAutoFit/>
          </a:bodyPr>
          <a:lstStyle/>
          <a:p>
            <a:pPr marL="351790">
              <a:lnSpc>
                <a:spcPct val="100000"/>
              </a:lnSpc>
              <a:spcBef>
                <a:spcPts val="10"/>
              </a:spcBef>
            </a:pPr>
            <a:fld id="{81D60167-4931-47E6-BA6A-407CBD079E47}" type="slidenum">
              <a:rPr spc="-50" dirty="0"/>
              <a:t>1</a:t>
            </a:fld>
            <a:endParaRPr spc="-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555241" y="188213"/>
            <a:ext cx="9359265" cy="896619"/>
          </a:xfrm>
          <a:custGeom>
            <a:avLst/>
            <a:gdLst/>
            <a:ahLst/>
            <a:cxnLst/>
            <a:rect l="l" t="t" r="r" b="b"/>
            <a:pathLst>
              <a:path w="9359265" h="896619">
                <a:moveTo>
                  <a:pt x="0" y="896112"/>
                </a:moveTo>
                <a:lnTo>
                  <a:pt x="9358884" y="896112"/>
                </a:lnTo>
                <a:lnTo>
                  <a:pt x="9358884" y="0"/>
                </a:lnTo>
                <a:lnTo>
                  <a:pt x="0" y="0"/>
                </a:lnTo>
                <a:lnTo>
                  <a:pt x="0" y="896112"/>
                </a:lnTo>
                <a:close/>
              </a:path>
            </a:pathLst>
          </a:custGeom>
          <a:ln w="28575">
            <a:solidFill>
              <a:srgbClr val="2D528F"/>
            </a:solidFill>
          </a:ln>
        </p:spPr>
        <p:txBody>
          <a:bodyPr wrap="square" lIns="0" tIns="0" rIns="0" bIns="0" rtlCol="0"/>
          <a:lstStyle/>
          <a:p>
            <a:endParaRPr/>
          </a:p>
        </p:txBody>
      </p:sp>
      <p:sp>
        <p:nvSpPr>
          <p:cNvPr id="3" name="object 3"/>
          <p:cNvSpPr txBox="1">
            <a:spLocks noGrp="1"/>
          </p:cNvSpPr>
          <p:nvPr>
            <p:ph type="title"/>
          </p:nvPr>
        </p:nvSpPr>
        <p:spPr>
          <a:xfrm>
            <a:off x="2418969" y="176236"/>
            <a:ext cx="7928609" cy="712414"/>
          </a:xfrm>
          <a:prstGeom prst="rect">
            <a:avLst/>
          </a:prstGeom>
        </p:spPr>
        <p:txBody>
          <a:bodyPr vert="horz" wrap="square" lIns="0" tIns="156884" rIns="0" bIns="0" rtlCol="0">
            <a:spAutoFit/>
          </a:bodyPr>
          <a:lstStyle/>
          <a:p>
            <a:pPr marL="2489835">
              <a:lnSpc>
                <a:spcPct val="100000"/>
              </a:lnSpc>
              <a:spcBef>
                <a:spcPts val="100"/>
              </a:spcBef>
            </a:pPr>
            <a:r>
              <a:rPr lang="en-IN" spc="265" dirty="0"/>
              <a:t>INDEX</a:t>
            </a:r>
            <a:endParaRPr spc="265" dirty="0"/>
          </a:p>
        </p:txBody>
      </p:sp>
      <p:grpSp>
        <p:nvGrpSpPr>
          <p:cNvPr id="4" name="object 4"/>
          <p:cNvGrpSpPr/>
          <p:nvPr/>
        </p:nvGrpSpPr>
        <p:grpSpPr>
          <a:xfrm>
            <a:off x="106869" y="76389"/>
            <a:ext cx="11971020" cy="6706870"/>
            <a:chOff x="106869" y="76389"/>
            <a:chExt cx="11971020" cy="6706870"/>
          </a:xfrm>
        </p:grpSpPr>
        <p:sp>
          <p:nvSpPr>
            <p:cNvPr id="5" name="object 5"/>
            <p:cNvSpPr/>
            <p:nvPr/>
          </p:nvSpPr>
          <p:spPr>
            <a:xfrm>
              <a:off x="121156" y="90676"/>
              <a:ext cx="11942445" cy="6678295"/>
            </a:xfrm>
            <a:custGeom>
              <a:avLst/>
              <a:gdLst/>
              <a:ahLst/>
              <a:cxnLst/>
              <a:rect l="l" t="t" r="r" b="b"/>
              <a:pathLst>
                <a:path w="11942445" h="6678295">
                  <a:moveTo>
                    <a:pt x="0" y="6678168"/>
                  </a:moveTo>
                  <a:lnTo>
                    <a:pt x="11942064" y="6678168"/>
                  </a:lnTo>
                  <a:lnTo>
                    <a:pt x="11942064" y="0"/>
                  </a:lnTo>
                  <a:lnTo>
                    <a:pt x="0" y="0"/>
                  </a:lnTo>
                  <a:lnTo>
                    <a:pt x="0" y="6678168"/>
                  </a:lnTo>
                  <a:close/>
                </a:path>
              </a:pathLst>
            </a:custGeom>
            <a:ln w="28575">
              <a:solidFill>
                <a:srgbClr val="2D528F"/>
              </a:solidFill>
            </a:ln>
          </p:spPr>
          <p:txBody>
            <a:bodyPr wrap="square" lIns="0" tIns="0" rIns="0" bIns="0" rtlCol="0"/>
            <a:lstStyle/>
            <a:p>
              <a:endParaRPr/>
            </a:p>
          </p:txBody>
        </p:sp>
        <p:pic>
          <p:nvPicPr>
            <p:cNvPr id="6" name="object 6"/>
            <p:cNvPicPr/>
            <p:nvPr/>
          </p:nvPicPr>
          <p:blipFill>
            <a:blip r:embed="rId3" cstate="print"/>
            <a:stretch>
              <a:fillRect/>
            </a:stretch>
          </p:blipFill>
          <p:spPr>
            <a:xfrm>
              <a:off x="405384" y="187452"/>
              <a:ext cx="873252" cy="1001268"/>
            </a:xfrm>
            <a:prstGeom prst="rect">
              <a:avLst/>
            </a:prstGeom>
          </p:spPr>
        </p:pic>
      </p:grpSp>
      <p:sp>
        <p:nvSpPr>
          <p:cNvPr id="7" name="object 7"/>
          <p:cNvSpPr txBox="1"/>
          <p:nvPr/>
        </p:nvSpPr>
        <p:spPr>
          <a:xfrm>
            <a:off x="1555241" y="1119723"/>
            <a:ext cx="6199251" cy="5091137"/>
          </a:xfrm>
          <a:prstGeom prst="rect">
            <a:avLst/>
          </a:prstGeom>
        </p:spPr>
        <p:txBody>
          <a:bodyPr vert="horz" wrap="square" lIns="0" tIns="165100" rIns="0" bIns="0" rtlCol="0">
            <a:spAutoFit/>
          </a:bodyPr>
          <a:lstStyle/>
          <a:p>
            <a:pPr marL="354965" indent="-342265">
              <a:spcBef>
                <a:spcPts val="1200"/>
              </a:spcBef>
              <a:buAutoNum type="arabicPeriod"/>
              <a:tabLst>
                <a:tab pos="354965" algn="l"/>
              </a:tabLst>
            </a:pPr>
            <a:r>
              <a:rPr sz="1200" spc="-10" dirty="0">
                <a:latin typeface="Times New Roman"/>
                <a:cs typeface="Times New Roman"/>
              </a:rPr>
              <a:t>INTRODUCTION</a:t>
            </a:r>
            <a:endParaRPr lang="en-IN" sz="1200" spc="-10" dirty="0">
              <a:latin typeface="Times New Roman"/>
              <a:cs typeface="Times New Roman"/>
            </a:endParaRPr>
          </a:p>
          <a:p>
            <a:pPr marL="354965" indent="-342265">
              <a:spcBef>
                <a:spcPts val="1200"/>
              </a:spcBef>
              <a:buAutoNum type="arabicPeriod"/>
              <a:tabLst>
                <a:tab pos="354965" algn="l"/>
              </a:tabLst>
            </a:pPr>
            <a:r>
              <a:rPr lang="en-IN" sz="1200" spc="-10" dirty="0">
                <a:latin typeface="Times New Roman"/>
                <a:cs typeface="Times New Roman"/>
              </a:rPr>
              <a:t>PROBLEM STATEMENT &amp; OBJECTIVE</a:t>
            </a:r>
            <a:endParaRPr lang="en-US" sz="1200" spc="-10" dirty="0">
              <a:latin typeface="Times New Roman"/>
              <a:cs typeface="Times New Roman"/>
            </a:endParaRPr>
          </a:p>
          <a:p>
            <a:pPr marL="354965" indent="-342265">
              <a:spcBef>
                <a:spcPts val="1200"/>
              </a:spcBef>
              <a:buFontTx/>
              <a:buAutoNum type="arabicPeriod"/>
              <a:tabLst>
                <a:tab pos="354965" algn="l"/>
              </a:tabLst>
            </a:pPr>
            <a:r>
              <a:rPr lang="en-IN" sz="1200" dirty="0">
                <a:latin typeface="Times New Roman"/>
                <a:cs typeface="Times New Roman"/>
              </a:rPr>
              <a:t>LITERATURE</a:t>
            </a:r>
            <a:r>
              <a:rPr lang="en-IN" sz="1200" spc="-120" dirty="0">
                <a:latin typeface="Times New Roman"/>
                <a:cs typeface="Times New Roman"/>
              </a:rPr>
              <a:t> </a:t>
            </a:r>
            <a:r>
              <a:rPr lang="en-IN" sz="1200" spc="-10" dirty="0">
                <a:latin typeface="Times New Roman"/>
                <a:cs typeface="Times New Roman"/>
              </a:rPr>
              <a:t>SURVEY</a:t>
            </a:r>
          </a:p>
          <a:p>
            <a:pPr marL="354965" indent="-342265">
              <a:spcBef>
                <a:spcPts val="1200"/>
              </a:spcBef>
              <a:buFontTx/>
              <a:buAutoNum type="arabicPeriod"/>
              <a:tabLst>
                <a:tab pos="354965" algn="l"/>
              </a:tabLst>
            </a:pPr>
            <a:r>
              <a:rPr lang="en-IN" sz="1200" spc="-10" dirty="0">
                <a:latin typeface="Times New Roman"/>
                <a:cs typeface="Times New Roman"/>
              </a:rPr>
              <a:t>DISADVANTAGES OF EXISITING WORK</a:t>
            </a:r>
          </a:p>
          <a:p>
            <a:pPr marL="354965" indent="-342265">
              <a:spcBef>
                <a:spcPts val="1200"/>
              </a:spcBef>
              <a:buFontTx/>
              <a:buAutoNum type="arabicPeriod"/>
              <a:tabLst>
                <a:tab pos="354965" algn="l"/>
              </a:tabLst>
            </a:pPr>
            <a:r>
              <a:rPr lang="en-US" sz="1200" dirty="0">
                <a:latin typeface="Times New Roman"/>
                <a:cs typeface="Times New Roman"/>
              </a:rPr>
              <a:t>PROPOSED SOLUTION &amp; OBJECTIVES</a:t>
            </a:r>
          </a:p>
          <a:p>
            <a:pPr marL="354965" indent="-342265">
              <a:spcBef>
                <a:spcPts val="1200"/>
              </a:spcBef>
              <a:buFontTx/>
              <a:buAutoNum type="arabicPeriod"/>
              <a:tabLst>
                <a:tab pos="354965" algn="l"/>
              </a:tabLst>
            </a:pPr>
            <a:r>
              <a:rPr lang="en-US" sz="1200" dirty="0">
                <a:latin typeface="Times New Roman"/>
                <a:cs typeface="Times New Roman"/>
              </a:rPr>
              <a:t>SYSTEM DESIGN &amp; ARCHITECTURE</a:t>
            </a:r>
          </a:p>
          <a:p>
            <a:pPr marL="354965" indent="-342265">
              <a:spcBef>
                <a:spcPts val="1200"/>
              </a:spcBef>
              <a:buFontTx/>
              <a:buAutoNum type="arabicPeriod"/>
              <a:tabLst>
                <a:tab pos="354965" algn="l"/>
              </a:tabLst>
            </a:pPr>
            <a:r>
              <a:rPr lang="en-US" sz="1200" dirty="0">
                <a:latin typeface="Times New Roman"/>
                <a:cs typeface="Times New Roman"/>
              </a:rPr>
              <a:t>SYSTEM FLOWCHART</a:t>
            </a:r>
          </a:p>
          <a:p>
            <a:pPr marL="354965" indent="-342265">
              <a:spcBef>
                <a:spcPts val="1200"/>
              </a:spcBef>
              <a:buFontTx/>
              <a:buAutoNum type="arabicPeriod"/>
              <a:tabLst>
                <a:tab pos="354965" algn="l"/>
              </a:tabLst>
            </a:pPr>
            <a:r>
              <a:rPr sz="1200" dirty="0">
                <a:latin typeface="Times New Roman"/>
                <a:cs typeface="Times New Roman"/>
              </a:rPr>
              <a:t>PROPOSED</a:t>
            </a:r>
            <a:r>
              <a:rPr sz="1200" spc="-5" dirty="0">
                <a:latin typeface="Times New Roman"/>
                <a:cs typeface="Times New Roman"/>
              </a:rPr>
              <a:t> </a:t>
            </a:r>
            <a:r>
              <a:rPr sz="1200" spc="-10" dirty="0">
                <a:latin typeface="Times New Roman"/>
                <a:cs typeface="Times New Roman"/>
              </a:rPr>
              <a:t>SYSTEM</a:t>
            </a:r>
            <a:r>
              <a:rPr lang="en-US" sz="1200" spc="-10" dirty="0">
                <a:latin typeface="Times New Roman"/>
                <a:cs typeface="Times New Roman"/>
              </a:rPr>
              <a:t> &amp; </a:t>
            </a:r>
            <a:r>
              <a:rPr lang="en-IN" sz="1200" spc="-10" dirty="0">
                <a:latin typeface="Times New Roman"/>
                <a:cs typeface="Times New Roman"/>
              </a:rPr>
              <a:t>ALGORITHM</a:t>
            </a:r>
          </a:p>
          <a:p>
            <a:pPr marL="354965" indent="-342265">
              <a:spcBef>
                <a:spcPts val="1200"/>
              </a:spcBef>
              <a:buFontTx/>
              <a:buAutoNum type="arabicPeriod"/>
              <a:tabLst>
                <a:tab pos="354965" algn="l"/>
              </a:tabLst>
            </a:pPr>
            <a:r>
              <a:rPr lang="en-US" sz="1200" dirty="0">
                <a:latin typeface="Times New Roman"/>
                <a:cs typeface="Times New Roman"/>
              </a:rPr>
              <a:t>PROGRESS ACHIEVED</a:t>
            </a:r>
          </a:p>
          <a:p>
            <a:pPr marL="354965" indent="-342265">
              <a:spcBef>
                <a:spcPts val="1200"/>
              </a:spcBef>
              <a:buFontTx/>
              <a:buAutoNum type="arabicPeriod"/>
              <a:tabLst>
                <a:tab pos="354965" algn="l"/>
              </a:tabLst>
            </a:pPr>
            <a:r>
              <a:rPr lang="en-US" sz="1200" dirty="0">
                <a:latin typeface="Times New Roman"/>
                <a:cs typeface="Times New Roman"/>
              </a:rPr>
              <a:t>WORK PLAN</a:t>
            </a:r>
          </a:p>
          <a:p>
            <a:pPr marL="354965" indent="-342265">
              <a:spcBef>
                <a:spcPts val="1200"/>
              </a:spcBef>
              <a:buFontTx/>
              <a:buAutoNum type="arabicPeriod"/>
              <a:tabLst>
                <a:tab pos="354965" algn="l"/>
              </a:tabLst>
            </a:pPr>
            <a:r>
              <a:rPr lang="en-US" sz="1200" dirty="0">
                <a:latin typeface="Times New Roman"/>
                <a:cs typeface="Times New Roman"/>
              </a:rPr>
              <a:t>PROJECT OUTCOME</a:t>
            </a:r>
            <a:endParaRPr sz="1200" dirty="0">
              <a:latin typeface="Times New Roman"/>
              <a:cs typeface="Times New Roman"/>
            </a:endParaRPr>
          </a:p>
          <a:p>
            <a:pPr marL="354965" indent="-342265">
              <a:spcBef>
                <a:spcPts val="1205"/>
              </a:spcBef>
              <a:buAutoNum type="arabicPeriod"/>
              <a:tabLst>
                <a:tab pos="354965" algn="l"/>
              </a:tabLst>
            </a:pPr>
            <a:r>
              <a:rPr lang="en-IN" sz="1200" spc="-10" dirty="0">
                <a:latin typeface="Times New Roman"/>
                <a:cs typeface="Times New Roman"/>
              </a:rPr>
              <a:t>ADVANTAGES OF PROPOSED SYSTEM</a:t>
            </a:r>
          </a:p>
          <a:p>
            <a:pPr marL="354965" indent="-342265">
              <a:spcBef>
                <a:spcPts val="1205"/>
              </a:spcBef>
              <a:buFontTx/>
              <a:buAutoNum type="arabicPeriod"/>
              <a:tabLst>
                <a:tab pos="354965" algn="l"/>
              </a:tabLst>
            </a:pPr>
            <a:r>
              <a:rPr lang="en-IN" sz="1200" spc="-10" dirty="0">
                <a:latin typeface="Times New Roman"/>
                <a:cs typeface="Times New Roman"/>
              </a:rPr>
              <a:t>APPLICATIONS OF PROPOSED SYSTEM</a:t>
            </a:r>
          </a:p>
          <a:p>
            <a:pPr marL="354965" indent="-342265">
              <a:spcBef>
                <a:spcPts val="1205"/>
              </a:spcBef>
              <a:buAutoNum type="arabicPeriod"/>
              <a:tabLst>
                <a:tab pos="354965" algn="l"/>
              </a:tabLst>
            </a:pPr>
            <a:r>
              <a:rPr sz="1200" spc="-10" dirty="0">
                <a:latin typeface="Times New Roman"/>
                <a:cs typeface="Times New Roman"/>
              </a:rPr>
              <a:t>CONCLUSION</a:t>
            </a:r>
            <a:endParaRPr lang="en-US" sz="1200" spc="-10" dirty="0">
              <a:latin typeface="Times New Roman"/>
              <a:cs typeface="Times New Roman"/>
            </a:endParaRPr>
          </a:p>
          <a:p>
            <a:pPr marL="354965" indent="-342265">
              <a:spcBef>
                <a:spcPts val="1205"/>
              </a:spcBef>
              <a:buAutoNum type="arabicPeriod"/>
              <a:tabLst>
                <a:tab pos="354965" algn="l"/>
              </a:tabLst>
            </a:pPr>
            <a:r>
              <a:rPr sz="1200" spc="-10" dirty="0">
                <a:latin typeface="Times New Roman"/>
                <a:cs typeface="Times New Roman"/>
              </a:rPr>
              <a:t>REFERENCES</a:t>
            </a:r>
          </a:p>
        </p:txBody>
      </p:sp>
      <p:sp>
        <p:nvSpPr>
          <p:cNvPr id="8" name="object 8"/>
          <p:cNvSpPr txBox="1">
            <a:spLocks noGrp="1"/>
          </p:cNvSpPr>
          <p:nvPr>
            <p:ph type="sldNum" sz="quarter" idx="7"/>
          </p:nvPr>
        </p:nvSpPr>
        <p:spPr>
          <a:prstGeom prst="rect">
            <a:avLst/>
          </a:prstGeom>
        </p:spPr>
        <p:txBody>
          <a:bodyPr vert="horz" wrap="square" lIns="0" tIns="59791" rIns="0" bIns="0" rtlCol="0">
            <a:spAutoFit/>
          </a:bodyPr>
          <a:lstStyle/>
          <a:p>
            <a:pPr marL="351790">
              <a:lnSpc>
                <a:spcPct val="100000"/>
              </a:lnSpc>
              <a:spcBef>
                <a:spcPts val="10"/>
              </a:spcBef>
            </a:pPr>
            <a:fld id="{81D60167-4931-47E6-BA6A-407CBD079E47}" type="slidenum">
              <a:rPr spc="-50" dirty="0"/>
              <a:t>2</a:t>
            </a:fld>
            <a:endParaRPr spc="-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55241" y="188213"/>
            <a:ext cx="9359265" cy="896619"/>
          </a:xfrm>
          <a:prstGeom prst="rect">
            <a:avLst/>
          </a:prstGeom>
          <a:ln w="28575">
            <a:solidFill>
              <a:srgbClr val="2D528F"/>
            </a:solidFill>
          </a:ln>
        </p:spPr>
        <p:txBody>
          <a:bodyPr vert="horz" wrap="square" lIns="0" tIns="144780" rIns="0" bIns="0" rtlCol="0">
            <a:spAutoFit/>
          </a:bodyPr>
          <a:lstStyle/>
          <a:p>
            <a:pPr marR="59055" algn="ctr">
              <a:lnSpc>
                <a:spcPct val="100000"/>
              </a:lnSpc>
              <a:spcBef>
                <a:spcPts val="1140"/>
              </a:spcBef>
            </a:pPr>
            <a:r>
              <a:rPr spc="225" dirty="0"/>
              <a:t>INTRODUCTION</a:t>
            </a:r>
          </a:p>
        </p:txBody>
      </p:sp>
      <p:grpSp>
        <p:nvGrpSpPr>
          <p:cNvPr id="3" name="object 3"/>
          <p:cNvGrpSpPr/>
          <p:nvPr/>
        </p:nvGrpSpPr>
        <p:grpSpPr>
          <a:xfrm>
            <a:off x="106869" y="76389"/>
            <a:ext cx="11971020" cy="6706870"/>
            <a:chOff x="106869" y="76389"/>
            <a:chExt cx="11971020" cy="6706870"/>
          </a:xfrm>
        </p:grpSpPr>
        <p:sp>
          <p:nvSpPr>
            <p:cNvPr id="4" name="object 4"/>
            <p:cNvSpPr/>
            <p:nvPr/>
          </p:nvSpPr>
          <p:spPr>
            <a:xfrm>
              <a:off x="121156" y="90676"/>
              <a:ext cx="11942445" cy="6678295"/>
            </a:xfrm>
            <a:custGeom>
              <a:avLst/>
              <a:gdLst/>
              <a:ahLst/>
              <a:cxnLst/>
              <a:rect l="l" t="t" r="r" b="b"/>
              <a:pathLst>
                <a:path w="11942445" h="6678295">
                  <a:moveTo>
                    <a:pt x="0" y="6678168"/>
                  </a:moveTo>
                  <a:lnTo>
                    <a:pt x="11942064" y="6678168"/>
                  </a:lnTo>
                  <a:lnTo>
                    <a:pt x="11942064" y="0"/>
                  </a:lnTo>
                  <a:lnTo>
                    <a:pt x="0" y="0"/>
                  </a:lnTo>
                  <a:lnTo>
                    <a:pt x="0" y="6678168"/>
                  </a:lnTo>
                  <a:close/>
                </a:path>
              </a:pathLst>
            </a:custGeom>
            <a:ln w="28575">
              <a:solidFill>
                <a:srgbClr val="2D528F"/>
              </a:solidFill>
            </a:ln>
          </p:spPr>
          <p:txBody>
            <a:bodyPr wrap="square" lIns="0" tIns="0" rIns="0" bIns="0" rtlCol="0"/>
            <a:lstStyle/>
            <a:p>
              <a:endParaRPr/>
            </a:p>
          </p:txBody>
        </p:sp>
        <p:pic>
          <p:nvPicPr>
            <p:cNvPr id="5" name="object 5"/>
            <p:cNvPicPr/>
            <p:nvPr/>
          </p:nvPicPr>
          <p:blipFill>
            <a:blip r:embed="rId3" cstate="print"/>
            <a:stretch>
              <a:fillRect/>
            </a:stretch>
          </p:blipFill>
          <p:spPr>
            <a:xfrm>
              <a:off x="405384" y="187452"/>
              <a:ext cx="873252" cy="1001268"/>
            </a:xfrm>
            <a:prstGeom prst="rect">
              <a:avLst/>
            </a:prstGeom>
          </p:spPr>
        </p:pic>
      </p:grpSp>
      <p:sp>
        <p:nvSpPr>
          <p:cNvPr id="6" name="object 6"/>
          <p:cNvSpPr txBox="1"/>
          <p:nvPr/>
        </p:nvSpPr>
        <p:spPr>
          <a:xfrm>
            <a:off x="688035" y="1989556"/>
            <a:ext cx="10913110" cy="4599785"/>
          </a:xfrm>
          <a:prstGeom prst="rect">
            <a:avLst/>
          </a:prstGeom>
        </p:spPr>
        <p:txBody>
          <a:bodyPr vert="horz" wrap="square" lIns="0" tIns="12700" rIns="0" bIns="0" rtlCol="0">
            <a:spAutoFit/>
          </a:bodyPr>
          <a:lstStyle/>
          <a:p>
            <a:pPr marL="355600" marR="5080" indent="-342900">
              <a:lnSpc>
                <a:spcPct val="150000"/>
              </a:lnSpc>
              <a:spcBef>
                <a:spcPts val="100"/>
              </a:spcBef>
              <a:buFont typeface="Wingdings"/>
              <a:buChar char=""/>
              <a:tabLst>
                <a:tab pos="355600" algn="l"/>
              </a:tabLst>
            </a:pPr>
            <a:r>
              <a:rPr lang="en-US" sz="1800" dirty="0"/>
              <a:t>Electric Vehicles (EVs) are vehicles that run fully or partially on electricity instead of conventional fuels like petrol or diesel. They use electric motors for propulsion and store energy in rechargeable battery packs. EVs are considered environmentally friendly due to lower emissions and higher energy efficiency.</a:t>
            </a:r>
          </a:p>
          <a:p>
            <a:pPr marL="355600" marR="5080" indent="-342900">
              <a:lnSpc>
                <a:spcPct val="150000"/>
              </a:lnSpc>
              <a:spcBef>
                <a:spcPts val="100"/>
              </a:spcBef>
              <a:buFont typeface="Wingdings"/>
              <a:buChar char=""/>
              <a:tabLst>
                <a:tab pos="355600" algn="l"/>
              </a:tabLst>
            </a:pPr>
            <a:r>
              <a:rPr lang="en-US" sz="1800" b="1" dirty="0"/>
              <a:t>Types of EVs:</a:t>
            </a:r>
            <a:br>
              <a:rPr lang="en-US" sz="1800" dirty="0"/>
            </a:br>
            <a:r>
              <a:rPr lang="en-US" sz="1800" dirty="0"/>
              <a:t>- BEV (Battery Electric Vehicle)</a:t>
            </a:r>
            <a:br>
              <a:rPr lang="en-US" sz="1800" dirty="0"/>
            </a:br>
            <a:r>
              <a:rPr lang="en-US" sz="1800" dirty="0"/>
              <a:t>- PHEV (Plug-in Hybrid Electric Vehicle)</a:t>
            </a:r>
            <a:br>
              <a:rPr lang="en-US" sz="1800" dirty="0"/>
            </a:br>
            <a:r>
              <a:rPr lang="en-US" sz="1800" dirty="0"/>
              <a:t>- HEV (Hybrid Electric Vehicle)</a:t>
            </a:r>
            <a:br>
              <a:rPr lang="en-US" sz="1800" dirty="0"/>
            </a:br>
            <a:r>
              <a:rPr lang="en-US" sz="1800" dirty="0"/>
              <a:t>- FCEV (Fuel Cell Electric Vehicle)</a:t>
            </a:r>
            <a:endParaRPr lang="en-IN" sz="1800" dirty="0"/>
          </a:p>
          <a:p>
            <a:pPr marL="12700" marR="5080">
              <a:lnSpc>
                <a:spcPct val="150000"/>
              </a:lnSpc>
              <a:spcBef>
                <a:spcPts val="100"/>
              </a:spcBef>
              <a:tabLst>
                <a:tab pos="355600" algn="l"/>
              </a:tabLst>
            </a:pPr>
            <a:br>
              <a:rPr lang="en-US" sz="1800" dirty="0"/>
            </a:br>
            <a:endParaRPr sz="2000" dirty="0">
              <a:latin typeface="Times New Roman"/>
              <a:cs typeface="Times New Roman"/>
            </a:endParaRPr>
          </a:p>
        </p:txBody>
      </p:sp>
      <p:sp>
        <p:nvSpPr>
          <p:cNvPr id="7" name="object 7"/>
          <p:cNvSpPr txBox="1"/>
          <p:nvPr/>
        </p:nvSpPr>
        <p:spPr>
          <a:xfrm>
            <a:off x="11629770" y="6396132"/>
            <a:ext cx="161290" cy="294005"/>
          </a:xfrm>
          <a:prstGeom prst="rect">
            <a:avLst/>
          </a:prstGeom>
        </p:spPr>
        <p:txBody>
          <a:bodyPr vert="horz" wrap="square" lIns="0" tIns="1270" rIns="0" bIns="0" rtlCol="0">
            <a:spAutoFit/>
          </a:bodyPr>
          <a:lstStyle/>
          <a:p>
            <a:pPr marL="12700">
              <a:lnSpc>
                <a:spcPct val="100000"/>
              </a:lnSpc>
              <a:spcBef>
                <a:spcPts val="10"/>
              </a:spcBef>
            </a:pPr>
            <a:r>
              <a:rPr sz="1800" b="1" spc="-50" dirty="0">
                <a:solidFill>
                  <a:srgbClr val="2D5395"/>
                </a:solidFill>
                <a:latin typeface="Cambria"/>
                <a:cs typeface="Cambria"/>
              </a:rPr>
              <a:t>3</a:t>
            </a:r>
            <a:endParaRPr sz="1800">
              <a:latin typeface="Cambria"/>
              <a:cs typeface="Cambri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55241" y="188213"/>
            <a:ext cx="9359265" cy="700192"/>
          </a:xfrm>
          <a:prstGeom prst="rect">
            <a:avLst/>
          </a:prstGeom>
          <a:ln w="28575">
            <a:solidFill>
              <a:srgbClr val="2D528F"/>
            </a:solidFill>
          </a:ln>
        </p:spPr>
        <p:txBody>
          <a:bodyPr vert="horz" wrap="square" lIns="0" tIns="144780" rIns="0" bIns="0" rtlCol="0">
            <a:spAutoFit/>
          </a:bodyPr>
          <a:lstStyle/>
          <a:p>
            <a:pPr marR="59055" algn="ctr">
              <a:lnSpc>
                <a:spcPct val="100000"/>
              </a:lnSpc>
              <a:spcBef>
                <a:spcPts val="1140"/>
              </a:spcBef>
            </a:pPr>
            <a:r>
              <a:rPr lang="en-US" spc="225" dirty="0"/>
              <a:t>PROBLEM STATEMENT &amp; OBJECTIVE</a:t>
            </a:r>
            <a:endParaRPr spc="225" dirty="0"/>
          </a:p>
        </p:txBody>
      </p:sp>
      <p:grpSp>
        <p:nvGrpSpPr>
          <p:cNvPr id="3" name="object 3"/>
          <p:cNvGrpSpPr/>
          <p:nvPr/>
        </p:nvGrpSpPr>
        <p:grpSpPr>
          <a:xfrm>
            <a:off x="110490" y="0"/>
            <a:ext cx="11971020" cy="6706870"/>
            <a:chOff x="106869" y="76389"/>
            <a:chExt cx="11971020" cy="6706870"/>
          </a:xfrm>
        </p:grpSpPr>
        <p:sp>
          <p:nvSpPr>
            <p:cNvPr id="4" name="object 4"/>
            <p:cNvSpPr/>
            <p:nvPr/>
          </p:nvSpPr>
          <p:spPr>
            <a:xfrm>
              <a:off x="121156" y="90676"/>
              <a:ext cx="11942445" cy="6678295"/>
            </a:xfrm>
            <a:custGeom>
              <a:avLst/>
              <a:gdLst/>
              <a:ahLst/>
              <a:cxnLst/>
              <a:rect l="l" t="t" r="r" b="b"/>
              <a:pathLst>
                <a:path w="11942445" h="6678295">
                  <a:moveTo>
                    <a:pt x="0" y="6678168"/>
                  </a:moveTo>
                  <a:lnTo>
                    <a:pt x="11942064" y="6678168"/>
                  </a:lnTo>
                  <a:lnTo>
                    <a:pt x="11942064" y="0"/>
                  </a:lnTo>
                  <a:lnTo>
                    <a:pt x="0" y="0"/>
                  </a:lnTo>
                  <a:lnTo>
                    <a:pt x="0" y="6678168"/>
                  </a:lnTo>
                  <a:close/>
                </a:path>
              </a:pathLst>
            </a:custGeom>
            <a:ln w="28575">
              <a:solidFill>
                <a:srgbClr val="2D528F"/>
              </a:solidFill>
            </a:ln>
          </p:spPr>
          <p:txBody>
            <a:bodyPr wrap="square" lIns="0" tIns="0" rIns="0" bIns="0" rtlCol="0"/>
            <a:lstStyle/>
            <a:p>
              <a:endParaRPr/>
            </a:p>
          </p:txBody>
        </p:sp>
        <p:pic>
          <p:nvPicPr>
            <p:cNvPr id="5" name="object 5"/>
            <p:cNvPicPr/>
            <p:nvPr/>
          </p:nvPicPr>
          <p:blipFill>
            <a:blip r:embed="rId3" cstate="print"/>
            <a:stretch>
              <a:fillRect/>
            </a:stretch>
          </p:blipFill>
          <p:spPr>
            <a:xfrm>
              <a:off x="405384" y="187452"/>
              <a:ext cx="873252" cy="1001268"/>
            </a:xfrm>
            <a:prstGeom prst="rect">
              <a:avLst/>
            </a:prstGeom>
          </p:spPr>
        </p:pic>
      </p:grpSp>
      <p:sp>
        <p:nvSpPr>
          <p:cNvPr id="7" name="object 7"/>
          <p:cNvSpPr txBox="1"/>
          <p:nvPr/>
        </p:nvSpPr>
        <p:spPr>
          <a:xfrm>
            <a:off x="11629770" y="6396132"/>
            <a:ext cx="161290" cy="278281"/>
          </a:xfrm>
          <a:prstGeom prst="rect">
            <a:avLst/>
          </a:prstGeom>
        </p:spPr>
        <p:txBody>
          <a:bodyPr vert="horz" wrap="square" lIns="0" tIns="1270" rIns="0" bIns="0" rtlCol="0">
            <a:spAutoFit/>
          </a:bodyPr>
          <a:lstStyle/>
          <a:p>
            <a:pPr marL="12700">
              <a:lnSpc>
                <a:spcPct val="100000"/>
              </a:lnSpc>
              <a:spcBef>
                <a:spcPts val="10"/>
              </a:spcBef>
            </a:pPr>
            <a:r>
              <a:rPr lang="en-IN" b="1" spc="-50" dirty="0">
                <a:solidFill>
                  <a:srgbClr val="2D5395"/>
                </a:solidFill>
                <a:latin typeface="Cambria"/>
                <a:cs typeface="Cambria"/>
              </a:rPr>
              <a:t>4</a:t>
            </a:r>
            <a:endParaRPr sz="1800" dirty="0">
              <a:latin typeface="Cambria"/>
              <a:cs typeface="Cambria"/>
            </a:endParaRPr>
          </a:p>
        </p:txBody>
      </p:sp>
      <p:sp>
        <p:nvSpPr>
          <p:cNvPr id="10" name="Rectangle 3">
            <a:extLst>
              <a:ext uri="{FF2B5EF4-FFF2-40B4-BE49-F238E27FC236}">
                <a16:creationId xmlns:a16="http://schemas.microsoft.com/office/drawing/2014/main" id="{BF44E3A0-6C78-64C2-FF27-E4852CABFBA8}"/>
              </a:ext>
            </a:extLst>
          </p:cNvPr>
          <p:cNvSpPr>
            <a:spLocks noChangeArrowheads="1"/>
          </p:cNvSpPr>
          <p:nvPr/>
        </p:nvSpPr>
        <p:spPr bwMode="auto">
          <a:xfrm flipV="1">
            <a:off x="914400" y="2563627"/>
            <a:ext cx="92202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
        <p:nvSpPr>
          <p:cNvPr id="11" name="Rectangle 4">
            <a:extLst>
              <a:ext uri="{FF2B5EF4-FFF2-40B4-BE49-F238E27FC236}">
                <a16:creationId xmlns:a16="http://schemas.microsoft.com/office/drawing/2014/main" id="{4FBB63FF-ABFB-398B-AD73-EC73393493BD}"/>
              </a:ext>
            </a:extLst>
          </p:cNvPr>
          <p:cNvSpPr>
            <a:spLocks noChangeArrowheads="1"/>
          </p:cNvSpPr>
          <p:nvPr/>
        </p:nvSpPr>
        <p:spPr bwMode="auto">
          <a:xfrm>
            <a:off x="1143000" y="1224800"/>
            <a:ext cx="11059438"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US" sz="1800" b="1" dirty="0"/>
              <a:t>Problem Statement</a:t>
            </a:r>
          </a:p>
          <a:p>
            <a:r>
              <a:rPr lang="en-US" sz="1800" dirty="0"/>
              <a:t>Electric vehicle drivers face uncertainty about their remaining range due to multiple factors affecting </a:t>
            </a:r>
          </a:p>
          <a:p>
            <a:r>
              <a:rPr lang="en-US" sz="1800" dirty="0"/>
              <a:t>battery consumption. Traditional range estimators often fail to account for real-time conditions such as </a:t>
            </a:r>
          </a:p>
          <a:p>
            <a:r>
              <a:rPr lang="en-US" sz="1800" dirty="0"/>
              <a:t>temperature, driving style, terrain, and HVAC usage, leading to range anxiety and suboptimal trip planning.</a:t>
            </a:r>
            <a:endParaRPr lang="en-IN" sz="1800" dirty="0"/>
          </a:p>
          <a:p>
            <a:endParaRPr lang="en-IN" sz="1800" b="1" dirty="0"/>
          </a:p>
          <a:p>
            <a:pPr algn="l" rtl="0"/>
            <a:r>
              <a:rPr lang="en-US" altLang="en-US" b="1" dirty="0">
                <a:solidFill>
                  <a:schemeClr val="tx1"/>
                </a:solidFill>
                <a:latin typeface="Arial" panose="020B0604020202020204" pitchFamily="34" charset="0"/>
              </a:rPr>
              <a:t>Objective</a:t>
            </a:r>
            <a:endParaRPr lang="en-IN" sz="1800" b="1" dirty="0"/>
          </a:p>
          <a:p>
            <a:pPr lvl="0"/>
            <a:r>
              <a:rPr lang="en-US" sz="1800" dirty="0"/>
              <a:t>Develop a highly accurate ML model for EV range prediction (target Mean Absolute Error &lt; 5 km)</a:t>
            </a:r>
            <a:endParaRPr lang="en-IN" sz="1800" dirty="0"/>
          </a:p>
          <a:p>
            <a:pPr lvl="0"/>
            <a:r>
              <a:rPr lang="en-US" sz="1800" dirty="0"/>
              <a:t>Create a comprehensive synthetic dataset with realistic physics-based relationships</a:t>
            </a:r>
            <a:endParaRPr lang="en-IN" sz="1800" dirty="0"/>
          </a:p>
          <a:p>
            <a:pPr lvl="0"/>
            <a:r>
              <a:rPr lang="en-US" sz="1800" dirty="0"/>
              <a:t>Build an intuitive web interface for real-time range estimation</a:t>
            </a:r>
            <a:endParaRPr lang="en-IN" sz="1800" dirty="0"/>
          </a:p>
          <a:p>
            <a:pPr lvl="0"/>
            <a:r>
              <a:rPr lang="en-US" sz="1800" dirty="0"/>
              <a:t>Provide RESTful API for integration with other systems</a:t>
            </a:r>
            <a:endParaRPr lang="en-IN" sz="1800" dirty="0"/>
          </a:p>
          <a:p>
            <a:pPr lvl="0"/>
            <a:r>
              <a:rPr lang="en-US" sz="1800" dirty="0"/>
              <a:t>Achieve model interpretability to understand key factors affecting range</a:t>
            </a:r>
            <a:endParaRPr lang="en-IN" dirty="0"/>
          </a:p>
          <a:p>
            <a:pPr lvl="0"/>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Arial" panose="020B0604020202020204" pitchFamily="34" charset="0"/>
              </a:rPr>
              <a:t> Ensure </a:t>
            </a:r>
            <a:r>
              <a:rPr kumimoji="0" lang="en-US" altLang="en-US" sz="1800" b="1" i="0" u="none" strike="noStrike" cap="none" normalizeH="0" baseline="0" dirty="0">
                <a:ln>
                  <a:noFill/>
                </a:ln>
                <a:solidFill>
                  <a:schemeClr val="tx1"/>
                </a:solidFill>
                <a:effectLst/>
                <a:latin typeface="Arial" panose="020B0604020202020204" pitchFamily="34" charset="0"/>
              </a:rPr>
              <a:t>battery safety</a:t>
            </a:r>
            <a:r>
              <a:rPr kumimoji="0" lang="en-US" altLang="en-US" sz="1800" b="0" i="0" u="none" strike="noStrike" cap="none" normalizeH="0" baseline="0" dirty="0">
                <a:ln>
                  <a:noFill/>
                </a:ln>
                <a:solidFill>
                  <a:schemeClr val="tx1"/>
                </a:solidFill>
                <a:effectLst/>
                <a:latin typeface="Arial" panose="020B0604020202020204" pitchFamily="34" charset="0"/>
              </a:rPr>
              <a:t> → prevent overcharge, overheating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Arial" panose="020B0604020202020204" pitchFamily="34" charset="0"/>
              </a:rPr>
              <a:t> Measure data</a:t>
            </a:r>
            <a:r>
              <a:rPr kumimoji="0" lang="en-US" altLang="en-US" sz="1800" b="0" i="0" u="none" strike="noStrike" cap="none" normalizeH="0" baseline="0" dirty="0">
                <a:ln>
                  <a:noFill/>
                </a:ln>
                <a:solidFill>
                  <a:schemeClr val="tx1"/>
                </a:solidFill>
                <a:effectLst/>
                <a:latin typeface="Arial" panose="020B0604020202020204" pitchFamily="34" charset="0"/>
              </a:rPr>
              <a:t> → voltage, current, temperature (sensors)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Arial" panose="020B0604020202020204" pitchFamily="34" charset="0"/>
              </a:rPr>
              <a:t> Estimate </a:t>
            </a:r>
            <a:r>
              <a:rPr kumimoji="0" lang="en-US" altLang="en-US" sz="1800" b="1" i="0" u="none" strike="noStrike" cap="none" normalizeH="0" baseline="0" dirty="0">
                <a:ln>
                  <a:noFill/>
                </a:ln>
                <a:solidFill>
                  <a:schemeClr val="tx1"/>
                </a:solidFill>
                <a:effectLst/>
                <a:latin typeface="Arial" panose="020B0604020202020204" pitchFamily="34" charset="0"/>
              </a:rPr>
              <a:t>SOC &amp; SOH</a:t>
            </a:r>
            <a:r>
              <a:rPr kumimoji="0" lang="en-US" altLang="en-US" sz="1800" b="0" i="0" u="none" strike="noStrike" cap="none" normalizeH="0" baseline="0" dirty="0">
                <a:ln>
                  <a:noFill/>
                </a:ln>
                <a:solidFill>
                  <a:schemeClr val="tx1"/>
                </a:solidFill>
                <a:effectLst/>
                <a:latin typeface="Arial" panose="020B0604020202020204" pitchFamily="34" charset="0"/>
              </a:rPr>
              <a:t> → know charge level and health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Arial" panose="020B0604020202020204" pitchFamily="34" charset="0"/>
              </a:rPr>
              <a:t> Improve </a:t>
            </a:r>
            <a:r>
              <a:rPr kumimoji="0" lang="en-US" altLang="en-US" sz="1800" b="1" i="0" u="none" strike="noStrike" cap="none" normalizeH="0" baseline="0" dirty="0">
                <a:ln>
                  <a:noFill/>
                </a:ln>
                <a:solidFill>
                  <a:schemeClr val="tx1"/>
                </a:solidFill>
                <a:effectLst/>
                <a:latin typeface="Arial" panose="020B0604020202020204" pitchFamily="34" charset="0"/>
              </a:rPr>
              <a:t>performance &amp; efficiency</a:t>
            </a:r>
            <a:r>
              <a:rPr kumimoji="0" lang="en-US" altLang="en-US" sz="1800" b="0" i="0" u="none" strike="noStrike" cap="none" normalizeH="0" baseline="0" dirty="0">
                <a:ln>
                  <a:noFill/>
                </a:ln>
                <a:solidFill>
                  <a:schemeClr val="tx1"/>
                </a:solidFill>
                <a:effectLst/>
                <a:latin typeface="Arial" panose="020B0604020202020204" pitchFamily="34" charset="0"/>
              </a:rPr>
              <a:t> → optimize usage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Arial" panose="020B0604020202020204" pitchFamily="34" charset="0"/>
              </a:rPr>
              <a:t> Check operating limits</a:t>
            </a:r>
            <a:r>
              <a:rPr kumimoji="0" lang="en-US" altLang="en-US" sz="1800" b="0" i="0" u="none" strike="noStrike" cap="none" normalizeH="0" baseline="0" dirty="0">
                <a:ln>
                  <a:noFill/>
                </a:ln>
                <a:solidFill>
                  <a:schemeClr val="tx1"/>
                </a:solidFill>
                <a:effectLst/>
                <a:latin typeface="Arial" panose="020B0604020202020204" pitchFamily="34" charset="0"/>
              </a:rPr>
              <a:t> → keep battery within safe range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Arial" panose="020B0604020202020204" pitchFamily="34" charset="0"/>
              </a:rPr>
              <a:t> Apply control logic</a:t>
            </a:r>
            <a:r>
              <a:rPr kumimoji="0" lang="en-US" altLang="en-US" sz="1800" b="0" i="0" u="none" strike="noStrike" cap="none" normalizeH="0" baseline="0" dirty="0">
                <a:ln>
                  <a:noFill/>
                </a:ln>
                <a:solidFill>
                  <a:schemeClr val="tx1"/>
                </a:solidFill>
                <a:effectLst/>
                <a:latin typeface="Arial" panose="020B0604020202020204" pitchFamily="34" charset="0"/>
              </a:rPr>
              <a:t> → make decisions based on data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64434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5955264-FAC9-23B8-C974-BF1D7344FD2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7EDD1C4-7C42-8CF4-DFA8-1952AAC06AE7}"/>
              </a:ext>
            </a:extLst>
          </p:cNvPr>
          <p:cNvSpPr txBox="1">
            <a:spLocks noGrp="1"/>
          </p:cNvSpPr>
          <p:nvPr>
            <p:ph type="title"/>
          </p:nvPr>
        </p:nvSpPr>
        <p:spPr>
          <a:xfrm>
            <a:off x="1555241" y="188175"/>
            <a:ext cx="9359265" cy="712470"/>
          </a:xfrm>
          <a:prstGeom prst="rect">
            <a:avLst/>
          </a:prstGeom>
          <a:ln w="28575">
            <a:solidFill>
              <a:srgbClr val="2D528F"/>
            </a:solidFill>
          </a:ln>
        </p:spPr>
        <p:txBody>
          <a:bodyPr vert="horz" wrap="square" lIns="0" tIns="141605" rIns="0" bIns="0" rtlCol="0">
            <a:spAutoFit/>
          </a:bodyPr>
          <a:lstStyle/>
          <a:p>
            <a:pPr algn="ctr">
              <a:lnSpc>
                <a:spcPct val="100000"/>
              </a:lnSpc>
              <a:spcBef>
                <a:spcPts val="1115"/>
              </a:spcBef>
            </a:pPr>
            <a:r>
              <a:rPr dirty="0">
                <a:latin typeface="Times New Roman"/>
                <a:cs typeface="Times New Roman"/>
              </a:rPr>
              <a:t>LITERATURE</a:t>
            </a:r>
            <a:r>
              <a:rPr spc="-15" dirty="0">
                <a:latin typeface="Times New Roman"/>
                <a:cs typeface="Times New Roman"/>
              </a:rPr>
              <a:t> </a:t>
            </a:r>
            <a:r>
              <a:rPr spc="-10" dirty="0">
                <a:latin typeface="Times New Roman"/>
                <a:cs typeface="Times New Roman"/>
              </a:rPr>
              <a:t>SURVEY</a:t>
            </a:r>
          </a:p>
        </p:txBody>
      </p:sp>
      <p:grpSp>
        <p:nvGrpSpPr>
          <p:cNvPr id="3" name="object 3">
            <a:extLst>
              <a:ext uri="{FF2B5EF4-FFF2-40B4-BE49-F238E27FC236}">
                <a16:creationId xmlns:a16="http://schemas.microsoft.com/office/drawing/2014/main" id="{97E0D830-C03C-9139-9B25-07F0A82FC780}"/>
              </a:ext>
            </a:extLst>
          </p:cNvPr>
          <p:cNvGrpSpPr/>
          <p:nvPr/>
        </p:nvGrpSpPr>
        <p:grpSpPr>
          <a:xfrm>
            <a:off x="101676" y="84308"/>
            <a:ext cx="11942445" cy="6642100"/>
            <a:chOff x="121156" y="116051"/>
            <a:chExt cx="11942445" cy="6642100"/>
          </a:xfrm>
        </p:grpSpPr>
        <p:sp>
          <p:nvSpPr>
            <p:cNvPr id="4" name="object 4">
              <a:extLst>
                <a:ext uri="{FF2B5EF4-FFF2-40B4-BE49-F238E27FC236}">
                  <a16:creationId xmlns:a16="http://schemas.microsoft.com/office/drawing/2014/main" id="{DA1CC9EA-6807-E034-B882-2D5AB5A7C1AD}"/>
                </a:ext>
              </a:extLst>
            </p:cNvPr>
            <p:cNvSpPr/>
            <p:nvPr/>
          </p:nvSpPr>
          <p:spPr>
            <a:xfrm>
              <a:off x="121156" y="116051"/>
              <a:ext cx="11942445" cy="6642100"/>
            </a:xfrm>
            <a:custGeom>
              <a:avLst/>
              <a:gdLst/>
              <a:ahLst/>
              <a:cxnLst/>
              <a:rect l="l" t="t" r="r" b="b"/>
              <a:pathLst>
                <a:path w="11942445" h="6642100">
                  <a:moveTo>
                    <a:pt x="0" y="6642100"/>
                  </a:moveTo>
                  <a:lnTo>
                    <a:pt x="11942064" y="6642100"/>
                  </a:lnTo>
                  <a:lnTo>
                    <a:pt x="11942064" y="0"/>
                  </a:lnTo>
                  <a:lnTo>
                    <a:pt x="0" y="0"/>
                  </a:lnTo>
                  <a:lnTo>
                    <a:pt x="0" y="6642100"/>
                  </a:lnTo>
                  <a:close/>
                </a:path>
              </a:pathLst>
            </a:custGeom>
            <a:ln w="28575">
              <a:solidFill>
                <a:srgbClr val="2D528F"/>
              </a:solidFill>
            </a:ln>
          </p:spPr>
          <p:txBody>
            <a:bodyPr wrap="square" lIns="0" tIns="0" rIns="0" bIns="0" rtlCol="0"/>
            <a:lstStyle/>
            <a:p>
              <a:endParaRPr/>
            </a:p>
          </p:txBody>
        </p:sp>
        <p:pic>
          <p:nvPicPr>
            <p:cNvPr id="5" name="object 5">
              <a:extLst>
                <a:ext uri="{FF2B5EF4-FFF2-40B4-BE49-F238E27FC236}">
                  <a16:creationId xmlns:a16="http://schemas.microsoft.com/office/drawing/2014/main" id="{B3662067-AF13-F68B-85C3-D2A6BE7E1AAF}"/>
                </a:ext>
              </a:extLst>
            </p:cNvPr>
            <p:cNvPicPr/>
            <p:nvPr/>
          </p:nvPicPr>
          <p:blipFill>
            <a:blip r:embed="rId3" cstate="print"/>
            <a:stretch>
              <a:fillRect/>
            </a:stretch>
          </p:blipFill>
          <p:spPr>
            <a:xfrm>
              <a:off x="405384" y="212293"/>
              <a:ext cx="744856" cy="864369"/>
            </a:xfrm>
            <a:prstGeom prst="rect">
              <a:avLst/>
            </a:prstGeom>
          </p:spPr>
        </p:pic>
      </p:grpSp>
      <p:sp>
        <p:nvSpPr>
          <p:cNvPr id="7" name="object 7">
            <a:extLst>
              <a:ext uri="{FF2B5EF4-FFF2-40B4-BE49-F238E27FC236}">
                <a16:creationId xmlns:a16="http://schemas.microsoft.com/office/drawing/2014/main" id="{10893C3A-EE4A-1329-2933-54CDCD3DEB4B}"/>
              </a:ext>
            </a:extLst>
          </p:cNvPr>
          <p:cNvSpPr txBox="1">
            <a:spLocks noGrp="1"/>
          </p:cNvSpPr>
          <p:nvPr>
            <p:ph type="sldNum" sz="quarter" idx="7"/>
          </p:nvPr>
        </p:nvSpPr>
        <p:spPr>
          <a:xfrm>
            <a:off x="11436095" y="6359861"/>
            <a:ext cx="538734" cy="351532"/>
          </a:xfrm>
          <a:prstGeom prst="rect">
            <a:avLst/>
          </a:prstGeom>
        </p:spPr>
        <p:txBody>
          <a:bodyPr vert="horz" wrap="square" lIns="0" tIns="73812" rIns="0" bIns="0" rtlCol="0">
            <a:spAutoFit/>
          </a:bodyPr>
          <a:lstStyle/>
          <a:p>
            <a:pPr marL="298450">
              <a:lnSpc>
                <a:spcPct val="100000"/>
              </a:lnSpc>
              <a:spcBef>
                <a:spcPts val="10"/>
              </a:spcBef>
            </a:pPr>
            <a:r>
              <a:rPr lang="en-IN" spc="-50" dirty="0"/>
              <a:t>5</a:t>
            </a:r>
            <a:endParaRPr spc="-50" dirty="0"/>
          </a:p>
        </p:txBody>
      </p:sp>
      <p:graphicFrame>
        <p:nvGraphicFramePr>
          <p:cNvPr id="10" name="object 3">
            <a:extLst>
              <a:ext uri="{FF2B5EF4-FFF2-40B4-BE49-F238E27FC236}">
                <a16:creationId xmlns:a16="http://schemas.microsoft.com/office/drawing/2014/main" id="{151999A4-CDC3-A871-CB24-2F81E21C2B4E}"/>
              </a:ext>
            </a:extLst>
          </p:cNvPr>
          <p:cNvGraphicFramePr>
            <a:graphicFrameLocks noGrp="1"/>
          </p:cNvGraphicFramePr>
          <p:nvPr>
            <p:extLst>
              <p:ext uri="{D42A27DB-BD31-4B8C-83A1-F6EECF244321}">
                <p14:modId xmlns:p14="http://schemas.microsoft.com/office/powerpoint/2010/main" val="1185743741"/>
              </p:ext>
            </p:extLst>
          </p:nvPr>
        </p:nvGraphicFramePr>
        <p:xfrm>
          <a:off x="170968" y="1004513"/>
          <a:ext cx="11635127" cy="5550197"/>
        </p:xfrm>
        <a:graphic>
          <a:graphicData uri="http://schemas.openxmlformats.org/drawingml/2006/table">
            <a:tbl>
              <a:tblPr firstRow="1" bandRow="1">
                <a:tableStyleId>{2D5ABB26-0587-4C30-8999-92F81FD0307C}</a:tableStyleId>
              </a:tblPr>
              <a:tblGrid>
                <a:gridCol w="985683">
                  <a:extLst>
                    <a:ext uri="{9D8B030D-6E8A-4147-A177-3AD203B41FA5}">
                      <a16:colId xmlns:a16="http://schemas.microsoft.com/office/drawing/2014/main" val="20000"/>
                    </a:ext>
                  </a:extLst>
                </a:gridCol>
                <a:gridCol w="2858998">
                  <a:extLst>
                    <a:ext uri="{9D8B030D-6E8A-4147-A177-3AD203B41FA5}">
                      <a16:colId xmlns:a16="http://schemas.microsoft.com/office/drawing/2014/main" val="20001"/>
                    </a:ext>
                  </a:extLst>
                </a:gridCol>
                <a:gridCol w="1597240">
                  <a:extLst>
                    <a:ext uri="{9D8B030D-6E8A-4147-A177-3AD203B41FA5}">
                      <a16:colId xmlns:a16="http://schemas.microsoft.com/office/drawing/2014/main" val="20002"/>
                    </a:ext>
                  </a:extLst>
                </a:gridCol>
                <a:gridCol w="2203326">
                  <a:extLst>
                    <a:ext uri="{9D8B030D-6E8A-4147-A177-3AD203B41FA5}">
                      <a16:colId xmlns:a16="http://schemas.microsoft.com/office/drawing/2014/main" val="20003"/>
                    </a:ext>
                  </a:extLst>
                </a:gridCol>
                <a:gridCol w="1994940">
                  <a:extLst>
                    <a:ext uri="{9D8B030D-6E8A-4147-A177-3AD203B41FA5}">
                      <a16:colId xmlns:a16="http://schemas.microsoft.com/office/drawing/2014/main" val="20004"/>
                    </a:ext>
                  </a:extLst>
                </a:gridCol>
                <a:gridCol w="1994940">
                  <a:extLst>
                    <a:ext uri="{9D8B030D-6E8A-4147-A177-3AD203B41FA5}">
                      <a16:colId xmlns:a16="http://schemas.microsoft.com/office/drawing/2014/main" val="20005"/>
                    </a:ext>
                  </a:extLst>
                </a:gridCol>
              </a:tblGrid>
              <a:tr h="1309301">
                <a:tc>
                  <a:txBody>
                    <a:bodyPr/>
                    <a:lstStyle/>
                    <a:p>
                      <a:pPr>
                        <a:lnSpc>
                          <a:spcPct val="100000"/>
                        </a:lnSpc>
                        <a:spcBef>
                          <a:spcPts val="1835"/>
                        </a:spcBef>
                      </a:pPr>
                      <a:endParaRPr sz="1800" dirty="0">
                        <a:latin typeface="Times New Roman"/>
                        <a:cs typeface="Times New Roman"/>
                      </a:endParaRPr>
                    </a:p>
                    <a:p>
                      <a:pPr algn="ctr">
                        <a:lnSpc>
                          <a:spcPct val="100000"/>
                        </a:lnSpc>
                      </a:pPr>
                      <a:r>
                        <a:rPr sz="1800" b="1" spc="-20" dirty="0">
                          <a:latin typeface="Times New Roman"/>
                          <a:cs typeface="Times New Roman"/>
                        </a:rPr>
                        <a:t>S.No</a:t>
                      </a:r>
                      <a:endParaRPr sz="1800" dirty="0">
                        <a:latin typeface="Times New Roman"/>
                        <a:cs typeface="Times New Roman"/>
                      </a:endParaRPr>
                    </a:p>
                  </a:txBody>
                  <a:tcPr marL="0" marR="0" marT="233045" marB="0">
                    <a:lnL w="12700">
                      <a:solidFill>
                        <a:srgbClr val="00A1FF"/>
                      </a:solidFill>
                      <a:prstDash val="solid"/>
                    </a:lnL>
                    <a:lnR w="12700">
                      <a:solidFill>
                        <a:srgbClr val="00A1FF"/>
                      </a:solidFill>
                      <a:prstDash val="solid"/>
                    </a:lnR>
                    <a:lnT w="12700">
                      <a:solidFill>
                        <a:srgbClr val="00A1FF"/>
                      </a:solidFill>
                      <a:prstDash val="solid"/>
                    </a:lnT>
                  </a:tcPr>
                </a:tc>
                <a:tc>
                  <a:txBody>
                    <a:bodyPr/>
                    <a:lstStyle/>
                    <a:p>
                      <a:pPr marL="701675" marR="364490" lvl="0" indent="-330835" algn="ctr">
                        <a:lnSpc>
                          <a:spcPct val="100000"/>
                        </a:lnSpc>
                        <a:spcBef>
                          <a:spcPts val="1714"/>
                        </a:spcBef>
                      </a:pPr>
                      <a:r>
                        <a:rPr sz="1800" b="1" dirty="0">
                          <a:latin typeface="Times New Roman"/>
                          <a:cs typeface="Times New Roman"/>
                        </a:rPr>
                        <a:t>Title</a:t>
                      </a:r>
                      <a:r>
                        <a:rPr sz="1800" b="1" spc="-45" dirty="0">
                          <a:latin typeface="Times New Roman"/>
                          <a:cs typeface="Times New Roman"/>
                        </a:rPr>
                        <a:t> </a:t>
                      </a:r>
                      <a:r>
                        <a:rPr sz="1800" b="1" dirty="0">
                          <a:latin typeface="Times New Roman"/>
                          <a:cs typeface="Times New Roman"/>
                        </a:rPr>
                        <a:t>of</a:t>
                      </a:r>
                      <a:r>
                        <a:rPr lang="en-US" sz="1800" b="1" spc="-5" dirty="0">
                          <a:latin typeface="Times New Roman"/>
                          <a:cs typeface="Times New Roman"/>
                        </a:rPr>
                        <a:t> </a:t>
                      </a:r>
                      <a:r>
                        <a:rPr sz="1800" b="1" spc="-25" dirty="0">
                          <a:latin typeface="Times New Roman"/>
                          <a:cs typeface="Times New Roman"/>
                        </a:rPr>
                        <a:t>the</a:t>
                      </a:r>
                      <a:r>
                        <a:rPr lang="en-US" sz="1800" b="1" spc="-25" dirty="0">
                          <a:latin typeface="Times New Roman"/>
                          <a:cs typeface="Times New Roman"/>
                        </a:rPr>
                        <a:t> </a:t>
                      </a:r>
                      <a:r>
                        <a:rPr sz="1800" b="1" spc="-10" dirty="0">
                          <a:latin typeface="Times New Roman"/>
                          <a:cs typeface="Times New Roman"/>
                        </a:rPr>
                        <a:t>paper</a:t>
                      </a:r>
                      <a:endParaRPr sz="1800" dirty="0">
                        <a:latin typeface="Times New Roman"/>
                        <a:cs typeface="Times New Roman"/>
                      </a:endParaRPr>
                    </a:p>
                  </a:txBody>
                  <a:tcPr marL="0" marR="0" marT="217804" marB="0">
                    <a:lnL w="12700">
                      <a:solidFill>
                        <a:srgbClr val="00A1FF"/>
                      </a:solidFill>
                      <a:prstDash val="solid"/>
                    </a:lnL>
                    <a:lnR w="12700">
                      <a:solidFill>
                        <a:srgbClr val="00A1FF"/>
                      </a:solidFill>
                      <a:prstDash val="solid"/>
                    </a:lnR>
                    <a:lnT w="12700">
                      <a:solidFill>
                        <a:srgbClr val="00A1FF"/>
                      </a:solidFill>
                      <a:prstDash val="solid"/>
                    </a:lnT>
                  </a:tcPr>
                </a:tc>
                <a:tc>
                  <a:txBody>
                    <a:bodyPr/>
                    <a:lstStyle/>
                    <a:p>
                      <a:pPr>
                        <a:lnSpc>
                          <a:spcPct val="100000"/>
                        </a:lnSpc>
                        <a:spcBef>
                          <a:spcPts val="395"/>
                        </a:spcBef>
                      </a:pPr>
                      <a:endParaRPr sz="1800" dirty="0">
                        <a:latin typeface="Times New Roman"/>
                        <a:cs typeface="Times New Roman"/>
                      </a:endParaRPr>
                    </a:p>
                    <a:p>
                      <a:pPr algn="ctr">
                        <a:lnSpc>
                          <a:spcPct val="100000"/>
                        </a:lnSpc>
                      </a:pPr>
                      <a:r>
                        <a:rPr sz="1800" b="1" spc="-10" dirty="0">
                          <a:latin typeface="Times New Roman"/>
                          <a:cs typeface="Times New Roman"/>
                        </a:rPr>
                        <a:t>Author</a:t>
                      </a:r>
                      <a:endParaRPr sz="1800" dirty="0">
                        <a:latin typeface="Times New Roman"/>
                        <a:cs typeface="Times New Roman"/>
                      </a:endParaRPr>
                    </a:p>
                  </a:txBody>
                  <a:tcPr marL="0" marR="0" marT="50165" marB="0">
                    <a:lnL w="12700">
                      <a:solidFill>
                        <a:srgbClr val="00A1FF"/>
                      </a:solidFill>
                      <a:prstDash val="solid"/>
                    </a:lnL>
                    <a:lnR w="12700">
                      <a:solidFill>
                        <a:srgbClr val="00A1FF"/>
                      </a:solidFill>
                      <a:prstDash val="solid"/>
                    </a:lnR>
                    <a:lnT w="12700">
                      <a:solidFill>
                        <a:srgbClr val="00A1FF"/>
                      </a:solidFill>
                      <a:prstDash val="solid"/>
                    </a:lnT>
                  </a:tcPr>
                </a:tc>
                <a:tc>
                  <a:txBody>
                    <a:bodyPr/>
                    <a:lstStyle/>
                    <a:p>
                      <a:pPr marL="335915" marR="329565" algn="ctr">
                        <a:lnSpc>
                          <a:spcPct val="100000"/>
                        </a:lnSpc>
                        <a:spcBef>
                          <a:spcPts val="275"/>
                        </a:spcBef>
                      </a:pPr>
                      <a:r>
                        <a:rPr lang="en-US" sz="1800" b="1" spc="-10" dirty="0">
                          <a:latin typeface="Times New Roman"/>
                          <a:cs typeface="Times New Roman"/>
                        </a:rPr>
                        <a:t>Name of the Journal and </a:t>
                      </a:r>
                      <a:r>
                        <a:rPr sz="1800" b="1" spc="-10" dirty="0">
                          <a:latin typeface="Times New Roman"/>
                          <a:cs typeface="Times New Roman"/>
                        </a:rPr>
                        <a:t>Publication </a:t>
                      </a:r>
                      <a:r>
                        <a:rPr sz="1800" b="1" dirty="0">
                          <a:latin typeface="Times New Roman"/>
                          <a:cs typeface="Times New Roman"/>
                        </a:rPr>
                        <a:t>Year</a:t>
                      </a:r>
                      <a:r>
                        <a:rPr sz="1800" b="1" spc="-20" dirty="0">
                          <a:latin typeface="Times New Roman"/>
                          <a:cs typeface="Times New Roman"/>
                        </a:rPr>
                        <a:t> </a:t>
                      </a:r>
                      <a:r>
                        <a:rPr sz="1800" b="1" dirty="0">
                          <a:latin typeface="Times New Roman"/>
                          <a:cs typeface="Times New Roman"/>
                        </a:rPr>
                        <a:t>of</a:t>
                      </a:r>
                      <a:r>
                        <a:rPr sz="1800" b="1" spc="-10" dirty="0">
                          <a:latin typeface="Times New Roman"/>
                          <a:cs typeface="Times New Roman"/>
                        </a:rPr>
                        <a:t> </a:t>
                      </a:r>
                      <a:r>
                        <a:rPr sz="1800" b="1" spc="-25" dirty="0">
                          <a:latin typeface="Times New Roman"/>
                          <a:cs typeface="Times New Roman"/>
                        </a:rPr>
                        <a:t>the </a:t>
                      </a:r>
                      <a:r>
                        <a:rPr sz="1800" b="1" spc="-10" dirty="0">
                          <a:latin typeface="Times New Roman"/>
                          <a:cs typeface="Times New Roman"/>
                        </a:rPr>
                        <a:t>Paper</a:t>
                      </a:r>
                      <a:endParaRPr sz="1800" dirty="0">
                        <a:latin typeface="Times New Roman"/>
                        <a:cs typeface="Times New Roman"/>
                      </a:endParaRPr>
                    </a:p>
                  </a:txBody>
                  <a:tcPr marL="0" marR="0" marT="34925" marB="0">
                    <a:lnL w="12700">
                      <a:solidFill>
                        <a:srgbClr val="00A1FF"/>
                      </a:solidFill>
                      <a:prstDash val="solid"/>
                    </a:lnL>
                    <a:lnR w="12700">
                      <a:solidFill>
                        <a:srgbClr val="00A1FF"/>
                      </a:solidFill>
                      <a:prstDash val="solid"/>
                    </a:lnR>
                    <a:lnT w="12700">
                      <a:solidFill>
                        <a:srgbClr val="00A1FF"/>
                      </a:solidFill>
                      <a:prstDash val="solid"/>
                    </a:lnT>
                  </a:tcPr>
                </a:tc>
                <a:tc>
                  <a:txBody>
                    <a:bodyPr/>
                    <a:lstStyle/>
                    <a:p>
                      <a:pPr>
                        <a:lnSpc>
                          <a:spcPct val="100000"/>
                        </a:lnSpc>
                        <a:spcBef>
                          <a:spcPts val="395"/>
                        </a:spcBef>
                      </a:pPr>
                      <a:endParaRPr sz="1800">
                        <a:latin typeface="Times New Roman"/>
                        <a:cs typeface="Times New Roman"/>
                      </a:endParaRPr>
                    </a:p>
                    <a:p>
                      <a:pPr algn="ctr">
                        <a:lnSpc>
                          <a:spcPct val="100000"/>
                        </a:lnSpc>
                      </a:pPr>
                      <a:r>
                        <a:rPr sz="1800" b="1" spc="-10" dirty="0">
                          <a:latin typeface="Times New Roman"/>
                          <a:cs typeface="Times New Roman"/>
                        </a:rPr>
                        <a:t>Methodology</a:t>
                      </a:r>
                      <a:endParaRPr sz="1800">
                        <a:latin typeface="Times New Roman"/>
                        <a:cs typeface="Times New Roman"/>
                      </a:endParaRPr>
                    </a:p>
                  </a:txBody>
                  <a:tcPr marL="0" marR="0" marT="50165" marB="0">
                    <a:lnL w="12700">
                      <a:solidFill>
                        <a:srgbClr val="00A1FF"/>
                      </a:solidFill>
                      <a:prstDash val="solid"/>
                    </a:lnL>
                    <a:lnR w="12700">
                      <a:solidFill>
                        <a:srgbClr val="00A1FF"/>
                      </a:solidFill>
                      <a:prstDash val="solid"/>
                    </a:lnR>
                    <a:lnT w="12700">
                      <a:solidFill>
                        <a:srgbClr val="00A1FF"/>
                      </a:solidFill>
                      <a:prstDash val="solid"/>
                    </a:lnT>
                  </a:tcPr>
                </a:tc>
                <a:tc>
                  <a:txBody>
                    <a:bodyPr/>
                    <a:lstStyle/>
                    <a:p>
                      <a:pPr>
                        <a:lnSpc>
                          <a:spcPct val="100000"/>
                        </a:lnSpc>
                        <a:spcBef>
                          <a:spcPts val="395"/>
                        </a:spcBef>
                      </a:pPr>
                      <a:endParaRPr sz="1800" dirty="0">
                        <a:latin typeface="Times New Roman"/>
                        <a:cs typeface="Times New Roman"/>
                      </a:endParaRPr>
                    </a:p>
                    <a:p>
                      <a:pPr marL="488950">
                        <a:lnSpc>
                          <a:spcPct val="100000"/>
                        </a:lnSpc>
                      </a:pPr>
                      <a:r>
                        <a:rPr lang="en-US" sz="1800" b="1" spc="-10" dirty="0">
                          <a:latin typeface="Times New Roman"/>
                          <a:cs typeface="Times New Roman"/>
                        </a:rPr>
                        <a:t>Drawback</a:t>
                      </a:r>
                      <a:endParaRPr sz="1800" dirty="0">
                        <a:latin typeface="Times New Roman"/>
                        <a:cs typeface="Times New Roman"/>
                      </a:endParaRPr>
                    </a:p>
                  </a:txBody>
                  <a:tcPr marL="0" marR="0" marT="50165" marB="0">
                    <a:lnL w="12700">
                      <a:solidFill>
                        <a:srgbClr val="00A1FF"/>
                      </a:solidFill>
                      <a:prstDash val="solid"/>
                    </a:lnL>
                    <a:lnR w="12700">
                      <a:solidFill>
                        <a:srgbClr val="00A1FF"/>
                      </a:solidFill>
                      <a:prstDash val="solid"/>
                    </a:lnR>
                    <a:lnT w="12700">
                      <a:solidFill>
                        <a:srgbClr val="00A1FF"/>
                      </a:solidFill>
                      <a:prstDash val="solid"/>
                    </a:lnT>
                  </a:tcPr>
                </a:tc>
                <a:extLst>
                  <a:ext uri="{0D108BD9-81ED-4DB2-BD59-A6C34878D82A}">
                    <a16:rowId xmlns:a16="http://schemas.microsoft.com/office/drawing/2014/main" val="10000"/>
                  </a:ext>
                </a:extLst>
              </a:tr>
              <a:tr h="1532149">
                <a:tc>
                  <a:txBody>
                    <a:bodyPr/>
                    <a:lstStyle/>
                    <a:p>
                      <a:pPr>
                        <a:lnSpc>
                          <a:spcPct val="100000"/>
                        </a:lnSpc>
                      </a:pPr>
                      <a:endParaRPr sz="1800" dirty="0">
                        <a:latin typeface="Times New Roman"/>
                        <a:cs typeface="Times New Roman"/>
                      </a:endParaRPr>
                    </a:p>
                    <a:p>
                      <a:pPr algn="ctr">
                        <a:lnSpc>
                          <a:spcPct val="100000"/>
                        </a:lnSpc>
                        <a:spcBef>
                          <a:spcPts val="815"/>
                        </a:spcBef>
                      </a:pPr>
                      <a:r>
                        <a:rPr lang="en-US" sz="1800" dirty="0">
                          <a:latin typeface="Times New Roman"/>
                          <a:cs typeface="Times New Roman"/>
                        </a:rPr>
                        <a:t>1</a:t>
                      </a:r>
                      <a:endParaRPr sz="1800" dirty="0">
                        <a:latin typeface="Times New Roman"/>
                        <a:cs typeface="Times New Roman"/>
                      </a:endParaRPr>
                    </a:p>
                  </a:txBody>
                  <a:tcPr marL="0" marR="0" marT="0" marB="0">
                    <a:lnL w="12700">
                      <a:solidFill>
                        <a:srgbClr val="00A1FF"/>
                      </a:solidFill>
                      <a:prstDash val="solid"/>
                    </a:lnL>
                    <a:lnR w="12700">
                      <a:solidFill>
                        <a:srgbClr val="00A1FF"/>
                      </a:solidFill>
                      <a:prstDash val="solid"/>
                    </a:lnR>
                    <a:solidFill>
                      <a:srgbClr val="00A1FF">
                        <a:alpha val="19999"/>
                      </a:srgbClr>
                    </a:solidFill>
                  </a:tcPr>
                </a:tc>
                <a:tc>
                  <a:txBody>
                    <a:bodyPr/>
                    <a:lstStyle/>
                    <a:p>
                      <a:pPr marL="1905" algn="ctr">
                        <a:lnSpc>
                          <a:spcPct val="100000"/>
                        </a:lnSpc>
                      </a:pPr>
                      <a:endParaRPr lang="en-US" sz="1600" dirty="0"/>
                    </a:p>
                    <a:p>
                      <a:pPr marL="1905" algn="ctr">
                        <a:lnSpc>
                          <a:spcPct val="100000"/>
                        </a:lnSpc>
                      </a:pPr>
                      <a:r>
                        <a:rPr lang="en-US" sz="1600" dirty="0"/>
                        <a:t>Electric Vehicle Range Prediction Models</a:t>
                      </a:r>
                      <a:endParaRPr sz="1600" b="0" dirty="0">
                        <a:latin typeface="Times New Roman"/>
                        <a:cs typeface="Times New Roman"/>
                      </a:endParaRPr>
                    </a:p>
                  </a:txBody>
                  <a:tcPr marL="0" marR="0" marT="0" marB="0">
                    <a:lnL w="12700">
                      <a:solidFill>
                        <a:srgbClr val="00A1FF"/>
                      </a:solidFill>
                      <a:prstDash val="solid"/>
                    </a:lnL>
                    <a:lnR w="12700" cap="flat" cmpd="sng" algn="ctr">
                      <a:solidFill>
                        <a:srgbClr val="00A1FF"/>
                      </a:solidFill>
                      <a:prstDash val="solid"/>
                      <a:round/>
                      <a:headEnd type="none" w="med" len="med"/>
                      <a:tailEnd type="none" w="med" len="med"/>
                    </a:lnR>
                    <a:solidFill>
                      <a:srgbClr val="00A1FF">
                        <a:alpha val="19999"/>
                      </a:srgbClr>
                    </a:solidFill>
                  </a:tcPr>
                </a:tc>
                <a:tc>
                  <a:txBody>
                    <a:bodyPr/>
                    <a:lstStyle/>
                    <a:p>
                      <a:pPr>
                        <a:buNone/>
                      </a:pPr>
                      <a:r>
                        <a:rPr lang="en-IN" sz="1600" dirty="0"/>
                        <a:t>S. Kumar et al.</a:t>
                      </a:r>
                    </a:p>
                  </a:txBody>
                  <a:tcPr anchor="ctr">
                    <a:lnL w="12700">
                      <a:solidFill>
                        <a:srgbClr val="00A1FF"/>
                      </a:solidFill>
                      <a:prstDash val="solid"/>
                    </a:lnL>
                    <a:lnR w="12700">
                      <a:solidFill>
                        <a:srgbClr val="00A1FF"/>
                      </a:solidFill>
                      <a:prstDash val="solid"/>
                    </a:lnR>
                    <a:solidFill>
                      <a:srgbClr val="00A1FF">
                        <a:alpha val="19999"/>
                      </a:srgbClr>
                    </a:solidFill>
                  </a:tcPr>
                </a:tc>
                <a:tc>
                  <a:txBody>
                    <a:bodyPr/>
                    <a:lstStyle/>
                    <a:p>
                      <a:pPr>
                        <a:lnSpc>
                          <a:spcPct val="100000"/>
                        </a:lnSpc>
                      </a:pPr>
                      <a:endParaRPr lang="en-US" sz="1600" dirty="0"/>
                    </a:p>
                    <a:p>
                      <a:pPr>
                        <a:lnSpc>
                          <a:spcPct val="100000"/>
                        </a:lnSpc>
                      </a:pPr>
                      <a:r>
                        <a:rPr lang="en-US" sz="1600" dirty="0"/>
                        <a:t>World Electric Vehicle Journal, 2025</a:t>
                      </a:r>
                      <a:endParaRPr sz="1600" dirty="0">
                        <a:latin typeface="Times New Roman"/>
                        <a:cs typeface="Times New Roman"/>
                      </a:endParaRPr>
                    </a:p>
                  </a:txBody>
                  <a:tcPr marL="0" marR="0" marT="0" marB="0">
                    <a:lnL w="12700" cap="flat" cmpd="sng" algn="ctr">
                      <a:solidFill>
                        <a:srgbClr val="00A1FF"/>
                      </a:solidFill>
                      <a:prstDash val="solid"/>
                      <a:round/>
                      <a:headEnd type="none" w="med" len="med"/>
                      <a:tailEnd type="none" w="med" len="med"/>
                    </a:lnL>
                    <a:lnR w="12700">
                      <a:solidFill>
                        <a:srgbClr val="00A1FF"/>
                      </a:solidFill>
                      <a:prstDash val="solid"/>
                    </a:lnR>
                    <a:solidFill>
                      <a:srgbClr val="00A1FF">
                        <a:alpha val="19999"/>
                      </a:srgbClr>
                    </a:solidFill>
                  </a:tcPr>
                </a:tc>
                <a:tc>
                  <a:txBody>
                    <a:bodyPr/>
                    <a:lstStyle/>
                    <a:p>
                      <a:pPr>
                        <a:lnSpc>
                          <a:spcPct val="100000"/>
                        </a:lnSpc>
                      </a:pPr>
                      <a:r>
                        <a:rPr lang="en-US" sz="1600" dirty="0"/>
                        <a:t>Comprehensive review of ML, mathematical, and simulation-based range prediction models;</a:t>
                      </a:r>
                      <a:endParaRPr sz="1600" dirty="0">
                        <a:latin typeface="Times New Roman"/>
                        <a:cs typeface="Times New Roman"/>
                      </a:endParaRPr>
                    </a:p>
                  </a:txBody>
                  <a:tcPr marL="0" marR="0" marT="0" marB="0">
                    <a:lnL w="12700">
                      <a:solidFill>
                        <a:srgbClr val="00A1FF"/>
                      </a:solidFill>
                      <a:prstDash val="solid"/>
                    </a:lnL>
                    <a:lnR w="12700">
                      <a:solidFill>
                        <a:srgbClr val="00A1FF"/>
                      </a:solidFill>
                      <a:prstDash val="solid"/>
                    </a:lnR>
                    <a:solidFill>
                      <a:srgbClr val="00A1FF">
                        <a:alpha val="19999"/>
                      </a:srgbClr>
                    </a:solidFill>
                  </a:tcPr>
                </a:tc>
                <a:tc>
                  <a:txBody>
                    <a:bodyPr/>
                    <a:lstStyle/>
                    <a:p>
                      <a:pPr marL="92075" marR="147955">
                        <a:lnSpc>
                          <a:spcPct val="100000"/>
                        </a:lnSpc>
                        <a:spcBef>
                          <a:spcPts val="1715"/>
                        </a:spcBef>
                      </a:pPr>
                      <a:r>
                        <a:rPr lang="en-US" sz="1600" dirty="0"/>
                        <a:t>Lacks experimental validation; mostly theoretical comparison</a:t>
                      </a:r>
                      <a:endParaRPr sz="1600" dirty="0">
                        <a:latin typeface="Times New Roman"/>
                        <a:cs typeface="Times New Roman"/>
                      </a:endParaRPr>
                    </a:p>
                  </a:txBody>
                  <a:tcPr marL="0" marR="0" marT="217805" marB="0">
                    <a:lnL w="12700">
                      <a:solidFill>
                        <a:srgbClr val="00A1FF"/>
                      </a:solidFill>
                      <a:prstDash val="solid"/>
                    </a:lnL>
                    <a:lnR w="12700">
                      <a:solidFill>
                        <a:srgbClr val="00A1FF"/>
                      </a:solidFill>
                      <a:prstDash val="solid"/>
                    </a:lnR>
                    <a:solidFill>
                      <a:srgbClr val="00A1FF">
                        <a:alpha val="19999"/>
                      </a:srgbClr>
                    </a:solidFill>
                  </a:tcPr>
                </a:tc>
                <a:extLst>
                  <a:ext uri="{0D108BD9-81ED-4DB2-BD59-A6C34878D82A}">
                    <a16:rowId xmlns:a16="http://schemas.microsoft.com/office/drawing/2014/main" val="10001"/>
                  </a:ext>
                </a:extLst>
              </a:tr>
              <a:tr h="1238413">
                <a:tc>
                  <a:txBody>
                    <a:bodyPr/>
                    <a:lstStyle/>
                    <a:p>
                      <a:pPr>
                        <a:lnSpc>
                          <a:spcPct val="100000"/>
                        </a:lnSpc>
                      </a:pPr>
                      <a:endParaRPr sz="1800" dirty="0">
                        <a:latin typeface="Times New Roman"/>
                        <a:cs typeface="Times New Roman"/>
                      </a:endParaRPr>
                    </a:p>
                    <a:p>
                      <a:pPr>
                        <a:lnSpc>
                          <a:spcPct val="100000"/>
                        </a:lnSpc>
                        <a:spcBef>
                          <a:spcPts val="665"/>
                        </a:spcBef>
                      </a:pPr>
                      <a:endParaRPr sz="1800" dirty="0">
                        <a:latin typeface="Times New Roman"/>
                        <a:cs typeface="Times New Roman"/>
                      </a:endParaRPr>
                    </a:p>
                    <a:p>
                      <a:pPr algn="ctr">
                        <a:lnSpc>
                          <a:spcPct val="100000"/>
                        </a:lnSpc>
                      </a:pPr>
                      <a:r>
                        <a:rPr sz="1800" spc="-50" dirty="0">
                          <a:latin typeface="Times New Roman"/>
                          <a:cs typeface="Times New Roman"/>
                        </a:rPr>
                        <a:t>2</a:t>
                      </a:r>
                      <a:endParaRPr sz="1800" dirty="0">
                        <a:latin typeface="Times New Roman"/>
                        <a:cs typeface="Times New Roman"/>
                      </a:endParaRPr>
                    </a:p>
                  </a:txBody>
                  <a:tcPr marL="0" marR="0" marT="0" marB="0">
                    <a:lnL w="12700">
                      <a:solidFill>
                        <a:srgbClr val="00A1FF"/>
                      </a:solidFill>
                      <a:prstDash val="solid"/>
                    </a:lnL>
                    <a:lnR w="12700">
                      <a:solidFill>
                        <a:srgbClr val="00A1FF"/>
                      </a:solidFill>
                      <a:prstDash val="solid"/>
                    </a:lnR>
                  </a:tcPr>
                </a:tc>
                <a:tc>
                  <a:txBody>
                    <a:bodyPr/>
                    <a:lstStyle/>
                    <a:p>
                      <a:pPr>
                        <a:lnSpc>
                          <a:spcPct val="100000"/>
                        </a:lnSpc>
                      </a:pPr>
                      <a:r>
                        <a:rPr lang="en-US" sz="1600" dirty="0"/>
                        <a:t>A Review for Remaining Driving Range Prediction of Electric Vehicles Using Machine Learning Algorithms</a:t>
                      </a:r>
                      <a:endParaRPr sz="1600" b="0" dirty="0">
                        <a:latin typeface="Times New Roman"/>
                        <a:cs typeface="Times New Roman"/>
                      </a:endParaRPr>
                    </a:p>
                  </a:txBody>
                  <a:tcPr marL="0" marR="0" marT="0" marB="0">
                    <a:lnL w="12700">
                      <a:solidFill>
                        <a:srgbClr val="00A1FF"/>
                      </a:solidFill>
                      <a:prstDash val="solid"/>
                    </a:lnL>
                    <a:lnR w="12700">
                      <a:solidFill>
                        <a:srgbClr val="00A1FF"/>
                      </a:solidFill>
                      <a:prstDash val="solid"/>
                    </a:lnR>
                  </a:tcPr>
                </a:tc>
                <a:tc>
                  <a:txBody>
                    <a:bodyPr/>
                    <a:lstStyle/>
                    <a:p>
                      <a:pPr>
                        <a:lnSpc>
                          <a:spcPct val="100000"/>
                        </a:lnSpc>
                      </a:pPr>
                      <a:endParaRPr lang="en-IN" sz="1600" dirty="0"/>
                    </a:p>
                    <a:p>
                      <a:pPr>
                        <a:lnSpc>
                          <a:spcPct val="100000"/>
                        </a:lnSpc>
                      </a:pPr>
                      <a:r>
                        <a:rPr lang="en-IN" sz="1600" dirty="0"/>
                        <a:t>Y. Zhang et al.</a:t>
                      </a:r>
                      <a:endParaRPr sz="1600" dirty="0">
                        <a:latin typeface="Times New Roman"/>
                        <a:cs typeface="Times New Roman"/>
                      </a:endParaRPr>
                    </a:p>
                  </a:txBody>
                  <a:tcPr marL="0" marR="0" marT="0" marB="0">
                    <a:lnL w="12700">
                      <a:solidFill>
                        <a:srgbClr val="00A1FF"/>
                      </a:solidFill>
                      <a:prstDash val="solid"/>
                    </a:lnL>
                    <a:lnR w="12700">
                      <a:solidFill>
                        <a:srgbClr val="00A1FF"/>
                      </a:solidFill>
                      <a:prstDash val="solid"/>
                    </a:lnR>
                  </a:tcPr>
                </a:tc>
                <a:tc>
                  <a:txBody>
                    <a:bodyPr/>
                    <a:lstStyle/>
                    <a:p>
                      <a:pPr>
                        <a:lnSpc>
                          <a:spcPct val="100000"/>
                        </a:lnSpc>
                      </a:pPr>
                      <a:r>
                        <a:rPr lang="en-US" sz="1600" dirty="0"/>
                        <a:t>Journal of Data Science and Intelligent Systems, 2025</a:t>
                      </a:r>
                      <a:endParaRPr sz="1600" dirty="0">
                        <a:latin typeface="Times New Roman"/>
                        <a:cs typeface="Times New Roman"/>
                      </a:endParaRPr>
                    </a:p>
                  </a:txBody>
                  <a:tcPr marL="0" marR="0" marT="0" marB="0">
                    <a:lnL w="12700">
                      <a:solidFill>
                        <a:srgbClr val="00A1FF"/>
                      </a:solidFill>
                      <a:prstDash val="solid"/>
                    </a:lnL>
                    <a:lnR w="12700">
                      <a:solidFill>
                        <a:srgbClr val="00A1FF"/>
                      </a:solidFill>
                      <a:prstDash val="solid"/>
                    </a:lnR>
                  </a:tcPr>
                </a:tc>
                <a:tc>
                  <a:txBody>
                    <a:bodyPr/>
                    <a:lstStyle/>
                    <a:p>
                      <a:pPr>
                        <a:lnSpc>
                          <a:spcPct val="100000"/>
                        </a:lnSpc>
                      </a:pPr>
                      <a:r>
                        <a:rPr lang="en-US" sz="1600" dirty="0"/>
                        <a:t>Reviews ML algorithms such as SVM, ANN, and deep learning for predicting </a:t>
                      </a:r>
                      <a:endParaRPr sz="1600" dirty="0">
                        <a:latin typeface="Times New Roman"/>
                        <a:cs typeface="Times New Roman"/>
                      </a:endParaRPr>
                    </a:p>
                  </a:txBody>
                  <a:tcPr marL="0" marR="0" marT="0" marB="0">
                    <a:lnL w="12700">
                      <a:solidFill>
                        <a:srgbClr val="00A1FF"/>
                      </a:solidFill>
                      <a:prstDash val="solid"/>
                    </a:lnL>
                    <a:lnR w="12700">
                      <a:solidFill>
                        <a:srgbClr val="00A1FF"/>
                      </a:solidFill>
                      <a:prstDash val="solid"/>
                    </a:lnR>
                  </a:tcPr>
                </a:tc>
                <a:tc>
                  <a:txBody>
                    <a:bodyPr/>
                    <a:lstStyle/>
                    <a:p>
                      <a:pPr marL="92075" marR="274955">
                        <a:lnSpc>
                          <a:spcPct val="100000"/>
                        </a:lnSpc>
                        <a:spcBef>
                          <a:spcPts val="484"/>
                        </a:spcBef>
                      </a:pPr>
                      <a:r>
                        <a:rPr lang="en-US" sz="1600" dirty="0"/>
                        <a:t>Limited discussion on real-time implementation challenges</a:t>
                      </a:r>
                      <a:endParaRPr sz="1600" dirty="0">
                        <a:latin typeface="Times New Roman"/>
                        <a:cs typeface="Times New Roman"/>
                      </a:endParaRPr>
                    </a:p>
                  </a:txBody>
                  <a:tcPr marL="0" marR="0" marT="61594" marB="0">
                    <a:lnL w="12700">
                      <a:solidFill>
                        <a:srgbClr val="00A1FF"/>
                      </a:solidFill>
                      <a:prstDash val="solid"/>
                    </a:lnL>
                    <a:lnR w="12700">
                      <a:solidFill>
                        <a:srgbClr val="00A1FF"/>
                      </a:solidFill>
                      <a:prstDash val="solid"/>
                    </a:lnR>
                  </a:tcPr>
                </a:tc>
                <a:extLst>
                  <a:ext uri="{0D108BD9-81ED-4DB2-BD59-A6C34878D82A}">
                    <a16:rowId xmlns:a16="http://schemas.microsoft.com/office/drawing/2014/main" val="10002"/>
                  </a:ext>
                </a:extLst>
              </a:tr>
              <a:tr h="1373110">
                <a:tc>
                  <a:txBody>
                    <a:bodyPr/>
                    <a:lstStyle/>
                    <a:p>
                      <a:pPr>
                        <a:lnSpc>
                          <a:spcPct val="100000"/>
                        </a:lnSpc>
                      </a:pPr>
                      <a:endParaRPr sz="1800">
                        <a:latin typeface="Times New Roman"/>
                        <a:cs typeface="Times New Roman"/>
                      </a:endParaRPr>
                    </a:p>
                    <a:p>
                      <a:pPr>
                        <a:lnSpc>
                          <a:spcPct val="100000"/>
                        </a:lnSpc>
                        <a:spcBef>
                          <a:spcPts val="765"/>
                        </a:spcBef>
                      </a:pPr>
                      <a:endParaRPr sz="1800">
                        <a:latin typeface="Times New Roman"/>
                        <a:cs typeface="Times New Roman"/>
                      </a:endParaRPr>
                    </a:p>
                    <a:p>
                      <a:pPr algn="ctr">
                        <a:lnSpc>
                          <a:spcPct val="100000"/>
                        </a:lnSpc>
                        <a:spcBef>
                          <a:spcPts val="5"/>
                        </a:spcBef>
                      </a:pPr>
                      <a:r>
                        <a:rPr sz="1800" spc="-50" dirty="0">
                          <a:latin typeface="Times New Roman"/>
                          <a:cs typeface="Times New Roman"/>
                        </a:rPr>
                        <a:t>3</a:t>
                      </a:r>
                      <a:endParaRPr sz="1800">
                        <a:latin typeface="Times New Roman"/>
                        <a:cs typeface="Times New Roman"/>
                      </a:endParaRPr>
                    </a:p>
                  </a:txBody>
                  <a:tcPr marL="0" marR="0" marT="0" marB="0">
                    <a:lnL w="12700">
                      <a:solidFill>
                        <a:srgbClr val="00A1FF"/>
                      </a:solidFill>
                      <a:prstDash val="solid"/>
                    </a:lnL>
                    <a:lnR w="12700">
                      <a:solidFill>
                        <a:srgbClr val="00A1FF"/>
                      </a:solidFill>
                      <a:prstDash val="solid"/>
                    </a:lnR>
                    <a:solidFill>
                      <a:srgbClr val="00A1FF">
                        <a:alpha val="19999"/>
                      </a:srgbClr>
                    </a:solidFill>
                  </a:tcPr>
                </a:tc>
                <a:tc>
                  <a:txBody>
                    <a:bodyPr/>
                    <a:lstStyle/>
                    <a:p>
                      <a:pPr algn="ctr">
                        <a:lnSpc>
                          <a:spcPct val="100000"/>
                        </a:lnSpc>
                        <a:spcBef>
                          <a:spcPts val="1755"/>
                        </a:spcBef>
                      </a:pPr>
                      <a:r>
                        <a:rPr lang="en-US" sz="1600" dirty="0"/>
                        <a:t>A Novel Data-Driven Framework for Driving Range Prognostics in Electric Vehicles</a:t>
                      </a:r>
                      <a:endParaRPr sz="1600" b="0" dirty="0">
                        <a:latin typeface="Times New Roman"/>
                        <a:cs typeface="Times New Roman"/>
                      </a:endParaRPr>
                    </a:p>
                  </a:txBody>
                  <a:tcPr marL="0" marR="0" marT="222885" marB="0">
                    <a:lnL w="12700">
                      <a:solidFill>
                        <a:srgbClr val="00A1FF"/>
                      </a:solidFill>
                      <a:prstDash val="solid"/>
                    </a:lnL>
                    <a:lnR w="12700">
                      <a:solidFill>
                        <a:srgbClr val="00A1FF"/>
                      </a:solidFill>
                      <a:prstDash val="solid"/>
                    </a:lnR>
                    <a:solidFill>
                      <a:srgbClr val="00A1FF">
                        <a:alpha val="19999"/>
                      </a:srgbClr>
                    </a:solidFill>
                  </a:tcPr>
                </a:tc>
                <a:tc>
                  <a:txBody>
                    <a:bodyPr/>
                    <a:lstStyle/>
                    <a:p>
                      <a:pPr>
                        <a:lnSpc>
                          <a:spcPct val="100000"/>
                        </a:lnSpc>
                      </a:pPr>
                      <a:r>
                        <a:rPr lang="en-IN" sz="1600" dirty="0"/>
                        <a:t>H. Liu et al.</a:t>
                      </a:r>
                      <a:endParaRPr sz="1600" dirty="0">
                        <a:latin typeface="Times New Roman"/>
                        <a:cs typeface="Times New Roman"/>
                      </a:endParaRPr>
                    </a:p>
                  </a:txBody>
                  <a:tcPr marL="0" marR="0" marT="0" marB="0">
                    <a:lnL w="12700">
                      <a:solidFill>
                        <a:srgbClr val="00A1FF"/>
                      </a:solidFill>
                      <a:prstDash val="solid"/>
                    </a:lnL>
                    <a:lnR w="12700">
                      <a:solidFill>
                        <a:srgbClr val="00A1FF"/>
                      </a:solidFill>
                      <a:prstDash val="solid"/>
                    </a:lnR>
                    <a:solidFill>
                      <a:srgbClr val="00A1FF">
                        <a:alpha val="19999"/>
                      </a:srgbClr>
                    </a:solidFill>
                  </a:tcPr>
                </a:tc>
                <a:tc>
                  <a:txBody>
                    <a:bodyPr/>
                    <a:lstStyle/>
                    <a:p>
                      <a:pPr>
                        <a:lnSpc>
                          <a:spcPct val="100000"/>
                        </a:lnSpc>
                      </a:pPr>
                      <a:r>
                        <a:rPr lang="en-US" sz="1600" dirty="0"/>
                        <a:t>Engineering Applications of Artificial Intelligence, 2025</a:t>
                      </a:r>
                      <a:endParaRPr sz="1600" dirty="0">
                        <a:latin typeface="Times New Roman"/>
                        <a:cs typeface="Times New Roman"/>
                      </a:endParaRPr>
                    </a:p>
                  </a:txBody>
                  <a:tcPr marL="0" marR="0" marT="0" marB="0">
                    <a:lnL w="12700">
                      <a:solidFill>
                        <a:srgbClr val="00A1FF"/>
                      </a:solidFill>
                      <a:prstDash val="solid"/>
                    </a:lnL>
                    <a:lnR w="12700">
                      <a:solidFill>
                        <a:srgbClr val="00A1FF"/>
                      </a:solidFill>
                      <a:prstDash val="solid"/>
                    </a:lnR>
                    <a:solidFill>
                      <a:srgbClr val="00A1FF">
                        <a:alpha val="19999"/>
                      </a:srgbClr>
                    </a:solidFill>
                  </a:tcPr>
                </a:tc>
                <a:tc>
                  <a:txBody>
                    <a:bodyPr/>
                    <a:lstStyle/>
                    <a:p>
                      <a:pPr>
                        <a:lnSpc>
                          <a:spcPct val="100000"/>
                        </a:lnSpc>
                      </a:pPr>
                      <a:r>
                        <a:rPr lang="en-US" sz="1600" dirty="0"/>
                        <a:t>Hybrid model using LSTM for speed prediction and </a:t>
                      </a:r>
                      <a:r>
                        <a:rPr lang="en-US" sz="1600" dirty="0" err="1"/>
                        <a:t>LightGBM</a:t>
                      </a:r>
                      <a:r>
                        <a:rPr lang="en-US" sz="1600" dirty="0"/>
                        <a:t> for energy consumption</a:t>
                      </a:r>
                      <a:endParaRPr sz="1600" dirty="0">
                        <a:latin typeface="Times New Roman"/>
                        <a:cs typeface="Times New Roman"/>
                      </a:endParaRPr>
                    </a:p>
                  </a:txBody>
                  <a:tcPr marL="0" marR="0" marT="0" marB="0">
                    <a:lnL w="12700">
                      <a:solidFill>
                        <a:srgbClr val="00A1FF"/>
                      </a:solidFill>
                      <a:prstDash val="solid"/>
                    </a:lnL>
                    <a:lnR w="12700">
                      <a:solidFill>
                        <a:srgbClr val="00A1FF"/>
                      </a:solidFill>
                      <a:prstDash val="solid"/>
                    </a:lnR>
                    <a:solidFill>
                      <a:srgbClr val="00A1FF">
                        <a:alpha val="19999"/>
                      </a:srgbClr>
                    </a:solidFill>
                  </a:tcPr>
                </a:tc>
                <a:tc>
                  <a:txBody>
                    <a:bodyPr/>
                    <a:lstStyle/>
                    <a:p>
                      <a:pPr>
                        <a:lnSpc>
                          <a:spcPct val="100000"/>
                        </a:lnSpc>
                        <a:spcBef>
                          <a:spcPts val="675"/>
                        </a:spcBef>
                      </a:pPr>
                      <a:r>
                        <a:rPr lang="en-US" sz="1600" dirty="0"/>
                        <a:t>Requires large datasets and high computational power</a:t>
                      </a:r>
                      <a:endParaRPr sz="1600" dirty="0"/>
                    </a:p>
                  </a:txBody>
                  <a:tcPr marL="0" marR="0" marT="85725" marB="0">
                    <a:lnL w="12700">
                      <a:solidFill>
                        <a:srgbClr val="00A1FF"/>
                      </a:solidFill>
                      <a:prstDash val="solid"/>
                    </a:lnL>
                    <a:lnR w="12700">
                      <a:solidFill>
                        <a:srgbClr val="00A1FF"/>
                      </a:solidFill>
                      <a:prstDash val="solid"/>
                    </a:lnR>
                    <a:solidFill>
                      <a:srgbClr val="00A1FF">
                        <a:alpha val="19999"/>
                      </a:srgbClr>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4112732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A52AEBD-97AC-A030-0ACE-CC0C75562416}"/>
            </a:ext>
          </a:extLst>
        </p:cNvPr>
        <p:cNvGrpSpPr/>
        <p:nvPr/>
      </p:nvGrpSpPr>
      <p:grpSpPr>
        <a:xfrm>
          <a:off x="0" y="0"/>
          <a:ext cx="0" cy="0"/>
          <a:chOff x="0" y="0"/>
          <a:chExt cx="0" cy="0"/>
        </a:xfrm>
      </p:grpSpPr>
      <p:grpSp>
        <p:nvGrpSpPr>
          <p:cNvPr id="3" name="object 3">
            <a:extLst>
              <a:ext uri="{FF2B5EF4-FFF2-40B4-BE49-F238E27FC236}">
                <a16:creationId xmlns:a16="http://schemas.microsoft.com/office/drawing/2014/main" id="{ECE150BC-28AB-2EBC-DADB-D7F759059E83}"/>
              </a:ext>
            </a:extLst>
          </p:cNvPr>
          <p:cNvGrpSpPr/>
          <p:nvPr/>
        </p:nvGrpSpPr>
        <p:grpSpPr>
          <a:xfrm>
            <a:off x="101676" y="84308"/>
            <a:ext cx="11942445" cy="6642100"/>
            <a:chOff x="121156" y="116051"/>
            <a:chExt cx="11942445" cy="6642100"/>
          </a:xfrm>
        </p:grpSpPr>
        <p:sp>
          <p:nvSpPr>
            <p:cNvPr id="4" name="object 4">
              <a:extLst>
                <a:ext uri="{FF2B5EF4-FFF2-40B4-BE49-F238E27FC236}">
                  <a16:creationId xmlns:a16="http://schemas.microsoft.com/office/drawing/2014/main" id="{3A8CED6E-ED5E-0C64-AA4E-77CCC9249879}"/>
                </a:ext>
              </a:extLst>
            </p:cNvPr>
            <p:cNvSpPr/>
            <p:nvPr/>
          </p:nvSpPr>
          <p:spPr>
            <a:xfrm>
              <a:off x="121156" y="116051"/>
              <a:ext cx="11942445" cy="6642100"/>
            </a:xfrm>
            <a:custGeom>
              <a:avLst/>
              <a:gdLst/>
              <a:ahLst/>
              <a:cxnLst/>
              <a:rect l="l" t="t" r="r" b="b"/>
              <a:pathLst>
                <a:path w="11942445" h="6642100">
                  <a:moveTo>
                    <a:pt x="0" y="6642100"/>
                  </a:moveTo>
                  <a:lnTo>
                    <a:pt x="11942064" y="6642100"/>
                  </a:lnTo>
                  <a:lnTo>
                    <a:pt x="11942064" y="0"/>
                  </a:lnTo>
                  <a:lnTo>
                    <a:pt x="0" y="0"/>
                  </a:lnTo>
                  <a:lnTo>
                    <a:pt x="0" y="6642100"/>
                  </a:lnTo>
                  <a:close/>
                </a:path>
              </a:pathLst>
            </a:custGeom>
            <a:ln w="28575">
              <a:solidFill>
                <a:srgbClr val="2D528F"/>
              </a:solidFill>
            </a:ln>
          </p:spPr>
          <p:txBody>
            <a:bodyPr wrap="square" lIns="0" tIns="0" rIns="0" bIns="0" rtlCol="0"/>
            <a:lstStyle/>
            <a:p>
              <a:endParaRPr/>
            </a:p>
          </p:txBody>
        </p:sp>
        <p:pic>
          <p:nvPicPr>
            <p:cNvPr id="5" name="object 5">
              <a:extLst>
                <a:ext uri="{FF2B5EF4-FFF2-40B4-BE49-F238E27FC236}">
                  <a16:creationId xmlns:a16="http://schemas.microsoft.com/office/drawing/2014/main" id="{20B2CEFD-997D-D2D7-8A51-06C2D3ECDC6B}"/>
                </a:ext>
              </a:extLst>
            </p:cNvPr>
            <p:cNvPicPr/>
            <p:nvPr/>
          </p:nvPicPr>
          <p:blipFill>
            <a:blip r:embed="rId3" cstate="print"/>
            <a:stretch>
              <a:fillRect/>
            </a:stretch>
          </p:blipFill>
          <p:spPr>
            <a:xfrm>
              <a:off x="405384" y="212293"/>
              <a:ext cx="744856" cy="864369"/>
            </a:xfrm>
            <a:prstGeom prst="rect">
              <a:avLst/>
            </a:prstGeom>
          </p:spPr>
        </p:pic>
      </p:grpSp>
      <p:sp>
        <p:nvSpPr>
          <p:cNvPr id="7" name="object 7">
            <a:extLst>
              <a:ext uri="{FF2B5EF4-FFF2-40B4-BE49-F238E27FC236}">
                <a16:creationId xmlns:a16="http://schemas.microsoft.com/office/drawing/2014/main" id="{5E6F2026-7A50-B72D-41F0-70FF9D068888}"/>
              </a:ext>
            </a:extLst>
          </p:cNvPr>
          <p:cNvSpPr txBox="1">
            <a:spLocks noGrp="1"/>
          </p:cNvSpPr>
          <p:nvPr>
            <p:ph type="sldNum" sz="quarter" idx="7"/>
          </p:nvPr>
        </p:nvSpPr>
        <p:spPr>
          <a:xfrm>
            <a:off x="11436095" y="6359861"/>
            <a:ext cx="538734" cy="351532"/>
          </a:xfrm>
          <a:prstGeom prst="rect">
            <a:avLst/>
          </a:prstGeom>
        </p:spPr>
        <p:txBody>
          <a:bodyPr vert="horz" wrap="square" lIns="0" tIns="73812" rIns="0" bIns="0" rtlCol="0">
            <a:spAutoFit/>
          </a:bodyPr>
          <a:lstStyle/>
          <a:p>
            <a:pPr marL="298450">
              <a:lnSpc>
                <a:spcPct val="100000"/>
              </a:lnSpc>
              <a:spcBef>
                <a:spcPts val="10"/>
              </a:spcBef>
            </a:pPr>
            <a:r>
              <a:rPr lang="en-IN" spc="-50" dirty="0"/>
              <a:t>6</a:t>
            </a:r>
            <a:endParaRPr spc="-50" dirty="0"/>
          </a:p>
        </p:txBody>
      </p:sp>
      <p:graphicFrame>
        <p:nvGraphicFramePr>
          <p:cNvPr id="10" name="object 3">
            <a:extLst>
              <a:ext uri="{FF2B5EF4-FFF2-40B4-BE49-F238E27FC236}">
                <a16:creationId xmlns:a16="http://schemas.microsoft.com/office/drawing/2014/main" id="{E361C7E3-6325-B15C-7CE9-B85FB9EC9C03}"/>
              </a:ext>
            </a:extLst>
          </p:cNvPr>
          <p:cNvGraphicFramePr>
            <a:graphicFrameLocks noGrp="1"/>
          </p:cNvGraphicFramePr>
          <p:nvPr>
            <p:extLst>
              <p:ext uri="{D42A27DB-BD31-4B8C-83A1-F6EECF244321}">
                <p14:modId xmlns:p14="http://schemas.microsoft.com/office/powerpoint/2010/main" val="1292442118"/>
              </p:ext>
            </p:extLst>
          </p:nvPr>
        </p:nvGraphicFramePr>
        <p:xfrm>
          <a:off x="170969" y="1004513"/>
          <a:ext cx="11563832" cy="5748196"/>
        </p:xfrm>
        <a:graphic>
          <a:graphicData uri="http://schemas.openxmlformats.org/drawingml/2006/table">
            <a:tbl>
              <a:tblPr firstRow="1" bandRow="1">
                <a:tableStyleId>{2D5ABB26-0587-4C30-8999-92F81FD0307C}</a:tableStyleId>
              </a:tblPr>
              <a:tblGrid>
                <a:gridCol w="979643">
                  <a:extLst>
                    <a:ext uri="{9D8B030D-6E8A-4147-A177-3AD203B41FA5}">
                      <a16:colId xmlns:a16="http://schemas.microsoft.com/office/drawing/2014/main" val="20000"/>
                    </a:ext>
                  </a:extLst>
                </a:gridCol>
                <a:gridCol w="2841479">
                  <a:extLst>
                    <a:ext uri="{9D8B030D-6E8A-4147-A177-3AD203B41FA5}">
                      <a16:colId xmlns:a16="http://schemas.microsoft.com/office/drawing/2014/main" val="20001"/>
                    </a:ext>
                  </a:extLst>
                </a:gridCol>
                <a:gridCol w="1587453">
                  <a:extLst>
                    <a:ext uri="{9D8B030D-6E8A-4147-A177-3AD203B41FA5}">
                      <a16:colId xmlns:a16="http://schemas.microsoft.com/office/drawing/2014/main" val="20002"/>
                    </a:ext>
                  </a:extLst>
                </a:gridCol>
                <a:gridCol w="2189825">
                  <a:extLst>
                    <a:ext uri="{9D8B030D-6E8A-4147-A177-3AD203B41FA5}">
                      <a16:colId xmlns:a16="http://schemas.microsoft.com/office/drawing/2014/main" val="20003"/>
                    </a:ext>
                  </a:extLst>
                </a:gridCol>
                <a:gridCol w="1982716">
                  <a:extLst>
                    <a:ext uri="{9D8B030D-6E8A-4147-A177-3AD203B41FA5}">
                      <a16:colId xmlns:a16="http://schemas.microsoft.com/office/drawing/2014/main" val="20004"/>
                    </a:ext>
                  </a:extLst>
                </a:gridCol>
                <a:gridCol w="1982716">
                  <a:extLst>
                    <a:ext uri="{9D8B030D-6E8A-4147-A177-3AD203B41FA5}">
                      <a16:colId xmlns:a16="http://schemas.microsoft.com/office/drawing/2014/main" val="20005"/>
                    </a:ext>
                  </a:extLst>
                </a:gridCol>
              </a:tblGrid>
              <a:tr h="1393634">
                <a:tc>
                  <a:txBody>
                    <a:bodyPr/>
                    <a:lstStyle/>
                    <a:p>
                      <a:pPr>
                        <a:lnSpc>
                          <a:spcPct val="100000"/>
                        </a:lnSpc>
                        <a:spcBef>
                          <a:spcPts val="1835"/>
                        </a:spcBef>
                      </a:pPr>
                      <a:endParaRPr sz="1800" dirty="0">
                        <a:latin typeface="Times New Roman"/>
                        <a:cs typeface="Times New Roman"/>
                      </a:endParaRPr>
                    </a:p>
                    <a:p>
                      <a:pPr algn="ctr">
                        <a:lnSpc>
                          <a:spcPct val="100000"/>
                        </a:lnSpc>
                      </a:pPr>
                      <a:r>
                        <a:rPr sz="1800" b="1" spc="-20" dirty="0">
                          <a:latin typeface="Times New Roman"/>
                          <a:cs typeface="Times New Roman"/>
                        </a:rPr>
                        <a:t>S.No</a:t>
                      </a:r>
                      <a:endParaRPr sz="1800" dirty="0">
                        <a:latin typeface="Times New Roman"/>
                        <a:cs typeface="Times New Roman"/>
                      </a:endParaRPr>
                    </a:p>
                  </a:txBody>
                  <a:tcPr marL="0" marR="0" marT="233045" marB="0">
                    <a:lnL w="12700">
                      <a:solidFill>
                        <a:srgbClr val="00A1FF"/>
                      </a:solidFill>
                      <a:prstDash val="solid"/>
                    </a:lnL>
                    <a:lnR w="12700">
                      <a:solidFill>
                        <a:srgbClr val="00A1FF"/>
                      </a:solidFill>
                      <a:prstDash val="solid"/>
                    </a:lnR>
                    <a:lnT w="12700">
                      <a:solidFill>
                        <a:srgbClr val="00A1FF"/>
                      </a:solidFill>
                      <a:prstDash val="solid"/>
                    </a:lnT>
                  </a:tcPr>
                </a:tc>
                <a:tc>
                  <a:txBody>
                    <a:bodyPr/>
                    <a:lstStyle/>
                    <a:p>
                      <a:pPr marL="701675" marR="364490" lvl="0" indent="-330835" algn="ctr">
                        <a:lnSpc>
                          <a:spcPct val="100000"/>
                        </a:lnSpc>
                        <a:spcBef>
                          <a:spcPts val="1714"/>
                        </a:spcBef>
                      </a:pPr>
                      <a:r>
                        <a:rPr sz="1800" b="1" dirty="0">
                          <a:latin typeface="Times New Roman"/>
                          <a:cs typeface="Times New Roman"/>
                        </a:rPr>
                        <a:t>Title</a:t>
                      </a:r>
                      <a:r>
                        <a:rPr sz="1800" b="1" spc="-45" dirty="0">
                          <a:latin typeface="Times New Roman"/>
                          <a:cs typeface="Times New Roman"/>
                        </a:rPr>
                        <a:t> </a:t>
                      </a:r>
                      <a:r>
                        <a:rPr sz="1800" b="1" dirty="0">
                          <a:latin typeface="Times New Roman"/>
                          <a:cs typeface="Times New Roman"/>
                        </a:rPr>
                        <a:t>of</a:t>
                      </a:r>
                      <a:r>
                        <a:rPr lang="en-US" sz="1800" b="1" spc="-5" dirty="0">
                          <a:latin typeface="Times New Roman"/>
                          <a:cs typeface="Times New Roman"/>
                        </a:rPr>
                        <a:t> </a:t>
                      </a:r>
                      <a:r>
                        <a:rPr sz="1800" b="1" spc="-25" dirty="0">
                          <a:latin typeface="Times New Roman"/>
                          <a:cs typeface="Times New Roman"/>
                        </a:rPr>
                        <a:t>the</a:t>
                      </a:r>
                      <a:r>
                        <a:rPr lang="en-US" sz="1800" b="1" spc="-25" dirty="0">
                          <a:latin typeface="Times New Roman"/>
                          <a:cs typeface="Times New Roman"/>
                        </a:rPr>
                        <a:t> </a:t>
                      </a:r>
                      <a:r>
                        <a:rPr sz="1800" b="1" spc="-10" dirty="0">
                          <a:latin typeface="Times New Roman"/>
                          <a:cs typeface="Times New Roman"/>
                        </a:rPr>
                        <a:t>paper</a:t>
                      </a:r>
                      <a:endParaRPr sz="1800" dirty="0">
                        <a:latin typeface="Times New Roman"/>
                        <a:cs typeface="Times New Roman"/>
                      </a:endParaRPr>
                    </a:p>
                  </a:txBody>
                  <a:tcPr marL="0" marR="0" marT="217804" marB="0">
                    <a:lnL w="12700">
                      <a:solidFill>
                        <a:srgbClr val="00A1FF"/>
                      </a:solidFill>
                      <a:prstDash val="solid"/>
                    </a:lnL>
                    <a:lnR w="12700">
                      <a:solidFill>
                        <a:srgbClr val="00A1FF"/>
                      </a:solidFill>
                      <a:prstDash val="solid"/>
                    </a:lnR>
                    <a:lnT w="12700">
                      <a:solidFill>
                        <a:srgbClr val="00A1FF"/>
                      </a:solidFill>
                      <a:prstDash val="solid"/>
                    </a:lnT>
                  </a:tcPr>
                </a:tc>
                <a:tc>
                  <a:txBody>
                    <a:bodyPr/>
                    <a:lstStyle/>
                    <a:p>
                      <a:pPr>
                        <a:lnSpc>
                          <a:spcPct val="100000"/>
                        </a:lnSpc>
                        <a:spcBef>
                          <a:spcPts val="395"/>
                        </a:spcBef>
                      </a:pPr>
                      <a:endParaRPr sz="1800" dirty="0">
                        <a:latin typeface="Times New Roman"/>
                        <a:cs typeface="Times New Roman"/>
                      </a:endParaRPr>
                    </a:p>
                    <a:p>
                      <a:pPr algn="ctr">
                        <a:lnSpc>
                          <a:spcPct val="100000"/>
                        </a:lnSpc>
                      </a:pPr>
                      <a:r>
                        <a:rPr sz="1800" b="1" spc="-10" dirty="0">
                          <a:latin typeface="Times New Roman"/>
                          <a:cs typeface="Times New Roman"/>
                        </a:rPr>
                        <a:t>Author</a:t>
                      </a:r>
                      <a:endParaRPr sz="1800" dirty="0">
                        <a:latin typeface="Times New Roman"/>
                        <a:cs typeface="Times New Roman"/>
                      </a:endParaRPr>
                    </a:p>
                  </a:txBody>
                  <a:tcPr marL="0" marR="0" marT="50165" marB="0">
                    <a:lnL w="12700">
                      <a:solidFill>
                        <a:srgbClr val="00A1FF"/>
                      </a:solidFill>
                      <a:prstDash val="solid"/>
                    </a:lnL>
                    <a:lnR w="12700">
                      <a:solidFill>
                        <a:srgbClr val="00A1FF"/>
                      </a:solidFill>
                      <a:prstDash val="solid"/>
                    </a:lnR>
                    <a:lnT w="12700">
                      <a:solidFill>
                        <a:srgbClr val="00A1FF"/>
                      </a:solidFill>
                      <a:prstDash val="solid"/>
                    </a:lnT>
                  </a:tcPr>
                </a:tc>
                <a:tc>
                  <a:txBody>
                    <a:bodyPr/>
                    <a:lstStyle/>
                    <a:p>
                      <a:pPr marL="335915" marR="329565" algn="ctr">
                        <a:lnSpc>
                          <a:spcPct val="100000"/>
                        </a:lnSpc>
                        <a:spcBef>
                          <a:spcPts val="275"/>
                        </a:spcBef>
                      </a:pPr>
                      <a:r>
                        <a:rPr lang="en-US" sz="1800" b="1" spc="-10" dirty="0">
                          <a:latin typeface="Times New Roman"/>
                          <a:cs typeface="Times New Roman"/>
                        </a:rPr>
                        <a:t>Name of the Journal and </a:t>
                      </a:r>
                      <a:r>
                        <a:rPr sz="1800" b="1" spc="-10" dirty="0">
                          <a:latin typeface="Times New Roman"/>
                          <a:cs typeface="Times New Roman"/>
                        </a:rPr>
                        <a:t>Publication </a:t>
                      </a:r>
                      <a:r>
                        <a:rPr sz="1800" b="1" dirty="0">
                          <a:latin typeface="Times New Roman"/>
                          <a:cs typeface="Times New Roman"/>
                        </a:rPr>
                        <a:t>Year</a:t>
                      </a:r>
                      <a:r>
                        <a:rPr sz="1800" b="1" spc="-20" dirty="0">
                          <a:latin typeface="Times New Roman"/>
                          <a:cs typeface="Times New Roman"/>
                        </a:rPr>
                        <a:t> </a:t>
                      </a:r>
                      <a:r>
                        <a:rPr sz="1800" b="1" dirty="0">
                          <a:latin typeface="Times New Roman"/>
                          <a:cs typeface="Times New Roman"/>
                        </a:rPr>
                        <a:t>of</a:t>
                      </a:r>
                      <a:r>
                        <a:rPr sz="1800" b="1" spc="-10" dirty="0">
                          <a:latin typeface="Times New Roman"/>
                          <a:cs typeface="Times New Roman"/>
                        </a:rPr>
                        <a:t> </a:t>
                      </a:r>
                      <a:r>
                        <a:rPr sz="1800" b="1" spc="-25" dirty="0">
                          <a:latin typeface="Times New Roman"/>
                          <a:cs typeface="Times New Roman"/>
                        </a:rPr>
                        <a:t>the </a:t>
                      </a:r>
                      <a:r>
                        <a:rPr sz="1800" b="1" spc="-10" dirty="0">
                          <a:latin typeface="Times New Roman"/>
                          <a:cs typeface="Times New Roman"/>
                        </a:rPr>
                        <a:t>Paper</a:t>
                      </a:r>
                      <a:endParaRPr sz="1800" dirty="0">
                        <a:latin typeface="Times New Roman"/>
                        <a:cs typeface="Times New Roman"/>
                      </a:endParaRPr>
                    </a:p>
                  </a:txBody>
                  <a:tcPr marL="0" marR="0" marT="34925" marB="0">
                    <a:lnL w="12700">
                      <a:solidFill>
                        <a:srgbClr val="00A1FF"/>
                      </a:solidFill>
                      <a:prstDash val="solid"/>
                    </a:lnL>
                    <a:lnR w="12700">
                      <a:solidFill>
                        <a:srgbClr val="00A1FF"/>
                      </a:solidFill>
                      <a:prstDash val="solid"/>
                    </a:lnR>
                    <a:lnT w="12700">
                      <a:solidFill>
                        <a:srgbClr val="00A1FF"/>
                      </a:solidFill>
                      <a:prstDash val="solid"/>
                    </a:lnT>
                  </a:tcPr>
                </a:tc>
                <a:tc>
                  <a:txBody>
                    <a:bodyPr/>
                    <a:lstStyle/>
                    <a:p>
                      <a:pPr>
                        <a:lnSpc>
                          <a:spcPct val="100000"/>
                        </a:lnSpc>
                        <a:spcBef>
                          <a:spcPts val="395"/>
                        </a:spcBef>
                      </a:pPr>
                      <a:endParaRPr sz="1800" dirty="0">
                        <a:latin typeface="Times New Roman"/>
                        <a:cs typeface="Times New Roman"/>
                      </a:endParaRPr>
                    </a:p>
                    <a:p>
                      <a:pPr algn="ctr">
                        <a:lnSpc>
                          <a:spcPct val="100000"/>
                        </a:lnSpc>
                      </a:pPr>
                      <a:r>
                        <a:rPr sz="1800" b="1" spc="-10" dirty="0">
                          <a:latin typeface="Times New Roman"/>
                          <a:cs typeface="Times New Roman"/>
                        </a:rPr>
                        <a:t>Methodology</a:t>
                      </a:r>
                      <a:endParaRPr sz="1800" dirty="0">
                        <a:latin typeface="Times New Roman"/>
                        <a:cs typeface="Times New Roman"/>
                      </a:endParaRPr>
                    </a:p>
                  </a:txBody>
                  <a:tcPr marL="0" marR="0" marT="50165" marB="0">
                    <a:lnL w="12700">
                      <a:solidFill>
                        <a:srgbClr val="00A1FF"/>
                      </a:solidFill>
                      <a:prstDash val="solid"/>
                    </a:lnL>
                    <a:lnR w="12700">
                      <a:solidFill>
                        <a:srgbClr val="00A1FF"/>
                      </a:solidFill>
                      <a:prstDash val="solid"/>
                    </a:lnR>
                    <a:lnT w="12700">
                      <a:solidFill>
                        <a:srgbClr val="00A1FF"/>
                      </a:solidFill>
                      <a:prstDash val="solid"/>
                    </a:lnT>
                  </a:tcPr>
                </a:tc>
                <a:tc>
                  <a:txBody>
                    <a:bodyPr/>
                    <a:lstStyle/>
                    <a:p>
                      <a:pPr>
                        <a:lnSpc>
                          <a:spcPct val="100000"/>
                        </a:lnSpc>
                        <a:spcBef>
                          <a:spcPts val="395"/>
                        </a:spcBef>
                      </a:pPr>
                      <a:endParaRPr sz="1800" dirty="0">
                        <a:latin typeface="Times New Roman"/>
                        <a:cs typeface="Times New Roman"/>
                      </a:endParaRPr>
                    </a:p>
                    <a:p>
                      <a:pPr marL="488950">
                        <a:lnSpc>
                          <a:spcPct val="100000"/>
                        </a:lnSpc>
                      </a:pPr>
                      <a:r>
                        <a:rPr lang="en-US" sz="1800" b="1" spc="-10" dirty="0">
                          <a:latin typeface="Times New Roman"/>
                          <a:cs typeface="Times New Roman"/>
                        </a:rPr>
                        <a:t>Drawback</a:t>
                      </a:r>
                      <a:endParaRPr sz="1800" dirty="0">
                        <a:latin typeface="Times New Roman"/>
                        <a:cs typeface="Times New Roman"/>
                      </a:endParaRPr>
                    </a:p>
                  </a:txBody>
                  <a:tcPr marL="0" marR="0" marT="50165" marB="0">
                    <a:lnL w="12700">
                      <a:solidFill>
                        <a:srgbClr val="00A1FF"/>
                      </a:solidFill>
                      <a:prstDash val="solid"/>
                    </a:lnL>
                    <a:lnR w="12700">
                      <a:solidFill>
                        <a:srgbClr val="00A1FF"/>
                      </a:solidFill>
                      <a:prstDash val="solid"/>
                    </a:lnR>
                    <a:lnT w="12700">
                      <a:solidFill>
                        <a:srgbClr val="00A1FF"/>
                      </a:solidFill>
                      <a:prstDash val="solid"/>
                    </a:lnT>
                  </a:tcPr>
                </a:tc>
                <a:extLst>
                  <a:ext uri="{0D108BD9-81ED-4DB2-BD59-A6C34878D82A}">
                    <a16:rowId xmlns:a16="http://schemas.microsoft.com/office/drawing/2014/main" val="10000"/>
                  </a:ext>
                </a:extLst>
              </a:tr>
              <a:tr h="1518106">
                <a:tc>
                  <a:txBody>
                    <a:bodyPr/>
                    <a:lstStyle/>
                    <a:p>
                      <a:pPr>
                        <a:lnSpc>
                          <a:spcPct val="100000"/>
                        </a:lnSpc>
                      </a:pPr>
                      <a:endParaRPr sz="1800" dirty="0">
                        <a:latin typeface="Times New Roman"/>
                        <a:cs typeface="Times New Roman"/>
                      </a:endParaRPr>
                    </a:p>
                    <a:p>
                      <a:pPr algn="ctr">
                        <a:lnSpc>
                          <a:spcPct val="100000"/>
                        </a:lnSpc>
                        <a:spcBef>
                          <a:spcPts val="815"/>
                        </a:spcBef>
                      </a:pPr>
                      <a:r>
                        <a:rPr lang="en-US" sz="1800" dirty="0">
                          <a:latin typeface="Times New Roman"/>
                          <a:cs typeface="Times New Roman"/>
                        </a:rPr>
                        <a:t>1</a:t>
                      </a:r>
                      <a:endParaRPr sz="1800" dirty="0">
                        <a:latin typeface="Times New Roman"/>
                        <a:cs typeface="Times New Roman"/>
                      </a:endParaRPr>
                    </a:p>
                  </a:txBody>
                  <a:tcPr marL="0" marR="0" marT="0" marB="0">
                    <a:lnL w="12700">
                      <a:solidFill>
                        <a:srgbClr val="00A1FF"/>
                      </a:solidFill>
                      <a:prstDash val="solid"/>
                    </a:lnL>
                    <a:lnR w="12700">
                      <a:solidFill>
                        <a:srgbClr val="00A1FF"/>
                      </a:solidFill>
                      <a:prstDash val="solid"/>
                    </a:lnR>
                    <a:solidFill>
                      <a:srgbClr val="00A1FF">
                        <a:alpha val="19999"/>
                      </a:srgbClr>
                    </a:solidFill>
                  </a:tcPr>
                </a:tc>
                <a:tc>
                  <a:txBody>
                    <a:bodyPr/>
                    <a:lstStyle/>
                    <a:p>
                      <a:pPr marL="1905" algn="ctr">
                        <a:lnSpc>
                          <a:spcPct val="100000"/>
                        </a:lnSpc>
                      </a:pPr>
                      <a:r>
                        <a:rPr lang="en-US" sz="1600" dirty="0"/>
                        <a:t>Power Prediction for Electric Vehicles Using Online Machine Learning</a:t>
                      </a:r>
                      <a:endParaRPr sz="1600" b="0" dirty="0">
                        <a:latin typeface="Times New Roman"/>
                        <a:cs typeface="Times New Roman"/>
                      </a:endParaRPr>
                    </a:p>
                  </a:txBody>
                  <a:tcPr marL="0" marR="0" marT="0" marB="0">
                    <a:lnL w="12700">
                      <a:solidFill>
                        <a:srgbClr val="00A1FF"/>
                      </a:solidFill>
                      <a:prstDash val="solid"/>
                    </a:lnL>
                    <a:lnR w="12700" cap="flat" cmpd="sng" algn="ctr">
                      <a:solidFill>
                        <a:srgbClr val="00A1FF"/>
                      </a:solidFill>
                      <a:prstDash val="solid"/>
                      <a:round/>
                      <a:headEnd type="none" w="med" len="med"/>
                      <a:tailEnd type="none" w="med" len="med"/>
                    </a:lnR>
                    <a:solidFill>
                      <a:srgbClr val="00A1FF">
                        <a:alpha val="19999"/>
                      </a:srgbClr>
                    </a:solidFill>
                  </a:tcPr>
                </a:tc>
                <a:tc>
                  <a:txBody>
                    <a:bodyPr/>
                    <a:lstStyle/>
                    <a:p>
                      <a:pPr>
                        <a:buNone/>
                      </a:pPr>
                      <a:r>
                        <a:rPr lang="en-IN" sz="1600" dirty="0"/>
                        <a:t>M. Alshahrani et al.</a:t>
                      </a:r>
                    </a:p>
                  </a:txBody>
                  <a:tcPr anchor="ctr">
                    <a:lnL w="12700">
                      <a:solidFill>
                        <a:srgbClr val="00A1FF"/>
                      </a:solidFill>
                      <a:prstDash val="solid"/>
                    </a:lnL>
                    <a:lnR w="12700">
                      <a:solidFill>
                        <a:srgbClr val="00A1FF"/>
                      </a:solidFill>
                      <a:prstDash val="solid"/>
                    </a:lnR>
                    <a:solidFill>
                      <a:srgbClr val="00A1FF">
                        <a:alpha val="19999"/>
                      </a:srgbClr>
                    </a:solidFill>
                  </a:tcPr>
                </a:tc>
                <a:tc>
                  <a:txBody>
                    <a:bodyPr/>
                    <a:lstStyle/>
                    <a:p>
                      <a:pPr>
                        <a:lnSpc>
                          <a:spcPct val="100000"/>
                        </a:lnSpc>
                      </a:pPr>
                      <a:endParaRPr lang="en-US" sz="1600" dirty="0"/>
                    </a:p>
                    <a:p>
                      <a:pPr>
                        <a:lnSpc>
                          <a:spcPct val="100000"/>
                        </a:lnSpc>
                      </a:pPr>
                      <a:r>
                        <a:rPr lang="en-IN" sz="1600" dirty="0"/>
                        <a:t>IEEE Transactions on Smart Grid, 2021</a:t>
                      </a:r>
                      <a:endParaRPr sz="1600" dirty="0">
                        <a:latin typeface="Times New Roman"/>
                        <a:cs typeface="Times New Roman"/>
                      </a:endParaRPr>
                    </a:p>
                  </a:txBody>
                  <a:tcPr marL="0" marR="0" marT="0" marB="0">
                    <a:lnL w="12700" cap="flat" cmpd="sng" algn="ctr">
                      <a:solidFill>
                        <a:srgbClr val="00A1FF"/>
                      </a:solidFill>
                      <a:prstDash val="solid"/>
                      <a:round/>
                      <a:headEnd type="none" w="med" len="med"/>
                      <a:tailEnd type="none" w="med" len="med"/>
                    </a:lnL>
                    <a:lnR w="12700">
                      <a:solidFill>
                        <a:srgbClr val="00A1FF"/>
                      </a:solidFill>
                      <a:prstDash val="solid"/>
                    </a:lnR>
                    <a:solidFill>
                      <a:srgbClr val="00A1FF">
                        <a:alpha val="19999"/>
                      </a:srgbClr>
                    </a:solidFill>
                  </a:tcPr>
                </a:tc>
                <a:tc>
                  <a:txBody>
                    <a:bodyPr/>
                    <a:lstStyle/>
                    <a:p>
                      <a:pPr>
                        <a:lnSpc>
                          <a:spcPct val="100000"/>
                        </a:lnSpc>
                      </a:pPr>
                      <a:r>
                        <a:rPr lang="en-US" sz="1600" dirty="0"/>
                        <a:t>Applies recurrent neural networks (RNN) to predict battery SOC and range for smart charging optimization</a:t>
                      </a:r>
                      <a:endParaRPr sz="1600" dirty="0">
                        <a:latin typeface="Times New Roman"/>
                        <a:cs typeface="Times New Roman"/>
                      </a:endParaRPr>
                    </a:p>
                  </a:txBody>
                  <a:tcPr marL="0" marR="0" marT="0" marB="0">
                    <a:lnL w="12700">
                      <a:solidFill>
                        <a:srgbClr val="00A1FF"/>
                      </a:solidFill>
                      <a:prstDash val="solid"/>
                    </a:lnL>
                    <a:lnR w="12700">
                      <a:solidFill>
                        <a:srgbClr val="00A1FF"/>
                      </a:solidFill>
                      <a:prstDash val="solid"/>
                    </a:lnR>
                    <a:solidFill>
                      <a:srgbClr val="00A1FF">
                        <a:alpha val="19999"/>
                      </a:srgbClr>
                    </a:solidFill>
                  </a:tcPr>
                </a:tc>
                <a:tc>
                  <a:txBody>
                    <a:bodyPr/>
                    <a:lstStyle/>
                    <a:p>
                      <a:pPr marL="92075" marR="147955">
                        <a:lnSpc>
                          <a:spcPct val="100000"/>
                        </a:lnSpc>
                        <a:spcBef>
                          <a:spcPts val="1715"/>
                        </a:spcBef>
                      </a:pPr>
                      <a:r>
                        <a:rPr lang="en-US" sz="1600" dirty="0"/>
                        <a:t>Model complexity and overfitting issues</a:t>
                      </a:r>
                      <a:endParaRPr sz="1600" dirty="0">
                        <a:latin typeface="Times New Roman"/>
                        <a:cs typeface="Times New Roman"/>
                      </a:endParaRPr>
                    </a:p>
                  </a:txBody>
                  <a:tcPr marL="0" marR="0" marT="217805" marB="0">
                    <a:lnL w="12700">
                      <a:solidFill>
                        <a:srgbClr val="00A1FF"/>
                      </a:solidFill>
                      <a:prstDash val="solid"/>
                    </a:lnL>
                    <a:lnR w="12700">
                      <a:solidFill>
                        <a:srgbClr val="00A1FF"/>
                      </a:solidFill>
                      <a:prstDash val="solid"/>
                    </a:lnR>
                    <a:solidFill>
                      <a:srgbClr val="00A1FF">
                        <a:alpha val="19999"/>
                      </a:srgbClr>
                    </a:solidFill>
                  </a:tcPr>
                </a:tc>
                <a:extLst>
                  <a:ext uri="{0D108BD9-81ED-4DB2-BD59-A6C34878D82A}">
                    <a16:rowId xmlns:a16="http://schemas.microsoft.com/office/drawing/2014/main" val="10001"/>
                  </a:ext>
                </a:extLst>
              </a:tr>
              <a:tr h="1449631">
                <a:tc>
                  <a:txBody>
                    <a:bodyPr/>
                    <a:lstStyle/>
                    <a:p>
                      <a:pPr>
                        <a:lnSpc>
                          <a:spcPct val="100000"/>
                        </a:lnSpc>
                      </a:pPr>
                      <a:endParaRPr sz="1800" dirty="0">
                        <a:latin typeface="Times New Roman"/>
                        <a:cs typeface="Times New Roman"/>
                      </a:endParaRPr>
                    </a:p>
                    <a:p>
                      <a:pPr>
                        <a:lnSpc>
                          <a:spcPct val="100000"/>
                        </a:lnSpc>
                        <a:spcBef>
                          <a:spcPts val="665"/>
                        </a:spcBef>
                      </a:pPr>
                      <a:endParaRPr sz="1800" dirty="0">
                        <a:latin typeface="Times New Roman"/>
                        <a:cs typeface="Times New Roman"/>
                      </a:endParaRPr>
                    </a:p>
                    <a:p>
                      <a:pPr algn="ctr">
                        <a:lnSpc>
                          <a:spcPct val="100000"/>
                        </a:lnSpc>
                      </a:pPr>
                      <a:r>
                        <a:rPr sz="1800" spc="-50" dirty="0">
                          <a:latin typeface="Times New Roman"/>
                          <a:cs typeface="Times New Roman"/>
                        </a:rPr>
                        <a:t>2</a:t>
                      </a:r>
                      <a:endParaRPr sz="1800" dirty="0">
                        <a:latin typeface="Times New Roman"/>
                        <a:cs typeface="Times New Roman"/>
                      </a:endParaRPr>
                    </a:p>
                  </a:txBody>
                  <a:tcPr marL="0" marR="0" marT="0" marB="0">
                    <a:lnL w="12700">
                      <a:solidFill>
                        <a:srgbClr val="00A1FF"/>
                      </a:solidFill>
                      <a:prstDash val="solid"/>
                    </a:lnL>
                    <a:lnR w="12700">
                      <a:solidFill>
                        <a:srgbClr val="00A1FF"/>
                      </a:solidFill>
                      <a:prstDash val="solid"/>
                    </a:lnR>
                  </a:tcPr>
                </a:tc>
                <a:tc>
                  <a:txBody>
                    <a:bodyPr/>
                    <a:lstStyle/>
                    <a:p>
                      <a:pPr>
                        <a:lnSpc>
                          <a:spcPct val="100000"/>
                        </a:lnSpc>
                      </a:pPr>
                      <a:r>
                        <a:rPr lang="en-US" sz="1600" dirty="0"/>
                        <a:t>Data-Driven Prediction of Route-Level Energy Use for Electric Vehicle Fleets</a:t>
                      </a:r>
                      <a:endParaRPr sz="1600" b="0" dirty="0">
                        <a:latin typeface="Times New Roman"/>
                        <a:cs typeface="Times New Roman"/>
                      </a:endParaRPr>
                    </a:p>
                  </a:txBody>
                  <a:tcPr marL="0" marR="0" marT="0" marB="0">
                    <a:lnL w="12700">
                      <a:solidFill>
                        <a:srgbClr val="00A1FF"/>
                      </a:solidFill>
                      <a:prstDash val="solid"/>
                    </a:lnL>
                    <a:lnR w="12700">
                      <a:solidFill>
                        <a:srgbClr val="00A1FF"/>
                      </a:solidFill>
                      <a:prstDash val="solid"/>
                    </a:lnR>
                  </a:tcPr>
                </a:tc>
                <a:tc>
                  <a:txBody>
                    <a:bodyPr/>
                    <a:lstStyle/>
                    <a:p>
                      <a:pPr>
                        <a:lnSpc>
                          <a:spcPct val="100000"/>
                        </a:lnSpc>
                      </a:pPr>
                      <a:endParaRPr lang="en-IN" sz="1600" dirty="0"/>
                    </a:p>
                    <a:p>
                      <a:pPr>
                        <a:lnSpc>
                          <a:spcPct val="100000"/>
                        </a:lnSpc>
                      </a:pPr>
                      <a:r>
                        <a:rPr lang="en-IN" sz="1600" dirty="0"/>
                        <a:t>K. McCarthy et al.</a:t>
                      </a:r>
                      <a:endParaRPr sz="1600" dirty="0">
                        <a:latin typeface="Times New Roman"/>
                        <a:cs typeface="Times New Roman"/>
                      </a:endParaRPr>
                    </a:p>
                  </a:txBody>
                  <a:tcPr marL="0" marR="0" marT="0" marB="0">
                    <a:lnL w="12700">
                      <a:solidFill>
                        <a:srgbClr val="00A1FF"/>
                      </a:solidFill>
                      <a:prstDash val="solid"/>
                    </a:lnL>
                    <a:lnR w="12700">
                      <a:solidFill>
                        <a:srgbClr val="00A1FF"/>
                      </a:solidFill>
                      <a:prstDash val="solid"/>
                    </a:lnR>
                  </a:tcPr>
                </a:tc>
                <a:tc>
                  <a:txBody>
                    <a:bodyPr/>
                    <a:lstStyle/>
                    <a:p>
                      <a:pPr>
                        <a:lnSpc>
                          <a:spcPct val="100000"/>
                        </a:lnSpc>
                      </a:pPr>
                      <a:r>
                        <a:rPr lang="en-IN" sz="1600" dirty="0"/>
                        <a:t>IEEE Transactions on Intelligent Transportation Systems, 2020</a:t>
                      </a:r>
                      <a:endParaRPr sz="1600" dirty="0">
                        <a:latin typeface="Times New Roman"/>
                        <a:cs typeface="Times New Roman"/>
                      </a:endParaRPr>
                    </a:p>
                  </a:txBody>
                  <a:tcPr marL="0" marR="0" marT="0" marB="0">
                    <a:lnL w="12700">
                      <a:solidFill>
                        <a:srgbClr val="00A1FF"/>
                      </a:solidFill>
                      <a:prstDash val="solid"/>
                    </a:lnL>
                    <a:lnR w="12700">
                      <a:solidFill>
                        <a:srgbClr val="00A1FF"/>
                      </a:solidFill>
                      <a:prstDash val="solid"/>
                    </a:lnR>
                  </a:tcPr>
                </a:tc>
                <a:tc>
                  <a:txBody>
                    <a:bodyPr/>
                    <a:lstStyle/>
                    <a:p>
                      <a:pPr>
                        <a:lnSpc>
                          <a:spcPct val="100000"/>
                        </a:lnSpc>
                      </a:pPr>
                      <a:r>
                        <a:rPr lang="en-US" sz="1600" dirty="0"/>
                        <a:t>Combines regression, decision trees, and neural networks for fleet-level energy prediction using multi-source data</a:t>
                      </a:r>
                      <a:endParaRPr sz="1600" dirty="0">
                        <a:latin typeface="Times New Roman"/>
                        <a:cs typeface="Times New Roman"/>
                      </a:endParaRPr>
                    </a:p>
                  </a:txBody>
                  <a:tcPr marL="0" marR="0" marT="0" marB="0">
                    <a:lnL w="12700">
                      <a:solidFill>
                        <a:srgbClr val="00A1FF"/>
                      </a:solidFill>
                      <a:prstDash val="solid"/>
                    </a:lnL>
                    <a:lnR w="12700">
                      <a:solidFill>
                        <a:srgbClr val="00A1FF"/>
                      </a:solidFill>
                      <a:prstDash val="solid"/>
                    </a:lnR>
                  </a:tcPr>
                </a:tc>
                <a:tc>
                  <a:txBody>
                    <a:bodyPr/>
                    <a:lstStyle/>
                    <a:p>
                      <a:pPr marL="92075" marR="274955">
                        <a:lnSpc>
                          <a:spcPct val="100000"/>
                        </a:lnSpc>
                        <a:spcBef>
                          <a:spcPts val="484"/>
                        </a:spcBef>
                      </a:pPr>
                      <a:r>
                        <a:rPr lang="en-US" sz="1600" dirty="0"/>
                        <a:t>Less effective for individual vehicle-level prediction</a:t>
                      </a:r>
                      <a:endParaRPr sz="1600" dirty="0">
                        <a:latin typeface="Times New Roman"/>
                        <a:cs typeface="Times New Roman"/>
                      </a:endParaRPr>
                    </a:p>
                  </a:txBody>
                  <a:tcPr marL="0" marR="0" marT="61594" marB="0">
                    <a:lnL w="12700">
                      <a:solidFill>
                        <a:srgbClr val="00A1FF"/>
                      </a:solidFill>
                      <a:prstDash val="solid"/>
                    </a:lnL>
                    <a:lnR w="12700">
                      <a:solidFill>
                        <a:srgbClr val="00A1FF"/>
                      </a:solidFill>
                      <a:prstDash val="solid"/>
                    </a:lnR>
                  </a:tcPr>
                </a:tc>
                <a:extLst>
                  <a:ext uri="{0D108BD9-81ED-4DB2-BD59-A6C34878D82A}">
                    <a16:rowId xmlns:a16="http://schemas.microsoft.com/office/drawing/2014/main" val="10002"/>
                  </a:ext>
                </a:extLst>
              </a:tr>
              <a:tr h="1360525">
                <a:tc>
                  <a:txBody>
                    <a:bodyPr/>
                    <a:lstStyle/>
                    <a:p>
                      <a:pPr>
                        <a:lnSpc>
                          <a:spcPct val="100000"/>
                        </a:lnSpc>
                      </a:pPr>
                      <a:endParaRPr sz="1800">
                        <a:latin typeface="Times New Roman"/>
                        <a:cs typeface="Times New Roman"/>
                      </a:endParaRPr>
                    </a:p>
                    <a:p>
                      <a:pPr>
                        <a:lnSpc>
                          <a:spcPct val="100000"/>
                        </a:lnSpc>
                        <a:spcBef>
                          <a:spcPts val="765"/>
                        </a:spcBef>
                      </a:pPr>
                      <a:endParaRPr sz="1800">
                        <a:latin typeface="Times New Roman"/>
                        <a:cs typeface="Times New Roman"/>
                      </a:endParaRPr>
                    </a:p>
                    <a:p>
                      <a:pPr algn="ctr">
                        <a:lnSpc>
                          <a:spcPct val="100000"/>
                        </a:lnSpc>
                        <a:spcBef>
                          <a:spcPts val="5"/>
                        </a:spcBef>
                      </a:pPr>
                      <a:r>
                        <a:rPr sz="1800" spc="-50" dirty="0">
                          <a:latin typeface="Times New Roman"/>
                          <a:cs typeface="Times New Roman"/>
                        </a:rPr>
                        <a:t>3</a:t>
                      </a:r>
                      <a:endParaRPr sz="1800">
                        <a:latin typeface="Times New Roman"/>
                        <a:cs typeface="Times New Roman"/>
                      </a:endParaRPr>
                    </a:p>
                  </a:txBody>
                  <a:tcPr marL="0" marR="0" marT="0" marB="0">
                    <a:lnL w="12700">
                      <a:solidFill>
                        <a:srgbClr val="00A1FF"/>
                      </a:solidFill>
                      <a:prstDash val="solid"/>
                    </a:lnL>
                    <a:lnR w="12700">
                      <a:solidFill>
                        <a:srgbClr val="00A1FF"/>
                      </a:solidFill>
                      <a:prstDash val="solid"/>
                    </a:lnR>
                    <a:solidFill>
                      <a:srgbClr val="00A1FF">
                        <a:alpha val="19999"/>
                      </a:srgbClr>
                    </a:solidFill>
                  </a:tcPr>
                </a:tc>
                <a:tc>
                  <a:txBody>
                    <a:bodyPr/>
                    <a:lstStyle/>
                    <a:p>
                      <a:pPr algn="ctr">
                        <a:lnSpc>
                          <a:spcPct val="100000"/>
                        </a:lnSpc>
                        <a:spcBef>
                          <a:spcPts val="1755"/>
                        </a:spcBef>
                      </a:pPr>
                      <a:r>
                        <a:rPr lang="en-US" sz="1600" dirty="0"/>
                        <a:t>Machine Learning-Based Energy Consumption Prediction for Electric Vehicles</a:t>
                      </a:r>
                      <a:endParaRPr sz="1600" b="0" dirty="0">
                        <a:latin typeface="Times New Roman"/>
                        <a:cs typeface="Times New Roman"/>
                      </a:endParaRPr>
                    </a:p>
                  </a:txBody>
                  <a:tcPr marL="0" marR="0" marT="222885" marB="0">
                    <a:lnL w="12700">
                      <a:solidFill>
                        <a:srgbClr val="00A1FF"/>
                      </a:solidFill>
                      <a:prstDash val="solid"/>
                    </a:lnL>
                    <a:lnR w="12700">
                      <a:solidFill>
                        <a:srgbClr val="00A1FF"/>
                      </a:solidFill>
                      <a:prstDash val="solid"/>
                    </a:lnR>
                    <a:solidFill>
                      <a:srgbClr val="00A1FF">
                        <a:alpha val="19999"/>
                      </a:srgbClr>
                    </a:solidFill>
                  </a:tcPr>
                </a:tc>
                <a:tc>
                  <a:txBody>
                    <a:bodyPr/>
                    <a:lstStyle/>
                    <a:p>
                      <a:pPr>
                        <a:lnSpc>
                          <a:spcPct val="100000"/>
                        </a:lnSpc>
                      </a:pPr>
                      <a:r>
                        <a:rPr lang="fr-FR" sz="1600" dirty="0"/>
                        <a:t>P. B. Nair et al.</a:t>
                      </a:r>
                      <a:endParaRPr sz="1600" dirty="0">
                        <a:latin typeface="Times New Roman"/>
                        <a:cs typeface="Times New Roman"/>
                      </a:endParaRPr>
                    </a:p>
                  </a:txBody>
                  <a:tcPr marL="0" marR="0" marT="0" marB="0">
                    <a:lnL w="12700">
                      <a:solidFill>
                        <a:srgbClr val="00A1FF"/>
                      </a:solidFill>
                      <a:prstDash val="solid"/>
                    </a:lnL>
                    <a:lnR w="12700">
                      <a:solidFill>
                        <a:srgbClr val="00A1FF"/>
                      </a:solidFill>
                      <a:prstDash val="solid"/>
                    </a:lnR>
                    <a:solidFill>
                      <a:srgbClr val="00A1FF">
                        <a:alpha val="19999"/>
                      </a:srgbClr>
                    </a:solidFill>
                  </a:tcPr>
                </a:tc>
                <a:tc>
                  <a:txBody>
                    <a:bodyPr/>
                    <a:lstStyle/>
                    <a:p>
                      <a:pPr>
                        <a:lnSpc>
                          <a:spcPct val="100000"/>
                        </a:lnSpc>
                      </a:pPr>
                      <a:r>
                        <a:rPr lang="en-IN" sz="1600" dirty="0"/>
                        <a:t>Applied Energy, 2019</a:t>
                      </a:r>
                      <a:endParaRPr sz="1600" dirty="0">
                        <a:latin typeface="Times New Roman"/>
                        <a:cs typeface="Times New Roman"/>
                      </a:endParaRPr>
                    </a:p>
                  </a:txBody>
                  <a:tcPr marL="0" marR="0" marT="0" marB="0">
                    <a:lnL w="12700">
                      <a:solidFill>
                        <a:srgbClr val="00A1FF"/>
                      </a:solidFill>
                      <a:prstDash val="solid"/>
                    </a:lnL>
                    <a:lnR w="12700">
                      <a:solidFill>
                        <a:srgbClr val="00A1FF"/>
                      </a:solidFill>
                      <a:prstDash val="solid"/>
                    </a:lnR>
                    <a:solidFill>
                      <a:srgbClr val="00A1FF">
                        <a:alpha val="19999"/>
                      </a:srgbClr>
                    </a:solidFill>
                  </a:tcPr>
                </a:tc>
                <a:tc>
                  <a:txBody>
                    <a:bodyPr/>
                    <a:lstStyle/>
                    <a:p>
                      <a:pPr>
                        <a:lnSpc>
                          <a:spcPct val="100000"/>
                        </a:lnSpc>
                      </a:pPr>
                      <a:r>
                        <a:rPr lang="en-US" sz="1600" dirty="0"/>
                        <a:t>Uses Random Forest and Gradient Boosting for predicting EV energy consumption based on driving </a:t>
                      </a:r>
                      <a:endParaRPr sz="1600" dirty="0">
                        <a:latin typeface="Times New Roman"/>
                        <a:cs typeface="Times New Roman"/>
                      </a:endParaRPr>
                    </a:p>
                  </a:txBody>
                  <a:tcPr marL="0" marR="0" marT="0" marB="0">
                    <a:lnL w="12700">
                      <a:solidFill>
                        <a:srgbClr val="00A1FF"/>
                      </a:solidFill>
                      <a:prstDash val="solid"/>
                    </a:lnL>
                    <a:lnR w="12700">
                      <a:solidFill>
                        <a:srgbClr val="00A1FF"/>
                      </a:solidFill>
                      <a:prstDash val="solid"/>
                    </a:lnR>
                    <a:solidFill>
                      <a:srgbClr val="00A1FF">
                        <a:alpha val="19999"/>
                      </a:srgbClr>
                    </a:solidFill>
                  </a:tcPr>
                </a:tc>
                <a:tc>
                  <a:txBody>
                    <a:bodyPr/>
                    <a:lstStyle/>
                    <a:p>
                      <a:pPr>
                        <a:lnSpc>
                          <a:spcPct val="100000"/>
                        </a:lnSpc>
                        <a:spcBef>
                          <a:spcPts val="675"/>
                        </a:spcBef>
                      </a:pPr>
                      <a:r>
                        <a:rPr lang="en-US" sz="1600" dirty="0"/>
                        <a:t>Model performance decreases with unseen driving conditions</a:t>
                      </a:r>
                      <a:endParaRPr sz="1600" dirty="0"/>
                    </a:p>
                  </a:txBody>
                  <a:tcPr marL="0" marR="0" marT="85725" marB="0">
                    <a:lnL w="12700">
                      <a:solidFill>
                        <a:srgbClr val="00A1FF"/>
                      </a:solidFill>
                      <a:prstDash val="solid"/>
                    </a:lnL>
                    <a:lnR w="12700">
                      <a:solidFill>
                        <a:srgbClr val="00A1FF"/>
                      </a:solidFill>
                      <a:prstDash val="solid"/>
                    </a:lnR>
                    <a:solidFill>
                      <a:srgbClr val="00A1FF">
                        <a:alpha val="19999"/>
                      </a:srgbClr>
                    </a:solidFill>
                  </a:tcPr>
                </a:tc>
                <a:extLst>
                  <a:ext uri="{0D108BD9-81ED-4DB2-BD59-A6C34878D82A}">
                    <a16:rowId xmlns:a16="http://schemas.microsoft.com/office/drawing/2014/main" val="10003"/>
                  </a:ext>
                </a:extLst>
              </a:tr>
            </a:tbl>
          </a:graphicData>
        </a:graphic>
      </p:graphicFrame>
      <p:sp>
        <p:nvSpPr>
          <p:cNvPr id="8" name="Title 7">
            <a:extLst>
              <a:ext uri="{FF2B5EF4-FFF2-40B4-BE49-F238E27FC236}">
                <a16:creationId xmlns:a16="http://schemas.microsoft.com/office/drawing/2014/main" id="{BC492D98-D0F1-BF78-546E-21133250BC0C}"/>
              </a:ext>
            </a:extLst>
          </p:cNvPr>
          <p:cNvSpPr>
            <a:spLocks noGrp="1"/>
          </p:cNvSpPr>
          <p:nvPr>
            <p:ph type="title"/>
          </p:nvPr>
        </p:nvSpPr>
        <p:spPr>
          <a:xfrm>
            <a:off x="2418969" y="176236"/>
            <a:ext cx="7928609" cy="553998"/>
          </a:xfrm>
        </p:spPr>
        <p:txBody>
          <a:bodyPr/>
          <a:lstStyle/>
          <a:p>
            <a:r>
              <a:rPr lang="en-IN" dirty="0">
                <a:latin typeface="Times New Roman"/>
                <a:cs typeface="Times New Roman"/>
              </a:rPr>
              <a:t>LITERATURE</a:t>
            </a:r>
            <a:r>
              <a:rPr lang="en-IN" spc="-15" dirty="0">
                <a:latin typeface="Times New Roman"/>
                <a:cs typeface="Times New Roman"/>
              </a:rPr>
              <a:t> </a:t>
            </a:r>
            <a:r>
              <a:rPr lang="en-IN" spc="-10" dirty="0">
                <a:latin typeface="Times New Roman"/>
                <a:cs typeface="Times New Roman"/>
              </a:rPr>
              <a:t>SURVEY</a:t>
            </a:r>
            <a:endParaRPr lang="en-IN" dirty="0"/>
          </a:p>
        </p:txBody>
      </p:sp>
    </p:spTree>
    <p:extLst>
      <p:ext uri="{BB962C8B-B14F-4D97-AF65-F5344CB8AC3E}">
        <p14:creationId xmlns:p14="http://schemas.microsoft.com/office/powerpoint/2010/main" val="15298027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55241" y="188213"/>
            <a:ext cx="9359265" cy="700192"/>
          </a:xfrm>
          <a:prstGeom prst="rect">
            <a:avLst/>
          </a:prstGeom>
          <a:ln w="28575">
            <a:solidFill>
              <a:srgbClr val="2D528F"/>
            </a:solidFill>
          </a:ln>
        </p:spPr>
        <p:txBody>
          <a:bodyPr vert="horz" wrap="square" lIns="0" tIns="144780" rIns="0" bIns="0" rtlCol="0">
            <a:spAutoFit/>
          </a:bodyPr>
          <a:lstStyle/>
          <a:p>
            <a:pPr marR="59055" algn="ctr">
              <a:lnSpc>
                <a:spcPct val="100000"/>
              </a:lnSpc>
              <a:spcBef>
                <a:spcPts val="1140"/>
              </a:spcBef>
            </a:pPr>
            <a:r>
              <a:rPr lang="en-IN" dirty="0"/>
              <a:t>DISADVANTAGES OF EXISITING WORK</a:t>
            </a:r>
            <a:endParaRPr spc="225" dirty="0"/>
          </a:p>
        </p:txBody>
      </p:sp>
      <p:grpSp>
        <p:nvGrpSpPr>
          <p:cNvPr id="3" name="object 3"/>
          <p:cNvGrpSpPr/>
          <p:nvPr/>
        </p:nvGrpSpPr>
        <p:grpSpPr>
          <a:xfrm>
            <a:off x="106869" y="76389"/>
            <a:ext cx="11971020" cy="6706870"/>
            <a:chOff x="106869" y="76389"/>
            <a:chExt cx="11971020" cy="6706870"/>
          </a:xfrm>
        </p:grpSpPr>
        <p:sp>
          <p:nvSpPr>
            <p:cNvPr id="4" name="object 4"/>
            <p:cNvSpPr/>
            <p:nvPr/>
          </p:nvSpPr>
          <p:spPr>
            <a:xfrm>
              <a:off x="121156" y="90676"/>
              <a:ext cx="11942445" cy="6678295"/>
            </a:xfrm>
            <a:custGeom>
              <a:avLst/>
              <a:gdLst/>
              <a:ahLst/>
              <a:cxnLst/>
              <a:rect l="l" t="t" r="r" b="b"/>
              <a:pathLst>
                <a:path w="11942445" h="6678295">
                  <a:moveTo>
                    <a:pt x="0" y="6678168"/>
                  </a:moveTo>
                  <a:lnTo>
                    <a:pt x="11942064" y="6678168"/>
                  </a:lnTo>
                  <a:lnTo>
                    <a:pt x="11942064" y="0"/>
                  </a:lnTo>
                  <a:lnTo>
                    <a:pt x="0" y="0"/>
                  </a:lnTo>
                  <a:lnTo>
                    <a:pt x="0" y="6678168"/>
                  </a:lnTo>
                  <a:close/>
                </a:path>
              </a:pathLst>
            </a:custGeom>
            <a:ln w="28575">
              <a:solidFill>
                <a:srgbClr val="2D528F"/>
              </a:solidFill>
            </a:ln>
          </p:spPr>
          <p:txBody>
            <a:bodyPr wrap="square" lIns="0" tIns="0" rIns="0" bIns="0" rtlCol="0"/>
            <a:lstStyle/>
            <a:p>
              <a:endParaRPr/>
            </a:p>
          </p:txBody>
        </p:sp>
        <p:pic>
          <p:nvPicPr>
            <p:cNvPr id="5" name="object 5"/>
            <p:cNvPicPr/>
            <p:nvPr/>
          </p:nvPicPr>
          <p:blipFill>
            <a:blip r:embed="rId3" cstate="print"/>
            <a:stretch>
              <a:fillRect/>
            </a:stretch>
          </p:blipFill>
          <p:spPr>
            <a:xfrm>
              <a:off x="405384" y="187452"/>
              <a:ext cx="873252" cy="1001268"/>
            </a:xfrm>
            <a:prstGeom prst="rect">
              <a:avLst/>
            </a:prstGeom>
          </p:spPr>
        </p:pic>
      </p:grpSp>
      <p:sp>
        <p:nvSpPr>
          <p:cNvPr id="6" name="object 6"/>
          <p:cNvSpPr txBox="1"/>
          <p:nvPr/>
        </p:nvSpPr>
        <p:spPr>
          <a:xfrm>
            <a:off x="688035" y="1989556"/>
            <a:ext cx="10913110" cy="2782813"/>
          </a:xfrm>
          <a:prstGeom prst="rect">
            <a:avLst/>
          </a:prstGeom>
        </p:spPr>
        <p:txBody>
          <a:bodyPr vert="horz" wrap="square" lIns="0" tIns="12700" rIns="0" bIns="0" rtlCol="0">
            <a:spAutoFit/>
          </a:bodyPr>
          <a:lstStyle/>
          <a:p>
            <a:pPr marL="342900" indent="-342900">
              <a:buFont typeface="Arial" panose="020B0604020202020204" pitchFamily="34" charset="0"/>
              <a:buChar char="•"/>
            </a:pPr>
            <a:r>
              <a:rPr lang="en-US" sz="2000" dirty="0"/>
              <a:t>High system complexity </a:t>
            </a:r>
          </a:p>
          <a:p>
            <a:pPr marL="342900" indent="-342900">
              <a:buFont typeface="Arial" panose="020B0604020202020204" pitchFamily="34" charset="0"/>
              <a:buChar char="•"/>
            </a:pPr>
            <a:r>
              <a:rPr lang="en-US" sz="2000" dirty="0"/>
              <a:t>Poor thermal management </a:t>
            </a:r>
          </a:p>
          <a:p>
            <a:pPr marL="342900" indent="-342900">
              <a:buFont typeface="Arial" panose="020B0604020202020204" pitchFamily="34" charset="0"/>
              <a:buChar char="•"/>
            </a:pPr>
            <a:r>
              <a:rPr lang="en-US" sz="2000" dirty="0"/>
              <a:t>Limited scalability </a:t>
            </a:r>
          </a:p>
          <a:p>
            <a:pPr marL="342900" indent="-342900">
              <a:buFont typeface="Arial" panose="020B0604020202020204" pitchFamily="34" charset="0"/>
              <a:buChar char="•"/>
            </a:pPr>
            <a:r>
              <a:rPr lang="en-US" sz="2000" dirty="0"/>
              <a:t>Communication delays </a:t>
            </a:r>
          </a:p>
          <a:p>
            <a:pPr marL="342900" indent="-342900">
              <a:buFont typeface="Arial" panose="020B0604020202020204" pitchFamily="34" charset="0"/>
              <a:buChar char="•"/>
            </a:pPr>
            <a:r>
              <a:rPr lang="en-US" sz="2000" dirty="0"/>
              <a:t>High cost </a:t>
            </a:r>
          </a:p>
          <a:p>
            <a:pPr marL="342900" indent="-342900">
              <a:buFont typeface="Arial" panose="020B0604020202020204" pitchFamily="34" charset="0"/>
              <a:buChar char="•"/>
            </a:pPr>
            <a:r>
              <a:rPr lang="en-US" sz="2000" dirty="0"/>
              <a:t>Weak fault detection </a:t>
            </a:r>
          </a:p>
          <a:p>
            <a:pPr marL="342900" indent="-342900">
              <a:buFont typeface="Arial" panose="020B0604020202020204" pitchFamily="34" charset="0"/>
              <a:buChar char="•"/>
            </a:pPr>
            <a:r>
              <a:rPr lang="en-US" sz="2000" dirty="0"/>
              <a:t>Energy inefficiency </a:t>
            </a:r>
          </a:p>
          <a:p>
            <a:pPr marL="342900" indent="-342900">
              <a:buFont typeface="Arial" panose="020B0604020202020204" pitchFamily="34" charset="0"/>
              <a:buChar char="•"/>
            </a:pPr>
            <a:r>
              <a:rPr lang="en-US" sz="2000" dirty="0"/>
              <a:t>Security issues </a:t>
            </a:r>
          </a:p>
          <a:p>
            <a:pPr marL="342900" indent="-342900">
              <a:buFont typeface="Arial" panose="020B0604020202020204" pitchFamily="34" charset="0"/>
              <a:buChar char="•"/>
            </a:pPr>
            <a:r>
              <a:rPr lang="en-US" sz="2000" dirty="0"/>
              <a:t>Frequent calibration required </a:t>
            </a:r>
          </a:p>
        </p:txBody>
      </p:sp>
      <p:sp>
        <p:nvSpPr>
          <p:cNvPr id="7" name="object 7"/>
          <p:cNvSpPr txBox="1"/>
          <p:nvPr/>
        </p:nvSpPr>
        <p:spPr>
          <a:xfrm>
            <a:off x="11629770" y="6396132"/>
            <a:ext cx="161290" cy="278281"/>
          </a:xfrm>
          <a:prstGeom prst="rect">
            <a:avLst/>
          </a:prstGeom>
        </p:spPr>
        <p:txBody>
          <a:bodyPr vert="horz" wrap="square" lIns="0" tIns="1270" rIns="0" bIns="0" rtlCol="0">
            <a:spAutoFit/>
          </a:bodyPr>
          <a:lstStyle/>
          <a:p>
            <a:pPr marL="12700">
              <a:lnSpc>
                <a:spcPct val="100000"/>
              </a:lnSpc>
              <a:spcBef>
                <a:spcPts val="10"/>
              </a:spcBef>
            </a:pPr>
            <a:r>
              <a:rPr lang="en-IN" b="1" spc="-50" dirty="0">
                <a:solidFill>
                  <a:srgbClr val="2D5395"/>
                </a:solidFill>
                <a:latin typeface="Cambria"/>
                <a:cs typeface="Cambria"/>
              </a:rPr>
              <a:t>7</a:t>
            </a:r>
            <a:endParaRPr sz="1800" dirty="0">
              <a:latin typeface="Cambria"/>
              <a:cs typeface="Cambria"/>
            </a:endParaRPr>
          </a:p>
        </p:txBody>
      </p:sp>
    </p:spTree>
    <p:extLst>
      <p:ext uri="{BB962C8B-B14F-4D97-AF65-F5344CB8AC3E}">
        <p14:creationId xmlns:p14="http://schemas.microsoft.com/office/powerpoint/2010/main" val="35629154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79070" y="151637"/>
            <a:ext cx="11780520" cy="6560820"/>
          </a:xfrm>
          <a:custGeom>
            <a:avLst/>
            <a:gdLst/>
            <a:ahLst/>
            <a:cxnLst/>
            <a:rect l="l" t="t" r="r" b="b"/>
            <a:pathLst>
              <a:path w="11780520" h="6560820">
                <a:moveTo>
                  <a:pt x="0" y="6560820"/>
                </a:moveTo>
                <a:lnTo>
                  <a:pt x="11780520" y="6560820"/>
                </a:lnTo>
                <a:lnTo>
                  <a:pt x="11780520" y="0"/>
                </a:lnTo>
                <a:lnTo>
                  <a:pt x="0" y="0"/>
                </a:lnTo>
                <a:lnTo>
                  <a:pt x="0" y="6560820"/>
                </a:lnTo>
                <a:close/>
              </a:path>
            </a:pathLst>
          </a:custGeom>
          <a:ln w="28575">
            <a:solidFill>
              <a:srgbClr val="2D5395"/>
            </a:solidFill>
          </a:ln>
        </p:spPr>
        <p:txBody>
          <a:bodyPr wrap="square" lIns="0" tIns="0" rIns="0" bIns="0" rtlCol="0"/>
          <a:lstStyle/>
          <a:p>
            <a:endParaRPr/>
          </a:p>
        </p:txBody>
      </p:sp>
      <p:pic>
        <p:nvPicPr>
          <p:cNvPr id="3" name="object 3"/>
          <p:cNvPicPr/>
          <p:nvPr/>
        </p:nvPicPr>
        <p:blipFill>
          <a:blip r:embed="rId3" cstate="print"/>
          <a:stretch>
            <a:fillRect/>
          </a:stretch>
        </p:blipFill>
        <p:spPr>
          <a:xfrm>
            <a:off x="550163" y="298704"/>
            <a:ext cx="1217676" cy="1394460"/>
          </a:xfrm>
          <a:prstGeom prst="rect">
            <a:avLst/>
          </a:prstGeom>
        </p:spPr>
      </p:pic>
      <p:sp>
        <p:nvSpPr>
          <p:cNvPr id="4" name="object 4"/>
          <p:cNvSpPr txBox="1">
            <a:spLocks noGrp="1"/>
          </p:cNvSpPr>
          <p:nvPr>
            <p:ph type="title"/>
          </p:nvPr>
        </p:nvSpPr>
        <p:spPr>
          <a:xfrm>
            <a:off x="2542794" y="428955"/>
            <a:ext cx="8964295" cy="701040"/>
          </a:xfrm>
          <a:prstGeom prst="rect">
            <a:avLst/>
          </a:prstGeom>
          <a:ln w="28575">
            <a:solidFill>
              <a:srgbClr val="2D5395"/>
            </a:solidFill>
          </a:ln>
        </p:spPr>
        <p:txBody>
          <a:bodyPr vert="horz" wrap="square" lIns="0" tIns="130175" rIns="0" bIns="0" rtlCol="0">
            <a:spAutoFit/>
          </a:bodyPr>
          <a:lstStyle/>
          <a:p>
            <a:pPr marR="97790" algn="ctr">
              <a:lnSpc>
                <a:spcPct val="100000"/>
              </a:lnSpc>
              <a:spcBef>
                <a:spcPts val="1025"/>
              </a:spcBef>
            </a:pPr>
            <a:r>
              <a:rPr dirty="0">
                <a:latin typeface="Times New Roman"/>
                <a:cs typeface="Times New Roman"/>
              </a:rPr>
              <a:t>PROP</a:t>
            </a:r>
            <a:r>
              <a:rPr dirty="0">
                <a:solidFill>
                  <a:srgbClr val="E17F3F"/>
                </a:solidFill>
                <a:latin typeface="Times New Roman"/>
                <a:cs typeface="Times New Roman"/>
              </a:rPr>
              <a:t>OS</a:t>
            </a:r>
            <a:r>
              <a:rPr dirty="0">
                <a:latin typeface="Times New Roman"/>
                <a:cs typeface="Times New Roman"/>
              </a:rPr>
              <a:t>ED</a:t>
            </a:r>
            <a:r>
              <a:rPr spc="-15" dirty="0">
                <a:latin typeface="Times New Roman"/>
                <a:cs typeface="Times New Roman"/>
              </a:rPr>
              <a:t> </a:t>
            </a:r>
            <a:r>
              <a:rPr lang="en-US" spc="-10" dirty="0">
                <a:latin typeface="Times New Roman"/>
                <a:cs typeface="Times New Roman"/>
              </a:rPr>
              <a:t>SOLUTION &amp; OBJECTIVE</a:t>
            </a:r>
            <a:endParaRPr spc="-10" dirty="0">
              <a:latin typeface="Times New Roman"/>
              <a:cs typeface="Times New Roman"/>
            </a:endParaRPr>
          </a:p>
        </p:txBody>
      </p:sp>
      <p:sp>
        <p:nvSpPr>
          <p:cNvPr id="6" name="object 6"/>
          <p:cNvSpPr txBox="1">
            <a:spLocks noGrp="1"/>
          </p:cNvSpPr>
          <p:nvPr>
            <p:ph type="sldNum" sz="quarter" idx="7"/>
          </p:nvPr>
        </p:nvSpPr>
        <p:spPr>
          <a:prstGeom prst="rect">
            <a:avLst/>
          </a:prstGeom>
        </p:spPr>
        <p:txBody>
          <a:bodyPr vert="horz" wrap="square" lIns="0" tIns="1270" rIns="0" bIns="0" rtlCol="0">
            <a:spAutoFit/>
          </a:bodyPr>
          <a:lstStyle/>
          <a:p>
            <a:pPr marL="38100">
              <a:lnSpc>
                <a:spcPct val="100000"/>
              </a:lnSpc>
              <a:spcBef>
                <a:spcPts val="10"/>
              </a:spcBef>
            </a:pPr>
            <a:fld id="{81D60167-4931-47E6-BA6A-407CBD079E47}" type="slidenum">
              <a:rPr spc="-50" dirty="0"/>
              <a:t>8</a:t>
            </a:fld>
            <a:endParaRPr spc="-50" dirty="0"/>
          </a:p>
        </p:txBody>
      </p:sp>
      <p:sp>
        <p:nvSpPr>
          <p:cNvPr id="8" name="TextBox 7">
            <a:extLst>
              <a:ext uri="{FF2B5EF4-FFF2-40B4-BE49-F238E27FC236}">
                <a16:creationId xmlns:a16="http://schemas.microsoft.com/office/drawing/2014/main" id="{A992D0A6-855D-20E9-30B8-EBA946A8E3E3}"/>
              </a:ext>
            </a:extLst>
          </p:cNvPr>
          <p:cNvSpPr txBox="1"/>
          <p:nvPr/>
        </p:nvSpPr>
        <p:spPr>
          <a:xfrm>
            <a:off x="1263204" y="1825779"/>
            <a:ext cx="9591231" cy="2862322"/>
          </a:xfrm>
          <a:prstGeom prst="rect">
            <a:avLst/>
          </a:prstGeom>
          <a:noFill/>
        </p:spPr>
        <p:txBody>
          <a:bodyPr wrap="square">
            <a:spAutoFit/>
          </a:bodyPr>
          <a:lstStyle/>
          <a:p>
            <a:r>
              <a:rPr lang="en-US" b="1" dirty="0"/>
              <a:t>Proposed Solution</a:t>
            </a:r>
          </a:p>
          <a:p>
            <a:endParaRPr lang="en-US" dirty="0"/>
          </a:p>
          <a:p>
            <a:r>
              <a:rPr lang="en-US" dirty="0"/>
              <a:t>The system collects real-time and historical data from the EV and external sources, processes it, and applies a trained machine learning model to estimate the remaining range.</a:t>
            </a:r>
            <a:endParaRPr lang="en-IN" sz="1800" b="1" dirty="0"/>
          </a:p>
          <a:p>
            <a:r>
              <a:rPr lang="en-US" sz="1800" dirty="0"/>
              <a:t>This project addresses the challenge by developing a data-driven machine learning model that considers 11 comprehensive parameters including battery state, environmental conditions, driving patterns, and vehicle load. The model learns complex non-linear relationships between these factors and provides accurate range predictions through an intuitive web interface.</a:t>
            </a:r>
            <a:endParaRPr lang="en-IN" sz="1800" dirty="0"/>
          </a:p>
          <a:p>
            <a:endParaRPr lang="en-IN" dirty="0"/>
          </a:p>
        </p:txBody>
      </p:sp>
      <p:sp>
        <p:nvSpPr>
          <p:cNvPr id="10" name="TextBox 9">
            <a:extLst>
              <a:ext uri="{FF2B5EF4-FFF2-40B4-BE49-F238E27FC236}">
                <a16:creationId xmlns:a16="http://schemas.microsoft.com/office/drawing/2014/main" id="{E25AF73E-9513-2A7D-62E1-B88C79A83865}"/>
              </a:ext>
            </a:extLst>
          </p:cNvPr>
          <p:cNvSpPr txBox="1"/>
          <p:nvPr/>
        </p:nvSpPr>
        <p:spPr>
          <a:xfrm>
            <a:off x="1285538" y="4632450"/>
            <a:ext cx="6097554" cy="2031325"/>
          </a:xfrm>
          <a:prstGeom prst="rect">
            <a:avLst/>
          </a:prstGeom>
          <a:noFill/>
        </p:spPr>
        <p:txBody>
          <a:bodyPr wrap="square">
            <a:spAutoFit/>
          </a:bodyPr>
          <a:lstStyle/>
          <a:p>
            <a:pPr>
              <a:buNone/>
            </a:pPr>
            <a:r>
              <a:rPr lang="en-US" b="1" dirty="0"/>
              <a:t>Input Parameters</a:t>
            </a:r>
          </a:p>
          <a:p>
            <a:pPr>
              <a:buNone/>
            </a:pPr>
            <a:r>
              <a:rPr lang="en-US" dirty="0"/>
              <a:t>The prediction model uses multiple influencing factors:</a:t>
            </a:r>
          </a:p>
          <a:p>
            <a:pPr>
              <a:buFont typeface="Arial" panose="020B0604020202020204" pitchFamily="34" charset="0"/>
              <a:buChar char="•"/>
            </a:pPr>
            <a:r>
              <a:rPr lang="en-US" b="1" dirty="0"/>
              <a:t>Vehicle Parameters</a:t>
            </a:r>
            <a:r>
              <a:rPr lang="en-US" dirty="0"/>
              <a:t> </a:t>
            </a:r>
          </a:p>
          <a:p>
            <a:pPr marL="742950" lvl="1" indent="-285750">
              <a:buFont typeface="Arial" panose="020B0604020202020204" pitchFamily="34" charset="0"/>
              <a:buChar char="•"/>
            </a:pPr>
            <a:r>
              <a:rPr lang="en-US" dirty="0"/>
              <a:t>Speed </a:t>
            </a:r>
          </a:p>
          <a:p>
            <a:pPr marL="742950" lvl="1" indent="-285750">
              <a:buFont typeface="Arial" panose="020B0604020202020204" pitchFamily="34" charset="0"/>
              <a:buChar char="•"/>
            </a:pPr>
            <a:r>
              <a:rPr lang="en-US" dirty="0"/>
              <a:t>weather </a:t>
            </a:r>
          </a:p>
          <a:p>
            <a:pPr marL="742950" lvl="1" indent="-285750">
              <a:buFont typeface="Arial" panose="020B0604020202020204" pitchFamily="34" charset="0"/>
              <a:buChar char="•"/>
            </a:pPr>
            <a:r>
              <a:rPr lang="en-US" dirty="0"/>
              <a:t>Traffic</a:t>
            </a:r>
          </a:p>
          <a:p>
            <a:pPr marL="742950" lvl="1" indent="-285750">
              <a:buFont typeface="Arial" panose="020B0604020202020204" pitchFamily="34" charset="0"/>
              <a:buChar char="•"/>
            </a:pPr>
            <a:r>
              <a:rPr lang="en-US" dirty="0"/>
              <a:t>Design style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DDB8E99-B4EE-22B9-DBB7-294D1CE355A8}"/>
              </a:ext>
            </a:extLst>
          </p:cNvPr>
          <p:cNvPicPr>
            <a:picLocks noChangeAspect="1"/>
          </p:cNvPicPr>
          <p:nvPr/>
        </p:nvPicPr>
        <p:blipFill>
          <a:blip r:embed="rId2"/>
          <a:stretch>
            <a:fillRect/>
          </a:stretch>
        </p:blipFill>
        <p:spPr>
          <a:xfrm>
            <a:off x="1143000" y="890120"/>
            <a:ext cx="9156984" cy="5077760"/>
          </a:xfrm>
          <a:prstGeom prst="rect">
            <a:avLst/>
          </a:prstGeom>
        </p:spPr>
      </p:pic>
      <p:sp>
        <p:nvSpPr>
          <p:cNvPr id="3" name="object 4">
            <a:extLst>
              <a:ext uri="{FF2B5EF4-FFF2-40B4-BE49-F238E27FC236}">
                <a16:creationId xmlns:a16="http://schemas.microsoft.com/office/drawing/2014/main" id="{9AFDE134-93FB-F31C-F517-44804D02BD13}"/>
              </a:ext>
            </a:extLst>
          </p:cNvPr>
          <p:cNvSpPr txBox="1">
            <a:spLocks/>
          </p:cNvSpPr>
          <p:nvPr/>
        </p:nvSpPr>
        <p:spPr>
          <a:xfrm>
            <a:off x="1143000" y="228600"/>
            <a:ext cx="8964295" cy="408445"/>
          </a:xfrm>
          <a:prstGeom prst="rect">
            <a:avLst/>
          </a:prstGeom>
          <a:ln w="28575">
            <a:solidFill>
              <a:srgbClr val="2D5395"/>
            </a:solidFill>
          </a:ln>
        </p:spPr>
        <p:txBody>
          <a:bodyPr vert="horz" wrap="square" lIns="0" tIns="130175" rIns="0" bIns="0" rtlCol="0">
            <a:spAutoFit/>
          </a:bodyPr>
          <a:lstStyle>
            <a:lvl1pPr>
              <a:defRPr>
                <a:latin typeface="+mj-lt"/>
                <a:ea typeface="+mj-ea"/>
                <a:cs typeface="+mj-cs"/>
              </a:defRPr>
            </a:lvl1pPr>
          </a:lstStyle>
          <a:p>
            <a:pPr marR="97790" algn="ctr">
              <a:spcBef>
                <a:spcPts val="1025"/>
              </a:spcBef>
            </a:pPr>
            <a:r>
              <a:rPr lang="en-IN" b="1" spc="-10" dirty="0">
                <a:solidFill>
                  <a:srgbClr val="E17F3F"/>
                </a:solidFill>
                <a:latin typeface="Times New Roman"/>
                <a:cs typeface="Times New Roman"/>
              </a:rPr>
              <a:t>SYSTEM DESIGN</a:t>
            </a:r>
          </a:p>
        </p:txBody>
      </p:sp>
    </p:spTree>
    <p:extLst>
      <p:ext uri="{BB962C8B-B14F-4D97-AF65-F5344CB8AC3E}">
        <p14:creationId xmlns:p14="http://schemas.microsoft.com/office/powerpoint/2010/main" val="13784998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55241" y="188213"/>
            <a:ext cx="9359265" cy="700192"/>
          </a:xfrm>
          <a:prstGeom prst="rect">
            <a:avLst/>
          </a:prstGeom>
          <a:ln w="28575">
            <a:solidFill>
              <a:srgbClr val="2D528F"/>
            </a:solidFill>
          </a:ln>
        </p:spPr>
        <p:txBody>
          <a:bodyPr vert="horz" wrap="square" lIns="0" tIns="144780" rIns="0" bIns="0" rtlCol="0">
            <a:spAutoFit/>
          </a:bodyPr>
          <a:lstStyle/>
          <a:p>
            <a:pPr marR="59055" algn="ctr">
              <a:lnSpc>
                <a:spcPct val="100000"/>
              </a:lnSpc>
              <a:spcBef>
                <a:spcPts val="1140"/>
              </a:spcBef>
            </a:pPr>
            <a:r>
              <a:rPr lang="en-IN" spc="265" dirty="0"/>
              <a:t>SYSTEM ARCHITECTURE</a:t>
            </a:r>
            <a:endParaRPr spc="225" dirty="0"/>
          </a:p>
        </p:txBody>
      </p:sp>
      <p:grpSp>
        <p:nvGrpSpPr>
          <p:cNvPr id="3" name="object 3"/>
          <p:cNvGrpSpPr/>
          <p:nvPr/>
        </p:nvGrpSpPr>
        <p:grpSpPr>
          <a:xfrm>
            <a:off x="106869" y="76389"/>
            <a:ext cx="11971020" cy="6706870"/>
            <a:chOff x="106869" y="76389"/>
            <a:chExt cx="11971020" cy="6706870"/>
          </a:xfrm>
        </p:grpSpPr>
        <p:sp>
          <p:nvSpPr>
            <p:cNvPr id="4" name="object 4"/>
            <p:cNvSpPr/>
            <p:nvPr/>
          </p:nvSpPr>
          <p:spPr>
            <a:xfrm>
              <a:off x="121156" y="90676"/>
              <a:ext cx="11942445" cy="6678295"/>
            </a:xfrm>
            <a:custGeom>
              <a:avLst/>
              <a:gdLst/>
              <a:ahLst/>
              <a:cxnLst/>
              <a:rect l="l" t="t" r="r" b="b"/>
              <a:pathLst>
                <a:path w="11942445" h="6678295">
                  <a:moveTo>
                    <a:pt x="0" y="6678168"/>
                  </a:moveTo>
                  <a:lnTo>
                    <a:pt x="11942064" y="6678168"/>
                  </a:lnTo>
                  <a:lnTo>
                    <a:pt x="11942064" y="0"/>
                  </a:lnTo>
                  <a:lnTo>
                    <a:pt x="0" y="0"/>
                  </a:lnTo>
                  <a:lnTo>
                    <a:pt x="0" y="6678168"/>
                  </a:lnTo>
                  <a:close/>
                </a:path>
              </a:pathLst>
            </a:custGeom>
            <a:ln w="28575">
              <a:solidFill>
                <a:srgbClr val="2D528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5" name="object 5"/>
            <p:cNvPicPr/>
            <p:nvPr/>
          </p:nvPicPr>
          <p:blipFill>
            <a:blip r:embed="rId3" cstate="print"/>
            <a:stretch>
              <a:fillRect/>
            </a:stretch>
          </p:blipFill>
          <p:spPr>
            <a:xfrm>
              <a:off x="405384" y="187452"/>
              <a:ext cx="873252" cy="1001268"/>
            </a:xfrm>
            <a:prstGeom prst="rect">
              <a:avLst/>
            </a:prstGeom>
          </p:spPr>
        </p:pic>
      </p:grpSp>
      <p:sp>
        <p:nvSpPr>
          <p:cNvPr id="6" name="object 6"/>
          <p:cNvSpPr txBox="1"/>
          <p:nvPr/>
        </p:nvSpPr>
        <p:spPr>
          <a:xfrm>
            <a:off x="838200" y="1172754"/>
            <a:ext cx="10512551" cy="5645135"/>
          </a:xfrm>
          <a:prstGeom prst="rect">
            <a:avLst/>
          </a:prstGeom>
        </p:spPr>
        <p:txBody>
          <a:bodyPr vert="horz" wrap="square" lIns="0" tIns="1270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14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System </a:t>
            </a:r>
            <a:r>
              <a:rPr kumimoji="0" lang="en-US" sz="14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Architecture </a:t>
            </a:r>
            <a:endParaRPr kumimoji="0" lang="en-IN" sz="14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a:p>
            <a:pPr marL="0" marR="0" lvl="1"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ysClr val="windowText" lastClr="000000"/>
              </a:solidFill>
              <a:effectLst/>
              <a:uLnTx/>
              <a:uFillTx/>
            </a:endParaRPr>
          </a:p>
          <a:p>
            <a:r>
              <a:rPr lang="en-IN" sz="1400" b="1" dirty="0"/>
              <a:t>Layer 1 – Input Layer</a:t>
            </a:r>
          </a:p>
          <a:p>
            <a:r>
              <a:rPr lang="en-IN" sz="1400" dirty="0"/>
              <a:t>User opens the web interface in their browser.</a:t>
            </a:r>
          </a:p>
          <a:p>
            <a:r>
              <a:rPr lang="en-IN" sz="1400" dirty="0"/>
              <a:t>User adjusts 11 vehicle parameters using sliders and dropdowns.</a:t>
            </a:r>
          </a:p>
          <a:p>
            <a:r>
              <a:rPr lang="en-IN" sz="1400" dirty="0"/>
              <a:t>Input data includes battery level, temperature, speed, weather, drive mode, and other factors.</a:t>
            </a:r>
          </a:p>
          <a:p>
            <a:br>
              <a:rPr lang="en-IN" sz="1400" dirty="0"/>
            </a:br>
            <a:endParaRPr lang="en-IN" sz="1400" dirty="0"/>
          </a:p>
          <a:p>
            <a:r>
              <a:rPr lang="en-IN" sz="1400" b="1" dirty="0"/>
              <a:t>Layer 2 – Data Processing Layer</a:t>
            </a:r>
          </a:p>
          <a:p>
            <a:r>
              <a:rPr lang="en-IN" sz="1400" dirty="0"/>
              <a:t>Web application collects all input parameters.</a:t>
            </a:r>
          </a:p>
          <a:p>
            <a:r>
              <a:rPr lang="en-IN" sz="1400" dirty="0"/>
              <a:t>Data is validated and formatted into a structured format.</a:t>
            </a:r>
          </a:p>
          <a:p>
            <a:r>
              <a:rPr lang="en-IN" sz="1400" dirty="0"/>
              <a:t>Input values are sent to the backend server via REST API.</a:t>
            </a:r>
          </a:p>
          <a:p>
            <a:br>
              <a:rPr lang="en-IN" sz="1400" dirty="0"/>
            </a:br>
            <a:endParaRPr lang="en-IN" sz="1400" dirty="0"/>
          </a:p>
          <a:p>
            <a:r>
              <a:rPr lang="en-IN" sz="1400" b="1" dirty="0"/>
              <a:t>Layer 3 – AI Processing Layer</a:t>
            </a:r>
          </a:p>
          <a:p>
            <a:r>
              <a:rPr lang="en-IN" sz="1400" dirty="0"/>
              <a:t>Machine Learning model receives the input data.</a:t>
            </a:r>
          </a:p>
          <a:p>
            <a:r>
              <a:rPr lang="en-IN" sz="1400" dirty="0"/>
              <a:t>Preprocessing pipeline normalizes numerical features and encodes categorical features.</a:t>
            </a:r>
          </a:p>
          <a:p>
            <a:r>
              <a:rPr lang="en-IN" sz="1400" dirty="0"/>
              <a:t>Gradient Boosting model (200 decision trees) </a:t>
            </a:r>
            <a:r>
              <a:rPr lang="en-IN" sz="1400" dirty="0" err="1"/>
              <a:t>analyzes</a:t>
            </a:r>
            <a:r>
              <a:rPr lang="en-IN" sz="1400" dirty="0"/>
              <a:t> all parameters.</a:t>
            </a:r>
          </a:p>
          <a:p>
            <a:r>
              <a:rPr lang="en-IN" sz="1400" dirty="0"/>
              <a:t>Model predicts the remaining driving range with 80%+ accuracy.</a:t>
            </a:r>
          </a:p>
          <a:p>
            <a:br>
              <a:rPr lang="en-IN" sz="1400" dirty="0"/>
            </a:br>
            <a:endParaRPr lang="en-IN" sz="1400" dirty="0"/>
          </a:p>
          <a:p>
            <a:r>
              <a:rPr lang="en-IN" sz="1400" b="1" dirty="0"/>
              <a:t>Layer 4 – Output Layer</a:t>
            </a:r>
          </a:p>
          <a:p>
            <a:r>
              <a:rPr lang="en-IN" sz="1400" dirty="0"/>
              <a:t>Predicted range is calculated in </a:t>
            </a:r>
            <a:r>
              <a:rPr lang="en-IN" sz="1400" dirty="0" err="1"/>
              <a:t>kilometers</a:t>
            </a:r>
            <a:r>
              <a:rPr lang="en-IN" sz="1400" dirty="0"/>
              <a:t> and miles.</a:t>
            </a:r>
          </a:p>
          <a:p>
            <a:r>
              <a:rPr lang="en-IN" sz="1400" dirty="0"/>
              <a:t>Results are sent back to the web interface.</a:t>
            </a:r>
          </a:p>
          <a:p>
            <a:r>
              <a:rPr lang="en-IN" sz="1400" dirty="0"/>
              <a:t>User sees the predicted range displayed on screen.</a:t>
            </a:r>
          </a:p>
          <a:p>
            <a:pPr marL="0" marR="0" lvl="1" indent="0" defTabSz="914400"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dirty="0">
              <a:ln>
                <a:noFill/>
              </a:ln>
              <a:solidFill>
                <a:sysClr val="windowText" lastClr="000000"/>
              </a:solidFill>
              <a:effectLst/>
              <a:uLnTx/>
              <a:uFillTx/>
            </a:endParaRPr>
          </a:p>
        </p:txBody>
      </p:sp>
      <p:sp>
        <p:nvSpPr>
          <p:cNvPr id="7" name="object 7"/>
          <p:cNvSpPr txBox="1"/>
          <p:nvPr/>
        </p:nvSpPr>
        <p:spPr>
          <a:xfrm>
            <a:off x="11629770" y="6396132"/>
            <a:ext cx="161290" cy="278281"/>
          </a:xfrm>
          <a:prstGeom prst="rect">
            <a:avLst/>
          </a:prstGeom>
        </p:spPr>
        <p:txBody>
          <a:bodyPr vert="horz" wrap="square" lIns="0" tIns="1270" rIns="0" bIns="0" rtlCol="0">
            <a:spAutoFit/>
          </a:bodyPr>
          <a:lstStyle/>
          <a:p>
            <a:pPr marL="12700" marR="0" lvl="0" indent="0" defTabSz="914400" eaLnBrk="1" fontAlgn="auto" latinLnBrk="0" hangingPunct="1">
              <a:lnSpc>
                <a:spcPct val="100000"/>
              </a:lnSpc>
              <a:spcBef>
                <a:spcPts val="10"/>
              </a:spcBef>
              <a:spcAft>
                <a:spcPts val="0"/>
              </a:spcAft>
              <a:buClrTx/>
              <a:buSzTx/>
              <a:buFontTx/>
              <a:buNone/>
              <a:tabLst/>
              <a:defRPr/>
            </a:pPr>
            <a:r>
              <a:rPr kumimoji="0" lang="en-US" sz="1800" b="1" i="0" u="none" strike="noStrike" kern="0" cap="none" spc="-50" normalizeH="0" baseline="0" noProof="0" dirty="0">
                <a:ln>
                  <a:noFill/>
                </a:ln>
                <a:solidFill>
                  <a:srgbClr val="2D5395"/>
                </a:solidFill>
                <a:effectLst/>
                <a:uLnTx/>
                <a:uFillTx/>
                <a:latin typeface="Cambria"/>
                <a:cs typeface="Cambria"/>
              </a:rPr>
              <a:t>7</a:t>
            </a:r>
            <a:endParaRPr kumimoji="0" sz="1800" b="0" i="0" u="none" strike="noStrike" kern="0" cap="none" spc="0" normalizeH="0" baseline="0" noProof="0" dirty="0">
              <a:ln>
                <a:noFill/>
              </a:ln>
              <a:solidFill>
                <a:sysClr val="windowText" lastClr="000000"/>
              </a:solidFill>
              <a:effectLst/>
              <a:uLnTx/>
              <a:uFillTx/>
              <a:latin typeface="Cambria"/>
              <a:cs typeface="Cambria"/>
            </a:endParaRPr>
          </a:p>
        </p:txBody>
      </p:sp>
    </p:spTree>
    <p:extLst>
      <p:ext uri="{BB962C8B-B14F-4D97-AF65-F5344CB8AC3E}">
        <p14:creationId xmlns:p14="http://schemas.microsoft.com/office/powerpoint/2010/main" val="20084725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C388C81-E723-DB55-34D6-936EFA6B4AA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A76E0FA-7E69-6E95-00AB-F84DE72A3DB2}"/>
              </a:ext>
            </a:extLst>
          </p:cNvPr>
          <p:cNvSpPr/>
          <p:nvPr/>
        </p:nvSpPr>
        <p:spPr>
          <a:xfrm>
            <a:off x="179070" y="151637"/>
            <a:ext cx="11780520" cy="6560820"/>
          </a:xfrm>
          <a:custGeom>
            <a:avLst/>
            <a:gdLst/>
            <a:ahLst/>
            <a:cxnLst/>
            <a:rect l="l" t="t" r="r" b="b"/>
            <a:pathLst>
              <a:path w="11780520" h="6560820">
                <a:moveTo>
                  <a:pt x="0" y="6560820"/>
                </a:moveTo>
                <a:lnTo>
                  <a:pt x="11780520" y="6560820"/>
                </a:lnTo>
                <a:lnTo>
                  <a:pt x="11780520" y="0"/>
                </a:lnTo>
                <a:lnTo>
                  <a:pt x="0" y="0"/>
                </a:lnTo>
                <a:lnTo>
                  <a:pt x="0" y="6560820"/>
                </a:lnTo>
                <a:close/>
              </a:path>
            </a:pathLst>
          </a:custGeom>
          <a:ln w="28575">
            <a:solidFill>
              <a:srgbClr val="2D5395"/>
            </a:solidFill>
          </a:ln>
        </p:spPr>
        <p:txBody>
          <a:bodyPr wrap="square" lIns="0" tIns="0" rIns="0" bIns="0" rtlCol="0"/>
          <a:lstStyle/>
          <a:p>
            <a:endParaRPr/>
          </a:p>
        </p:txBody>
      </p:sp>
      <p:pic>
        <p:nvPicPr>
          <p:cNvPr id="3" name="object 3">
            <a:extLst>
              <a:ext uri="{FF2B5EF4-FFF2-40B4-BE49-F238E27FC236}">
                <a16:creationId xmlns:a16="http://schemas.microsoft.com/office/drawing/2014/main" id="{6BC5D2C2-3AD8-D22F-3DD8-80F5BF3A7A8D}"/>
              </a:ext>
            </a:extLst>
          </p:cNvPr>
          <p:cNvPicPr/>
          <p:nvPr/>
        </p:nvPicPr>
        <p:blipFill>
          <a:blip r:embed="rId3" cstate="print"/>
          <a:stretch>
            <a:fillRect/>
          </a:stretch>
        </p:blipFill>
        <p:spPr>
          <a:xfrm>
            <a:off x="524255" y="237743"/>
            <a:ext cx="1059180" cy="1213103"/>
          </a:xfrm>
          <a:prstGeom prst="rect">
            <a:avLst/>
          </a:prstGeom>
        </p:spPr>
      </p:pic>
      <p:sp>
        <p:nvSpPr>
          <p:cNvPr id="4" name="object 4">
            <a:extLst>
              <a:ext uri="{FF2B5EF4-FFF2-40B4-BE49-F238E27FC236}">
                <a16:creationId xmlns:a16="http://schemas.microsoft.com/office/drawing/2014/main" id="{6D484D45-C34E-82E8-D4DB-BDDEB02D08EF}"/>
              </a:ext>
            </a:extLst>
          </p:cNvPr>
          <p:cNvSpPr/>
          <p:nvPr/>
        </p:nvSpPr>
        <p:spPr>
          <a:xfrm>
            <a:off x="2279142" y="276593"/>
            <a:ext cx="9363710" cy="500380"/>
          </a:xfrm>
          <a:custGeom>
            <a:avLst/>
            <a:gdLst/>
            <a:ahLst/>
            <a:cxnLst/>
            <a:rect l="l" t="t" r="r" b="b"/>
            <a:pathLst>
              <a:path w="9363710" h="500380">
                <a:moveTo>
                  <a:pt x="0" y="500138"/>
                </a:moveTo>
                <a:lnTo>
                  <a:pt x="9363710" y="500138"/>
                </a:lnTo>
                <a:lnTo>
                  <a:pt x="9363710" y="0"/>
                </a:lnTo>
                <a:lnTo>
                  <a:pt x="0" y="0"/>
                </a:lnTo>
                <a:lnTo>
                  <a:pt x="0" y="500138"/>
                </a:lnTo>
                <a:close/>
              </a:path>
            </a:pathLst>
          </a:custGeom>
          <a:ln w="28575">
            <a:solidFill>
              <a:srgbClr val="2D5395"/>
            </a:solidFill>
          </a:ln>
        </p:spPr>
        <p:txBody>
          <a:bodyPr wrap="square" lIns="0" tIns="0" rIns="0" bIns="0" rtlCol="0"/>
          <a:lstStyle/>
          <a:p>
            <a:endParaRPr/>
          </a:p>
        </p:txBody>
      </p:sp>
      <p:sp>
        <p:nvSpPr>
          <p:cNvPr id="5" name="object 5">
            <a:extLst>
              <a:ext uri="{FF2B5EF4-FFF2-40B4-BE49-F238E27FC236}">
                <a16:creationId xmlns:a16="http://schemas.microsoft.com/office/drawing/2014/main" id="{3134A971-D508-4F7A-A408-3D30705060FD}"/>
              </a:ext>
            </a:extLst>
          </p:cNvPr>
          <p:cNvSpPr txBox="1">
            <a:spLocks noGrp="1"/>
          </p:cNvSpPr>
          <p:nvPr>
            <p:ph type="title"/>
          </p:nvPr>
        </p:nvSpPr>
        <p:spPr>
          <a:xfrm>
            <a:off x="2895599" y="223792"/>
            <a:ext cx="7045580" cy="566822"/>
          </a:xfrm>
          <a:prstGeom prst="rect">
            <a:avLst/>
          </a:prstGeom>
        </p:spPr>
        <p:txBody>
          <a:bodyPr vert="horz" wrap="square" lIns="0" tIns="12700" rIns="0" bIns="0" rtlCol="0">
            <a:spAutoFit/>
          </a:bodyPr>
          <a:lstStyle/>
          <a:p>
            <a:pPr marL="2329815">
              <a:lnSpc>
                <a:spcPct val="100000"/>
              </a:lnSpc>
              <a:spcBef>
                <a:spcPts val="100"/>
              </a:spcBef>
            </a:pPr>
            <a:r>
              <a:rPr lang="en-US" spc="204" dirty="0"/>
              <a:t>FLOWCHART</a:t>
            </a:r>
            <a:endParaRPr spc="204" dirty="0"/>
          </a:p>
        </p:txBody>
      </p:sp>
      <p:sp>
        <p:nvSpPr>
          <p:cNvPr id="7" name="object 7">
            <a:extLst>
              <a:ext uri="{FF2B5EF4-FFF2-40B4-BE49-F238E27FC236}">
                <a16:creationId xmlns:a16="http://schemas.microsoft.com/office/drawing/2014/main" id="{6E48992D-B6D3-CBE8-6CBD-2164C64A1CA5}"/>
              </a:ext>
            </a:extLst>
          </p:cNvPr>
          <p:cNvSpPr txBox="1">
            <a:spLocks noGrp="1"/>
          </p:cNvSpPr>
          <p:nvPr>
            <p:ph type="sldNum" sz="quarter" idx="7"/>
          </p:nvPr>
        </p:nvSpPr>
        <p:spPr>
          <a:prstGeom prst="rect">
            <a:avLst/>
          </a:prstGeom>
        </p:spPr>
        <p:txBody>
          <a:bodyPr vert="horz" wrap="square" lIns="0" tIns="1270" rIns="0" bIns="0" rtlCol="0">
            <a:spAutoFit/>
          </a:bodyPr>
          <a:lstStyle/>
          <a:p>
            <a:pPr marL="38100">
              <a:lnSpc>
                <a:spcPct val="100000"/>
              </a:lnSpc>
              <a:spcBef>
                <a:spcPts val="10"/>
              </a:spcBef>
            </a:pPr>
            <a:fld id="{81D60167-4931-47E6-BA6A-407CBD079E47}" type="slidenum">
              <a:rPr spc="-50" dirty="0"/>
              <a:t>11</a:t>
            </a:fld>
            <a:endParaRPr spc="-50" dirty="0"/>
          </a:p>
        </p:txBody>
      </p:sp>
      <p:sp>
        <p:nvSpPr>
          <p:cNvPr id="6" name="AutoShape 2">
            <a:extLst>
              <a:ext uri="{FF2B5EF4-FFF2-40B4-BE49-F238E27FC236}">
                <a16:creationId xmlns:a16="http://schemas.microsoft.com/office/drawing/2014/main" id="{BCA70E08-929E-D7AB-F95B-9771278CDC85}"/>
              </a:ext>
            </a:extLst>
          </p:cNvPr>
          <p:cNvSpPr>
            <a:spLocks noChangeAspect="1" noChangeArrowheads="1"/>
          </p:cNvSpPr>
          <p:nvPr/>
        </p:nvSpPr>
        <p:spPr bwMode="auto">
          <a:xfrm>
            <a:off x="5943600" y="3276600"/>
            <a:ext cx="27432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9" name="Picture 8">
            <a:extLst>
              <a:ext uri="{FF2B5EF4-FFF2-40B4-BE49-F238E27FC236}">
                <a16:creationId xmlns:a16="http://schemas.microsoft.com/office/drawing/2014/main" id="{BA348E24-08D9-461C-504A-176331A1098E}"/>
              </a:ext>
            </a:extLst>
          </p:cNvPr>
          <p:cNvPicPr>
            <a:picLocks noChangeAspect="1"/>
          </p:cNvPicPr>
          <p:nvPr/>
        </p:nvPicPr>
        <p:blipFill>
          <a:blip r:embed="rId4"/>
          <a:stretch>
            <a:fillRect/>
          </a:stretch>
        </p:blipFill>
        <p:spPr>
          <a:xfrm>
            <a:off x="1676400" y="1555092"/>
            <a:ext cx="7772401" cy="4052616"/>
          </a:xfrm>
          <a:prstGeom prst="rect">
            <a:avLst/>
          </a:prstGeom>
        </p:spPr>
      </p:pic>
    </p:spTree>
    <p:extLst>
      <p:ext uri="{BB962C8B-B14F-4D97-AF65-F5344CB8AC3E}">
        <p14:creationId xmlns:p14="http://schemas.microsoft.com/office/powerpoint/2010/main" val="34780737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79070" y="151637"/>
            <a:ext cx="11780520" cy="6560820"/>
          </a:xfrm>
          <a:custGeom>
            <a:avLst/>
            <a:gdLst/>
            <a:ahLst/>
            <a:cxnLst/>
            <a:rect l="l" t="t" r="r" b="b"/>
            <a:pathLst>
              <a:path w="11780520" h="6560820">
                <a:moveTo>
                  <a:pt x="0" y="6560820"/>
                </a:moveTo>
                <a:lnTo>
                  <a:pt x="11780520" y="6560820"/>
                </a:lnTo>
                <a:lnTo>
                  <a:pt x="11780520" y="0"/>
                </a:lnTo>
                <a:lnTo>
                  <a:pt x="0" y="0"/>
                </a:lnTo>
                <a:lnTo>
                  <a:pt x="0" y="6560820"/>
                </a:lnTo>
                <a:close/>
              </a:path>
            </a:pathLst>
          </a:custGeom>
          <a:ln w="28575">
            <a:solidFill>
              <a:srgbClr val="2D5395"/>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3" name="object 3"/>
          <p:cNvPicPr/>
          <p:nvPr/>
        </p:nvPicPr>
        <p:blipFill>
          <a:blip r:embed="rId3" cstate="print"/>
          <a:stretch>
            <a:fillRect/>
          </a:stretch>
        </p:blipFill>
        <p:spPr>
          <a:xfrm>
            <a:off x="550163" y="298704"/>
            <a:ext cx="1217676" cy="1394460"/>
          </a:xfrm>
          <a:prstGeom prst="rect">
            <a:avLst/>
          </a:prstGeom>
        </p:spPr>
      </p:pic>
      <p:sp>
        <p:nvSpPr>
          <p:cNvPr id="4" name="object 4"/>
          <p:cNvSpPr txBox="1">
            <a:spLocks noGrp="1"/>
          </p:cNvSpPr>
          <p:nvPr>
            <p:ph type="title"/>
          </p:nvPr>
        </p:nvSpPr>
        <p:spPr>
          <a:xfrm>
            <a:off x="2542794" y="428955"/>
            <a:ext cx="8964295" cy="701040"/>
          </a:xfrm>
          <a:prstGeom prst="rect">
            <a:avLst/>
          </a:prstGeom>
          <a:ln w="28575">
            <a:solidFill>
              <a:srgbClr val="2D5395"/>
            </a:solidFill>
          </a:ln>
        </p:spPr>
        <p:txBody>
          <a:bodyPr vert="horz" wrap="square" lIns="0" tIns="130175" rIns="0" bIns="0" rtlCol="0">
            <a:spAutoFit/>
          </a:bodyPr>
          <a:lstStyle/>
          <a:p>
            <a:pPr marR="97790" algn="ctr">
              <a:lnSpc>
                <a:spcPct val="100000"/>
              </a:lnSpc>
              <a:spcBef>
                <a:spcPts val="1025"/>
              </a:spcBef>
            </a:pPr>
            <a:r>
              <a:rPr dirty="0">
                <a:latin typeface="Times New Roman"/>
                <a:cs typeface="Times New Roman"/>
              </a:rPr>
              <a:t>PROPOSED</a:t>
            </a:r>
            <a:r>
              <a:rPr spc="-15" dirty="0">
                <a:latin typeface="Times New Roman"/>
                <a:cs typeface="Times New Roman"/>
              </a:rPr>
              <a:t> </a:t>
            </a:r>
            <a:r>
              <a:rPr lang="en-US" spc="-10" dirty="0">
                <a:latin typeface="Times New Roman"/>
                <a:cs typeface="Times New Roman"/>
              </a:rPr>
              <a:t>SYSTEM &amp; ALGORITHM</a:t>
            </a:r>
            <a:endParaRPr spc="-10" dirty="0">
              <a:latin typeface="Times New Roman"/>
              <a:cs typeface="Times New Roman"/>
            </a:endParaRPr>
          </a:p>
        </p:txBody>
      </p:sp>
      <p:sp>
        <p:nvSpPr>
          <p:cNvPr id="6" name="object 6"/>
          <p:cNvSpPr txBox="1">
            <a:spLocks noGrp="1"/>
          </p:cNvSpPr>
          <p:nvPr>
            <p:ph type="sldNum" sz="quarter" idx="7"/>
          </p:nvPr>
        </p:nvSpPr>
        <p:spPr>
          <a:prstGeom prst="rect">
            <a:avLst/>
          </a:prstGeom>
        </p:spPr>
        <p:txBody>
          <a:bodyPr vert="horz" wrap="square" lIns="0" tIns="1270" rIns="0" bIns="0" rtlCol="0">
            <a:spAutoFit/>
          </a:bodyPr>
          <a:lstStyle/>
          <a:p>
            <a:pPr marL="38100" marR="0" lvl="0" indent="0" defTabSz="914400" eaLnBrk="1" fontAlgn="auto" latinLnBrk="0" hangingPunct="1">
              <a:lnSpc>
                <a:spcPct val="100000"/>
              </a:lnSpc>
              <a:spcBef>
                <a:spcPts val="10"/>
              </a:spcBef>
              <a:spcAft>
                <a:spcPts val="0"/>
              </a:spcAft>
              <a:buClrTx/>
              <a:buSzTx/>
              <a:buFontTx/>
              <a:buNone/>
              <a:tabLst/>
              <a:defRPr/>
            </a:pPr>
            <a:fld id="{81D60167-4931-47E6-BA6A-407CBD079E47}" type="slidenum">
              <a:rPr kumimoji="0" sz="1800" b="1" i="0" u="none" strike="noStrike" kern="0" cap="none" spc="-50" normalizeH="0" baseline="0" noProof="0" dirty="0">
                <a:ln>
                  <a:noFill/>
                </a:ln>
                <a:solidFill>
                  <a:srgbClr val="2D5395"/>
                </a:solidFill>
                <a:effectLst/>
                <a:uLnTx/>
                <a:uFillTx/>
                <a:latin typeface="Cambria"/>
              </a:rPr>
              <a:pPr marL="38100" marR="0" lvl="0" indent="0" defTabSz="914400" eaLnBrk="1" fontAlgn="auto" latinLnBrk="0" hangingPunct="1">
                <a:lnSpc>
                  <a:spcPct val="100000"/>
                </a:lnSpc>
                <a:spcBef>
                  <a:spcPts val="10"/>
                </a:spcBef>
                <a:spcAft>
                  <a:spcPts val="0"/>
                </a:spcAft>
                <a:buClrTx/>
                <a:buSzTx/>
                <a:buFontTx/>
                <a:buNone/>
                <a:tabLst/>
                <a:defRPr/>
              </a:pPr>
              <a:t>12</a:t>
            </a:fld>
            <a:endParaRPr kumimoji="0" sz="1800" b="1" i="0" u="none" strike="noStrike" kern="0" cap="none" spc="-50" normalizeH="0" baseline="0" noProof="0" dirty="0">
              <a:ln>
                <a:noFill/>
              </a:ln>
              <a:solidFill>
                <a:srgbClr val="2D5395"/>
              </a:solidFill>
              <a:effectLst/>
              <a:uLnTx/>
              <a:uFillTx/>
              <a:latin typeface="Cambria"/>
            </a:endParaRPr>
          </a:p>
        </p:txBody>
      </p:sp>
      <p:sp>
        <p:nvSpPr>
          <p:cNvPr id="5" name="TextBox 4">
            <a:extLst>
              <a:ext uri="{FF2B5EF4-FFF2-40B4-BE49-F238E27FC236}">
                <a16:creationId xmlns:a16="http://schemas.microsoft.com/office/drawing/2014/main" id="{A1372F43-BA53-B2A5-3819-3731FD2C3065}"/>
              </a:ext>
            </a:extLst>
          </p:cNvPr>
          <p:cNvSpPr txBox="1"/>
          <p:nvPr/>
        </p:nvSpPr>
        <p:spPr>
          <a:xfrm>
            <a:off x="914400" y="1905000"/>
            <a:ext cx="10521695" cy="341632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ysClr val="windowText" lastClr="000000"/>
                </a:solidFill>
                <a:effectLst/>
                <a:uLnTx/>
                <a:uFillTx/>
              </a:rPr>
              <a:t>Machine Learning Model</a:t>
            </a:r>
            <a:endParaRPr kumimoji="0" lang="en-IN" sz="1800" b="1" i="0" u="none" strike="noStrike" kern="0" cap="none" spc="0" normalizeH="0" baseline="0" noProof="0" dirty="0">
              <a:ln>
                <a:noFill/>
              </a:ln>
              <a:solidFill>
                <a:sysClr val="windowText" lastClr="0000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ysClr val="windowText" lastClr="000000"/>
                </a:solidFill>
                <a:effectLst/>
                <a:uLnTx/>
                <a:uFillTx/>
              </a:rPr>
              <a:t>Algorithm Selection</a:t>
            </a:r>
            <a:endParaRPr kumimoji="0" lang="en-IN" sz="1800" b="1" i="0" u="none" strike="noStrike" kern="0" cap="none" spc="0" normalizeH="0" baseline="0" noProof="0" dirty="0">
              <a:ln>
                <a:noFill/>
              </a:ln>
              <a:solidFill>
                <a:sysClr val="windowText" lastClr="0000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rPr>
              <a:t>The system uses a </a:t>
            </a:r>
            <a:r>
              <a:rPr kumimoji="0" lang="en-US" sz="1800" b="1" i="0" u="none" strike="noStrike" kern="0" cap="none" spc="0" normalizeH="0" baseline="0" noProof="0" dirty="0">
                <a:ln>
                  <a:noFill/>
                </a:ln>
                <a:solidFill>
                  <a:sysClr val="windowText" lastClr="000000"/>
                </a:solidFill>
                <a:effectLst/>
                <a:uLnTx/>
                <a:uFillTx/>
              </a:rPr>
              <a:t>Gradient Boosting Regressor </a:t>
            </a:r>
            <a:r>
              <a:rPr kumimoji="0" lang="en-US" sz="1800" b="0" i="0" u="none" strike="noStrike" kern="0" cap="none" spc="0" normalizeH="0" baseline="0" noProof="0" dirty="0">
                <a:ln>
                  <a:noFill/>
                </a:ln>
                <a:solidFill>
                  <a:sysClr val="windowText" lastClr="000000"/>
                </a:solidFill>
                <a:effectLst/>
                <a:uLnTx/>
                <a:uFillTx/>
              </a:rPr>
              <a:t>from scikit-learn. This algorithm was chosen for several key reasons:</a:t>
            </a:r>
            <a:br>
              <a:rPr kumimoji="0" lang="en-US" sz="1800" b="0" i="0" u="none" strike="noStrike" kern="0" cap="none" spc="0" normalizeH="0" baseline="0" noProof="0" dirty="0">
                <a:ln>
                  <a:noFill/>
                </a:ln>
                <a:solidFill>
                  <a:sysClr val="windowText" lastClr="000000"/>
                </a:solidFill>
                <a:effectLst/>
                <a:uLnTx/>
                <a:uFillTx/>
              </a:rPr>
            </a:br>
            <a:br>
              <a:rPr kumimoji="0" lang="en-US" sz="1800" b="0" i="0" u="none" strike="noStrike" kern="0" cap="none" spc="0" normalizeH="0" baseline="0" noProof="0" dirty="0">
                <a:ln>
                  <a:noFill/>
                </a:ln>
                <a:solidFill>
                  <a:sysClr val="windowText" lastClr="000000"/>
                </a:solidFill>
                <a:effectLst/>
                <a:uLnTx/>
                <a:uFillTx/>
              </a:rPr>
            </a:br>
            <a:r>
              <a:rPr kumimoji="0" lang="en-US" sz="1800" b="0" i="0" u="none" strike="noStrike" kern="0" cap="none" spc="0" normalizeH="0" baseline="0" noProof="0" dirty="0">
                <a:ln>
                  <a:noFill/>
                </a:ln>
                <a:solidFill>
                  <a:sysClr val="windowText" lastClr="000000"/>
                </a:solidFill>
                <a:effectLst/>
                <a:uLnTx/>
                <a:uFillTx/>
              </a:rPr>
              <a:t>• Handles non-linear relationships between features effectively</a:t>
            </a:r>
            <a:br>
              <a:rPr kumimoji="0" lang="en-US" sz="1800" b="0" i="0" u="none" strike="noStrike" kern="0" cap="none" spc="0" normalizeH="0" baseline="0" noProof="0" dirty="0">
                <a:ln>
                  <a:noFill/>
                </a:ln>
                <a:solidFill>
                  <a:sysClr val="windowText" lastClr="000000"/>
                </a:solidFill>
                <a:effectLst/>
                <a:uLnTx/>
                <a:uFillTx/>
              </a:rPr>
            </a:br>
            <a:r>
              <a:rPr kumimoji="0" lang="en-US" sz="1800" b="0" i="0" u="none" strike="noStrike" kern="0" cap="none" spc="0" normalizeH="0" baseline="0" noProof="0" dirty="0">
                <a:ln>
                  <a:noFill/>
                </a:ln>
                <a:solidFill>
                  <a:sysClr val="windowText" lastClr="000000"/>
                </a:solidFill>
                <a:effectLst/>
                <a:uLnTx/>
                <a:uFillTx/>
              </a:rPr>
              <a:t>• Captures complex interactions (e.g., temperature × speed effects)</a:t>
            </a:r>
            <a:br>
              <a:rPr kumimoji="0" lang="en-US" sz="1800" b="0" i="0" u="none" strike="noStrike" kern="0" cap="none" spc="0" normalizeH="0" baseline="0" noProof="0" dirty="0">
                <a:ln>
                  <a:noFill/>
                </a:ln>
                <a:solidFill>
                  <a:sysClr val="windowText" lastClr="000000"/>
                </a:solidFill>
                <a:effectLst/>
                <a:uLnTx/>
                <a:uFillTx/>
              </a:rPr>
            </a:br>
            <a:r>
              <a:rPr kumimoji="0" lang="en-US" sz="1800" b="0" i="0" u="none" strike="noStrike" kern="0" cap="none" spc="0" normalizeH="0" baseline="0" noProof="0" dirty="0">
                <a:ln>
                  <a:noFill/>
                </a:ln>
                <a:solidFill>
                  <a:sysClr val="windowText" lastClr="000000"/>
                </a:solidFill>
                <a:effectLst/>
                <a:uLnTx/>
                <a:uFillTx/>
              </a:rPr>
              <a:t>• Robust to outliers and missing data</a:t>
            </a:r>
            <a:br>
              <a:rPr kumimoji="0" lang="en-US" sz="1800" b="0" i="0" u="none" strike="noStrike" kern="0" cap="none" spc="0" normalizeH="0" baseline="0" noProof="0" dirty="0">
                <a:ln>
                  <a:noFill/>
                </a:ln>
                <a:solidFill>
                  <a:sysClr val="windowText" lastClr="000000"/>
                </a:solidFill>
                <a:effectLst/>
                <a:uLnTx/>
                <a:uFillTx/>
              </a:rPr>
            </a:br>
            <a:r>
              <a:rPr kumimoji="0" lang="en-US" sz="1800" b="0" i="0" u="none" strike="noStrike" kern="0" cap="none" spc="0" normalizeH="0" baseline="0" noProof="0" dirty="0">
                <a:ln>
                  <a:noFill/>
                </a:ln>
                <a:solidFill>
                  <a:sysClr val="windowText" lastClr="000000"/>
                </a:solidFill>
                <a:effectLst/>
                <a:uLnTx/>
                <a:uFillTx/>
              </a:rPr>
              <a:t>• Provides feature importance metrics for interpretability</a:t>
            </a:r>
            <a:br>
              <a:rPr kumimoji="0" lang="en-US" sz="1800" b="0" i="0" u="none" strike="noStrike" kern="0" cap="none" spc="0" normalizeH="0" baseline="0" noProof="0" dirty="0">
                <a:ln>
                  <a:noFill/>
                </a:ln>
                <a:solidFill>
                  <a:sysClr val="windowText" lastClr="000000"/>
                </a:solidFill>
                <a:effectLst/>
                <a:uLnTx/>
                <a:uFillTx/>
              </a:rPr>
            </a:br>
            <a:r>
              <a:rPr kumimoji="0" lang="en-US" sz="1800" b="0" i="0" u="none" strike="noStrike" kern="0" cap="none" spc="0" normalizeH="0" baseline="0" noProof="0" dirty="0">
                <a:ln>
                  <a:noFill/>
                </a:ln>
                <a:solidFill>
                  <a:sysClr val="windowText" lastClr="000000"/>
                </a:solidFill>
                <a:effectLst/>
                <a:uLnTx/>
                <a:uFillTx/>
              </a:rPr>
              <a:t>• Excellent performance on tabular data</a:t>
            </a:r>
            <a:br>
              <a:rPr kumimoji="0" lang="en-US" sz="1800" b="0" i="0" u="none" strike="noStrike" kern="0" cap="none" spc="0" normalizeH="0" baseline="0" noProof="0" dirty="0">
                <a:ln>
                  <a:noFill/>
                </a:ln>
                <a:solidFill>
                  <a:sysClr val="windowText" lastClr="000000"/>
                </a:solidFill>
                <a:effectLst/>
                <a:uLnTx/>
                <a:uFillTx/>
              </a:rPr>
            </a:br>
            <a:r>
              <a:rPr kumimoji="0" lang="en-US" sz="1800" b="0" i="0" u="none" strike="noStrike" kern="0" cap="none" spc="0" normalizeH="0" baseline="0" noProof="0" dirty="0">
                <a:ln>
                  <a:noFill/>
                </a:ln>
                <a:solidFill>
                  <a:sysClr val="windowText" lastClr="000000"/>
                </a:solidFill>
                <a:effectLst/>
                <a:uLnTx/>
                <a:uFillTx/>
              </a:rPr>
              <a:t>• No need for extensive feature scaling (though we still apply it for consistency)</a:t>
            </a:r>
            <a:endParaRPr kumimoji="0" lang="en-IN" sz="1800" b="0" i="0" u="none" strike="noStrike" kern="0" cap="none" spc="0" normalizeH="0" baseline="0" noProof="0" dirty="0">
              <a:ln>
                <a:noFill/>
              </a:ln>
              <a:solidFill>
                <a:sysClr val="windowText" lastClr="0000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dirty="0">
              <a:ln>
                <a:noFill/>
              </a:ln>
              <a:solidFill>
                <a:sysClr val="windowText" lastClr="000000"/>
              </a:solidFill>
              <a:effectLst/>
              <a:uLnTx/>
              <a:uFillTx/>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88D5570-45B5-3D4E-C91D-78856306BD6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F13DD95-5D21-3151-9628-6AC2FE57274F}"/>
              </a:ext>
            </a:extLst>
          </p:cNvPr>
          <p:cNvSpPr/>
          <p:nvPr/>
        </p:nvSpPr>
        <p:spPr>
          <a:xfrm>
            <a:off x="179070" y="151637"/>
            <a:ext cx="11780520" cy="6560820"/>
          </a:xfrm>
          <a:custGeom>
            <a:avLst/>
            <a:gdLst/>
            <a:ahLst/>
            <a:cxnLst/>
            <a:rect l="l" t="t" r="r" b="b"/>
            <a:pathLst>
              <a:path w="11780520" h="6560820">
                <a:moveTo>
                  <a:pt x="0" y="6560820"/>
                </a:moveTo>
                <a:lnTo>
                  <a:pt x="11780520" y="6560820"/>
                </a:lnTo>
                <a:lnTo>
                  <a:pt x="11780520" y="0"/>
                </a:lnTo>
                <a:lnTo>
                  <a:pt x="0" y="0"/>
                </a:lnTo>
                <a:lnTo>
                  <a:pt x="0" y="6560820"/>
                </a:lnTo>
                <a:close/>
              </a:path>
            </a:pathLst>
          </a:custGeom>
          <a:ln w="28575">
            <a:solidFill>
              <a:srgbClr val="2D5395"/>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3" name="object 3">
            <a:extLst>
              <a:ext uri="{FF2B5EF4-FFF2-40B4-BE49-F238E27FC236}">
                <a16:creationId xmlns:a16="http://schemas.microsoft.com/office/drawing/2014/main" id="{1E531889-4A6C-0A8B-7D80-D1E9A7C3BFD2}"/>
              </a:ext>
            </a:extLst>
          </p:cNvPr>
          <p:cNvPicPr/>
          <p:nvPr/>
        </p:nvPicPr>
        <p:blipFill>
          <a:blip r:embed="rId3" cstate="print"/>
          <a:stretch>
            <a:fillRect/>
          </a:stretch>
        </p:blipFill>
        <p:spPr>
          <a:xfrm>
            <a:off x="550163" y="298704"/>
            <a:ext cx="1217676" cy="1394460"/>
          </a:xfrm>
          <a:prstGeom prst="rect">
            <a:avLst/>
          </a:prstGeom>
        </p:spPr>
      </p:pic>
      <p:sp>
        <p:nvSpPr>
          <p:cNvPr id="4" name="object 4">
            <a:extLst>
              <a:ext uri="{FF2B5EF4-FFF2-40B4-BE49-F238E27FC236}">
                <a16:creationId xmlns:a16="http://schemas.microsoft.com/office/drawing/2014/main" id="{37E94103-010F-9406-2A42-DE9942FE4D0F}"/>
              </a:ext>
            </a:extLst>
          </p:cNvPr>
          <p:cNvSpPr txBox="1">
            <a:spLocks noGrp="1"/>
          </p:cNvSpPr>
          <p:nvPr>
            <p:ph type="title"/>
          </p:nvPr>
        </p:nvSpPr>
        <p:spPr>
          <a:xfrm>
            <a:off x="2542794" y="428955"/>
            <a:ext cx="8964295" cy="701040"/>
          </a:xfrm>
          <a:prstGeom prst="rect">
            <a:avLst/>
          </a:prstGeom>
          <a:ln w="28575">
            <a:solidFill>
              <a:srgbClr val="2D5395"/>
            </a:solidFill>
          </a:ln>
        </p:spPr>
        <p:txBody>
          <a:bodyPr vert="horz" wrap="square" lIns="0" tIns="130175" rIns="0" bIns="0" rtlCol="0">
            <a:spAutoFit/>
          </a:bodyPr>
          <a:lstStyle/>
          <a:p>
            <a:pPr marR="97790" algn="ctr">
              <a:lnSpc>
                <a:spcPct val="100000"/>
              </a:lnSpc>
              <a:spcBef>
                <a:spcPts val="1025"/>
              </a:spcBef>
            </a:pPr>
            <a:r>
              <a:rPr dirty="0">
                <a:latin typeface="Times New Roman"/>
                <a:cs typeface="Times New Roman"/>
              </a:rPr>
              <a:t>PROPOSED</a:t>
            </a:r>
            <a:r>
              <a:rPr spc="-15" dirty="0">
                <a:latin typeface="Times New Roman"/>
                <a:cs typeface="Times New Roman"/>
              </a:rPr>
              <a:t> </a:t>
            </a:r>
            <a:r>
              <a:rPr lang="en-US" spc="-10" dirty="0">
                <a:latin typeface="Times New Roman"/>
                <a:cs typeface="Times New Roman"/>
              </a:rPr>
              <a:t>SYSTEM &amp; ALGORITHM</a:t>
            </a:r>
            <a:endParaRPr spc="-10" dirty="0">
              <a:latin typeface="Times New Roman"/>
              <a:cs typeface="Times New Roman"/>
            </a:endParaRPr>
          </a:p>
        </p:txBody>
      </p:sp>
      <p:sp>
        <p:nvSpPr>
          <p:cNvPr id="6" name="object 6">
            <a:extLst>
              <a:ext uri="{FF2B5EF4-FFF2-40B4-BE49-F238E27FC236}">
                <a16:creationId xmlns:a16="http://schemas.microsoft.com/office/drawing/2014/main" id="{1B7977FA-C644-8A66-3B80-C92A46DC0A82}"/>
              </a:ext>
            </a:extLst>
          </p:cNvPr>
          <p:cNvSpPr txBox="1">
            <a:spLocks noGrp="1"/>
          </p:cNvSpPr>
          <p:nvPr>
            <p:ph type="sldNum" sz="quarter" idx="7"/>
          </p:nvPr>
        </p:nvSpPr>
        <p:spPr>
          <a:prstGeom prst="rect">
            <a:avLst/>
          </a:prstGeom>
        </p:spPr>
        <p:txBody>
          <a:bodyPr vert="horz" wrap="square" lIns="0" tIns="1270" rIns="0" bIns="0" rtlCol="0">
            <a:spAutoFit/>
          </a:bodyPr>
          <a:lstStyle/>
          <a:p>
            <a:pPr marL="38100" marR="0" lvl="0" indent="0" defTabSz="914400" eaLnBrk="1" fontAlgn="auto" latinLnBrk="0" hangingPunct="1">
              <a:lnSpc>
                <a:spcPct val="100000"/>
              </a:lnSpc>
              <a:spcBef>
                <a:spcPts val="10"/>
              </a:spcBef>
              <a:spcAft>
                <a:spcPts val="0"/>
              </a:spcAft>
              <a:buClrTx/>
              <a:buSzTx/>
              <a:buFontTx/>
              <a:buNone/>
              <a:tabLst/>
              <a:defRPr/>
            </a:pPr>
            <a:fld id="{81D60167-4931-47E6-BA6A-407CBD079E47}" type="slidenum">
              <a:rPr kumimoji="0" sz="1800" b="1" i="0" u="none" strike="noStrike" kern="0" cap="none" spc="-50" normalizeH="0" baseline="0" noProof="0" dirty="0">
                <a:ln>
                  <a:noFill/>
                </a:ln>
                <a:solidFill>
                  <a:srgbClr val="2D5395"/>
                </a:solidFill>
                <a:effectLst/>
                <a:uLnTx/>
                <a:uFillTx/>
                <a:latin typeface="Cambria"/>
              </a:rPr>
              <a:pPr marL="38100" marR="0" lvl="0" indent="0" defTabSz="914400" eaLnBrk="1" fontAlgn="auto" latinLnBrk="0" hangingPunct="1">
                <a:lnSpc>
                  <a:spcPct val="100000"/>
                </a:lnSpc>
                <a:spcBef>
                  <a:spcPts val="10"/>
                </a:spcBef>
                <a:spcAft>
                  <a:spcPts val="0"/>
                </a:spcAft>
                <a:buClrTx/>
                <a:buSzTx/>
                <a:buFontTx/>
                <a:buNone/>
                <a:tabLst/>
                <a:defRPr/>
              </a:pPr>
              <a:t>13</a:t>
            </a:fld>
            <a:endParaRPr kumimoji="0" sz="1800" b="1" i="0" u="none" strike="noStrike" kern="0" cap="none" spc="-50" normalizeH="0" baseline="0" noProof="0" dirty="0">
              <a:ln>
                <a:noFill/>
              </a:ln>
              <a:solidFill>
                <a:srgbClr val="2D5395"/>
              </a:solidFill>
              <a:effectLst/>
              <a:uLnTx/>
              <a:uFillTx/>
              <a:latin typeface="Cambria"/>
            </a:endParaRPr>
          </a:p>
        </p:txBody>
      </p:sp>
      <p:sp>
        <p:nvSpPr>
          <p:cNvPr id="5" name="TextBox 4">
            <a:extLst>
              <a:ext uri="{FF2B5EF4-FFF2-40B4-BE49-F238E27FC236}">
                <a16:creationId xmlns:a16="http://schemas.microsoft.com/office/drawing/2014/main" id="{75EAA4CA-AE29-FC46-1965-4EA5C169079B}"/>
              </a:ext>
            </a:extLst>
          </p:cNvPr>
          <p:cNvSpPr txBox="1"/>
          <p:nvPr/>
        </p:nvSpPr>
        <p:spPr>
          <a:xfrm>
            <a:off x="914400" y="1905000"/>
            <a:ext cx="10521695" cy="535531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ysClr val="windowText" lastClr="000000"/>
                </a:solidFill>
                <a:effectLst/>
                <a:uLnTx/>
                <a:uFillTx/>
              </a:rPr>
              <a:t>Model Hyperparameters</a:t>
            </a:r>
            <a:endParaRPr kumimoji="0" lang="en-IN" sz="1800" b="1" i="0" u="none" strike="noStrike" kern="0" cap="none" spc="0" normalizeH="0" baseline="0" noProof="0" dirty="0">
              <a:ln>
                <a:noFill/>
              </a:ln>
              <a:solidFill>
                <a:sysClr val="windowText" lastClr="0000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err="1">
                <a:ln>
                  <a:noFill/>
                </a:ln>
                <a:solidFill>
                  <a:sysClr val="windowText" lastClr="000000"/>
                </a:solidFill>
                <a:effectLst/>
                <a:uLnTx/>
                <a:uFillTx/>
              </a:rPr>
              <a:t>n_estimators</a:t>
            </a:r>
            <a:r>
              <a:rPr kumimoji="0" lang="en-US" sz="1800" b="1" i="0" u="none" strike="noStrike" kern="0" cap="none" spc="0" normalizeH="0" baseline="0" noProof="0" dirty="0">
                <a:ln>
                  <a:noFill/>
                </a:ln>
                <a:solidFill>
                  <a:sysClr val="windowText" lastClr="000000"/>
                </a:solidFill>
                <a:effectLst/>
                <a:uLnTx/>
                <a:uFillTx/>
              </a:rPr>
              <a:t>: 200</a:t>
            </a:r>
            <a:br>
              <a:rPr kumimoji="0" lang="en-US" sz="1800" b="0" i="0" u="none" strike="noStrike" kern="0" cap="none" spc="0" normalizeH="0" baseline="0" noProof="0" dirty="0">
                <a:ln>
                  <a:noFill/>
                </a:ln>
                <a:solidFill>
                  <a:sysClr val="windowText" lastClr="000000"/>
                </a:solidFill>
                <a:effectLst/>
                <a:uLnTx/>
                <a:uFillTx/>
              </a:rPr>
            </a:br>
            <a:r>
              <a:rPr kumimoji="0" lang="en-US" sz="1800" b="0" i="0" u="none" strike="noStrike" kern="0" cap="none" spc="0" normalizeH="0" baseline="0" noProof="0" dirty="0">
                <a:ln>
                  <a:noFill/>
                </a:ln>
                <a:solidFill>
                  <a:sysClr val="windowText" lastClr="000000"/>
                </a:solidFill>
                <a:effectLst/>
                <a:uLnTx/>
                <a:uFillTx/>
              </a:rPr>
              <a:t>Number of boosting stages. More trees improve accuracy but increase training time.</a:t>
            </a:r>
            <a:endParaRPr kumimoji="0" lang="en-IN" sz="1800" b="0" i="0" u="none" strike="noStrike" kern="0" cap="none" spc="0" normalizeH="0" baseline="0" noProof="0" dirty="0">
              <a:ln>
                <a:noFill/>
              </a:ln>
              <a:solidFill>
                <a:sysClr val="windowText" lastClr="0000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err="1">
                <a:ln>
                  <a:noFill/>
                </a:ln>
                <a:solidFill>
                  <a:sysClr val="windowText" lastClr="000000"/>
                </a:solidFill>
                <a:effectLst/>
                <a:uLnTx/>
                <a:uFillTx/>
              </a:rPr>
              <a:t>learning_rate</a:t>
            </a:r>
            <a:r>
              <a:rPr kumimoji="0" lang="en-US" sz="1800" b="1" i="0" u="none" strike="noStrike" kern="0" cap="none" spc="0" normalizeH="0" baseline="0" noProof="0" dirty="0">
                <a:ln>
                  <a:noFill/>
                </a:ln>
                <a:solidFill>
                  <a:sysClr val="windowText" lastClr="000000"/>
                </a:solidFill>
                <a:effectLst/>
                <a:uLnTx/>
                <a:uFillTx/>
              </a:rPr>
              <a:t>: 0.1</a:t>
            </a:r>
            <a:br>
              <a:rPr kumimoji="0" lang="en-US" sz="1800" b="0" i="0" u="none" strike="noStrike" kern="0" cap="none" spc="0" normalizeH="0" baseline="0" noProof="0" dirty="0">
                <a:ln>
                  <a:noFill/>
                </a:ln>
                <a:solidFill>
                  <a:sysClr val="windowText" lastClr="000000"/>
                </a:solidFill>
                <a:effectLst/>
                <a:uLnTx/>
                <a:uFillTx/>
              </a:rPr>
            </a:br>
            <a:r>
              <a:rPr kumimoji="0" lang="en-US" sz="1800" b="0" i="0" u="none" strike="noStrike" kern="0" cap="none" spc="0" normalizeH="0" baseline="0" noProof="0" dirty="0">
                <a:ln>
                  <a:noFill/>
                </a:ln>
                <a:solidFill>
                  <a:sysClr val="windowText" lastClr="000000"/>
                </a:solidFill>
                <a:effectLst/>
                <a:uLnTx/>
                <a:uFillTx/>
              </a:rPr>
              <a:t>Shrinks contribution of each tree. Lower values require more trees but improve generalization.</a:t>
            </a:r>
            <a:endParaRPr kumimoji="0" lang="en-IN" sz="1800" b="0" i="0" u="none" strike="noStrike" kern="0" cap="none" spc="0" normalizeH="0" baseline="0" noProof="0" dirty="0">
              <a:ln>
                <a:noFill/>
              </a:ln>
              <a:solidFill>
                <a:sysClr val="windowText" lastClr="0000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err="1">
                <a:ln>
                  <a:noFill/>
                </a:ln>
                <a:solidFill>
                  <a:sysClr val="windowText" lastClr="000000"/>
                </a:solidFill>
                <a:effectLst/>
                <a:uLnTx/>
                <a:uFillTx/>
              </a:rPr>
              <a:t>max_depth</a:t>
            </a:r>
            <a:r>
              <a:rPr kumimoji="0" lang="en-US" sz="1800" b="1" i="0" u="none" strike="noStrike" kern="0" cap="none" spc="0" normalizeH="0" baseline="0" noProof="0" dirty="0">
                <a:ln>
                  <a:noFill/>
                </a:ln>
                <a:solidFill>
                  <a:sysClr val="windowText" lastClr="000000"/>
                </a:solidFill>
                <a:effectLst/>
                <a:uLnTx/>
                <a:uFillTx/>
              </a:rPr>
              <a:t>: 5</a:t>
            </a:r>
            <a:br>
              <a:rPr kumimoji="0" lang="en-US" sz="1800" b="0" i="0" u="none" strike="noStrike" kern="0" cap="none" spc="0" normalizeH="0" baseline="0" noProof="0" dirty="0">
                <a:ln>
                  <a:noFill/>
                </a:ln>
                <a:solidFill>
                  <a:sysClr val="windowText" lastClr="000000"/>
                </a:solidFill>
                <a:effectLst/>
                <a:uLnTx/>
                <a:uFillTx/>
              </a:rPr>
            </a:br>
            <a:r>
              <a:rPr kumimoji="0" lang="en-US" sz="1800" b="0" i="0" u="none" strike="noStrike" kern="0" cap="none" spc="0" normalizeH="0" baseline="0" noProof="0" dirty="0">
                <a:ln>
                  <a:noFill/>
                </a:ln>
                <a:solidFill>
                  <a:sysClr val="windowText" lastClr="000000"/>
                </a:solidFill>
                <a:effectLst/>
                <a:uLnTx/>
                <a:uFillTx/>
              </a:rPr>
              <a:t>Maximum depth of individual trees. Controls model complexity and overfitting.</a:t>
            </a:r>
            <a:endParaRPr kumimoji="0" lang="en-IN" sz="1800" b="0" i="0" u="none" strike="noStrike" kern="0" cap="none" spc="0" normalizeH="0" baseline="0" noProof="0" dirty="0">
              <a:ln>
                <a:noFill/>
              </a:ln>
              <a:solidFill>
                <a:sysClr val="windowText" lastClr="0000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err="1">
                <a:ln>
                  <a:noFill/>
                </a:ln>
                <a:solidFill>
                  <a:sysClr val="windowText" lastClr="000000"/>
                </a:solidFill>
                <a:effectLst/>
                <a:uLnTx/>
                <a:uFillTx/>
              </a:rPr>
              <a:t>min_samples_split</a:t>
            </a:r>
            <a:r>
              <a:rPr kumimoji="0" lang="en-US" sz="1800" b="1" i="0" u="none" strike="noStrike" kern="0" cap="none" spc="0" normalizeH="0" baseline="0" noProof="0" dirty="0">
                <a:ln>
                  <a:noFill/>
                </a:ln>
                <a:solidFill>
                  <a:sysClr val="windowText" lastClr="000000"/>
                </a:solidFill>
                <a:effectLst/>
                <a:uLnTx/>
                <a:uFillTx/>
              </a:rPr>
              <a:t>: 5</a:t>
            </a:r>
            <a:br>
              <a:rPr kumimoji="0" lang="en-US" sz="1800" b="0" i="0" u="none" strike="noStrike" kern="0" cap="none" spc="0" normalizeH="0" baseline="0" noProof="0" dirty="0">
                <a:ln>
                  <a:noFill/>
                </a:ln>
                <a:solidFill>
                  <a:sysClr val="windowText" lastClr="000000"/>
                </a:solidFill>
                <a:effectLst/>
                <a:uLnTx/>
                <a:uFillTx/>
              </a:rPr>
            </a:br>
            <a:r>
              <a:rPr kumimoji="0" lang="en-US" sz="1800" b="0" i="0" u="none" strike="noStrike" kern="0" cap="none" spc="0" normalizeH="0" baseline="0" noProof="0" dirty="0">
                <a:ln>
                  <a:noFill/>
                </a:ln>
                <a:solidFill>
                  <a:sysClr val="windowText" lastClr="000000"/>
                </a:solidFill>
                <a:effectLst/>
                <a:uLnTx/>
                <a:uFillTx/>
              </a:rPr>
              <a:t>Minimum samples required to split an internal node. Prevents overfitting.</a:t>
            </a:r>
            <a:endParaRPr kumimoji="0" lang="en-IN" sz="1800" b="0" i="0" u="none" strike="noStrike" kern="0" cap="none" spc="0" normalizeH="0" baseline="0" noProof="0" dirty="0">
              <a:ln>
                <a:noFill/>
              </a:ln>
              <a:solidFill>
                <a:sysClr val="windowText" lastClr="0000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err="1">
                <a:ln>
                  <a:noFill/>
                </a:ln>
                <a:solidFill>
                  <a:sysClr val="windowText" lastClr="000000"/>
                </a:solidFill>
                <a:effectLst/>
                <a:uLnTx/>
                <a:uFillTx/>
              </a:rPr>
              <a:t>min_samples_leaf</a:t>
            </a:r>
            <a:r>
              <a:rPr kumimoji="0" lang="en-US" sz="1800" b="1" i="0" u="none" strike="noStrike" kern="0" cap="none" spc="0" normalizeH="0" baseline="0" noProof="0" dirty="0">
                <a:ln>
                  <a:noFill/>
                </a:ln>
                <a:solidFill>
                  <a:sysClr val="windowText" lastClr="000000"/>
                </a:solidFill>
                <a:effectLst/>
                <a:uLnTx/>
                <a:uFillTx/>
              </a:rPr>
              <a:t>: 2</a:t>
            </a:r>
            <a:br>
              <a:rPr kumimoji="0" lang="en-US" sz="1800" b="0" i="0" u="none" strike="noStrike" kern="0" cap="none" spc="0" normalizeH="0" baseline="0" noProof="0" dirty="0">
                <a:ln>
                  <a:noFill/>
                </a:ln>
                <a:solidFill>
                  <a:sysClr val="windowText" lastClr="000000"/>
                </a:solidFill>
                <a:effectLst/>
                <a:uLnTx/>
                <a:uFillTx/>
              </a:rPr>
            </a:br>
            <a:r>
              <a:rPr kumimoji="0" lang="en-US" sz="1800" b="0" i="0" u="none" strike="noStrike" kern="0" cap="none" spc="0" normalizeH="0" baseline="0" noProof="0" dirty="0">
                <a:ln>
                  <a:noFill/>
                </a:ln>
                <a:solidFill>
                  <a:sysClr val="windowText" lastClr="000000"/>
                </a:solidFill>
                <a:effectLst/>
                <a:uLnTx/>
                <a:uFillTx/>
              </a:rPr>
              <a:t>Minimum samples required at leaf node. Smooths predictions.</a:t>
            </a:r>
            <a:endParaRPr kumimoji="0" lang="en-IN" sz="1800" b="0" i="0" u="none" strike="noStrike" kern="0" cap="none" spc="0" normalizeH="0" baseline="0" noProof="0" dirty="0">
              <a:ln>
                <a:noFill/>
              </a:ln>
              <a:solidFill>
                <a:sysClr val="windowText" lastClr="0000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ysClr val="windowText" lastClr="000000"/>
                </a:solidFill>
                <a:effectLst/>
                <a:uLnTx/>
                <a:uFillTx/>
              </a:rPr>
              <a:t>subsample: 0.8</a:t>
            </a:r>
            <a:br>
              <a:rPr kumimoji="0" lang="en-US" sz="1800" b="0" i="0" u="none" strike="noStrike" kern="0" cap="none" spc="0" normalizeH="0" baseline="0" noProof="0" dirty="0">
                <a:ln>
                  <a:noFill/>
                </a:ln>
                <a:solidFill>
                  <a:sysClr val="windowText" lastClr="000000"/>
                </a:solidFill>
                <a:effectLst/>
                <a:uLnTx/>
                <a:uFillTx/>
              </a:rPr>
            </a:br>
            <a:r>
              <a:rPr kumimoji="0" lang="en-US" sz="1800" b="0" i="0" u="none" strike="noStrike" kern="0" cap="none" spc="0" normalizeH="0" baseline="0" noProof="0" dirty="0">
                <a:ln>
                  <a:noFill/>
                </a:ln>
                <a:solidFill>
                  <a:sysClr val="windowText" lastClr="000000"/>
                </a:solidFill>
                <a:effectLst/>
                <a:uLnTx/>
                <a:uFillTx/>
              </a:rPr>
              <a:t>Fraction of samples used for fitting trees. Adds randomness and prevents overfitting.</a:t>
            </a:r>
            <a:endParaRPr kumimoji="0" lang="en-IN" sz="1800" b="0" i="0" u="none" strike="noStrike" kern="0" cap="none" spc="0" normalizeH="0" baseline="0" noProof="0" dirty="0">
              <a:ln>
                <a:noFill/>
              </a:ln>
              <a:solidFill>
                <a:sysClr val="windowText" lastClr="0000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err="1">
                <a:ln>
                  <a:noFill/>
                </a:ln>
                <a:solidFill>
                  <a:sysClr val="windowText" lastClr="000000"/>
                </a:solidFill>
                <a:effectLst/>
                <a:uLnTx/>
                <a:uFillTx/>
              </a:rPr>
              <a:t>random_state</a:t>
            </a:r>
            <a:r>
              <a:rPr kumimoji="0" lang="en-US" sz="1800" b="1" i="0" u="none" strike="noStrike" kern="0" cap="none" spc="0" normalizeH="0" baseline="0" noProof="0" dirty="0">
                <a:ln>
                  <a:noFill/>
                </a:ln>
                <a:solidFill>
                  <a:sysClr val="windowText" lastClr="000000"/>
                </a:solidFill>
                <a:effectLst/>
                <a:uLnTx/>
                <a:uFillTx/>
              </a:rPr>
              <a:t>: 42</a:t>
            </a:r>
            <a:br>
              <a:rPr kumimoji="0" lang="en-US" sz="1800" b="0" i="0" u="none" strike="noStrike" kern="0" cap="none" spc="0" normalizeH="0" baseline="0" noProof="0" dirty="0">
                <a:ln>
                  <a:noFill/>
                </a:ln>
                <a:solidFill>
                  <a:sysClr val="windowText" lastClr="000000"/>
                </a:solidFill>
                <a:effectLst/>
                <a:uLnTx/>
                <a:uFillTx/>
              </a:rPr>
            </a:br>
            <a:r>
              <a:rPr kumimoji="0" lang="en-US" sz="1800" b="0" i="0" u="none" strike="noStrike" kern="0" cap="none" spc="0" normalizeH="0" baseline="0" noProof="0" dirty="0">
                <a:ln>
                  <a:noFill/>
                </a:ln>
                <a:solidFill>
                  <a:sysClr val="windowText" lastClr="000000"/>
                </a:solidFill>
                <a:effectLst/>
                <a:uLnTx/>
                <a:uFillTx/>
              </a:rPr>
              <a:t>Ensures reproducibility across runs.</a:t>
            </a:r>
            <a:endParaRPr kumimoji="0" lang="en-IN" sz="1800" b="0" i="0" u="none" strike="noStrike" kern="0" cap="none" spc="0" normalizeH="0" baseline="0" noProof="0" dirty="0">
              <a:ln>
                <a:noFill/>
              </a:ln>
              <a:solidFill>
                <a:sysClr val="windowText" lastClr="0000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br>
              <a:rPr kumimoji="0" lang="en-US" sz="1800" b="0" i="0" u="none" strike="noStrike" kern="0" cap="none" spc="0" normalizeH="0" baseline="0" noProof="0" dirty="0">
                <a:ln>
                  <a:noFill/>
                </a:ln>
                <a:solidFill>
                  <a:sysClr val="windowText" lastClr="000000"/>
                </a:solidFill>
                <a:effectLst/>
                <a:uLnTx/>
                <a:uFillTx/>
              </a:rPr>
            </a:br>
            <a:endParaRPr kumimoji="0" lang="en-IN" sz="1800" b="0" i="0" u="none" strike="noStrike" kern="0" cap="none" spc="0" normalizeH="0" baseline="0" noProof="0" dirty="0">
              <a:ln>
                <a:noFill/>
              </a:ln>
              <a:solidFill>
                <a:sysClr val="windowText" lastClr="0000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rPr>
              <a:t> </a:t>
            </a:r>
            <a:endParaRPr kumimoji="0" lang="en-IN" sz="1800" b="0" i="0" u="none" strike="noStrike" kern="0" cap="none" spc="0" normalizeH="0" baseline="0" noProof="0" dirty="0">
              <a:ln>
                <a:noFill/>
              </a:ln>
              <a:solidFill>
                <a:sysClr val="windowText" lastClr="0000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dirty="0">
              <a:ln>
                <a:noFill/>
              </a:ln>
              <a:solidFill>
                <a:sysClr val="windowText" lastClr="000000"/>
              </a:solidFill>
              <a:effectLst/>
              <a:uLnTx/>
              <a:uFillTx/>
            </a:endParaRPr>
          </a:p>
        </p:txBody>
      </p:sp>
    </p:spTree>
    <p:extLst>
      <p:ext uri="{BB962C8B-B14F-4D97-AF65-F5344CB8AC3E}">
        <p14:creationId xmlns:p14="http://schemas.microsoft.com/office/powerpoint/2010/main" val="34175034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FFB4E02-0D7A-97A7-9163-53458144B29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D808A62-97CD-3D7A-C15B-6A1909AFA7D4}"/>
              </a:ext>
            </a:extLst>
          </p:cNvPr>
          <p:cNvSpPr/>
          <p:nvPr/>
        </p:nvSpPr>
        <p:spPr>
          <a:xfrm>
            <a:off x="179070" y="151637"/>
            <a:ext cx="11780520" cy="6560820"/>
          </a:xfrm>
          <a:custGeom>
            <a:avLst/>
            <a:gdLst/>
            <a:ahLst/>
            <a:cxnLst/>
            <a:rect l="l" t="t" r="r" b="b"/>
            <a:pathLst>
              <a:path w="11780520" h="6560820">
                <a:moveTo>
                  <a:pt x="0" y="6560820"/>
                </a:moveTo>
                <a:lnTo>
                  <a:pt x="11780520" y="6560820"/>
                </a:lnTo>
                <a:lnTo>
                  <a:pt x="11780520" y="0"/>
                </a:lnTo>
                <a:lnTo>
                  <a:pt x="0" y="0"/>
                </a:lnTo>
                <a:lnTo>
                  <a:pt x="0" y="6560820"/>
                </a:lnTo>
                <a:close/>
              </a:path>
            </a:pathLst>
          </a:custGeom>
          <a:ln w="28575">
            <a:solidFill>
              <a:srgbClr val="2D5395"/>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3" name="object 3">
            <a:extLst>
              <a:ext uri="{FF2B5EF4-FFF2-40B4-BE49-F238E27FC236}">
                <a16:creationId xmlns:a16="http://schemas.microsoft.com/office/drawing/2014/main" id="{854F5FCD-71F0-57FF-A60C-E4744F3A2F48}"/>
              </a:ext>
            </a:extLst>
          </p:cNvPr>
          <p:cNvPicPr/>
          <p:nvPr/>
        </p:nvPicPr>
        <p:blipFill>
          <a:blip r:embed="rId3" cstate="print"/>
          <a:stretch>
            <a:fillRect/>
          </a:stretch>
        </p:blipFill>
        <p:spPr>
          <a:xfrm>
            <a:off x="550163" y="298704"/>
            <a:ext cx="1217676" cy="1394460"/>
          </a:xfrm>
          <a:prstGeom prst="rect">
            <a:avLst/>
          </a:prstGeom>
        </p:spPr>
      </p:pic>
      <p:sp>
        <p:nvSpPr>
          <p:cNvPr id="4" name="object 4">
            <a:extLst>
              <a:ext uri="{FF2B5EF4-FFF2-40B4-BE49-F238E27FC236}">
                <a16:creationId xmlns:a16="http://schemas.microsoft.com/office/drawing/2014/main" id="{3BA6C7A9-7BEE-87F9-E2E1-496AC16D8A91}"/>
              </a:ext>
            </a:extLst>
          </p:cNvPr>
          <p:cNvSpPr txBox="1">
            <a:spLocks noGrp="1"/>
          </p:cNvSpPr>
          <p:nvPr>
            <p:ph type="title"/>
          </p:nvPr>
        </p:nvSpPr>
        <p:spPr>
          <a:xfrm>
            <a:off x="2542794" y="428955"/>
            <a:ext cx="8964295" cy="701040"/>
          </a:xfrm>
          <a:prstGeom prst="rect">
            <a:avLst/>
          </a:prstGeom>
          <a:ln w="28575">
            <a:solidFill>
              <a:srgbClr val="2D5395"/>
            </a:solidFill>
          </a:ln>
        </p:spPr>
        <p:txBody>
          <a:bodyPr vert="horz" wrap="square" lIns="0" tIns="130175" rIns="0" bIns="0" rtlCol="0">
            <a:spAutoFit/>
          </a:bodyPr>
          <a:lstStyle/>
          <a:p>
            <a:pPr marR="97790" algn="ctr">
              <a:lnSpc>
                <a:spcPct val="100000"/>
              </a:lnSpc>
              <a:spcBef>
                <a:spcPts val="1025"/>
              </a:spcBef>
            </a:pPr>
            <a:r>
              <a:rPr dirty="0">
                <a:latin typeface="Times New Roman"/>
                <a:cs typeface="Times New Roman"/>
              </a:rPr>
              <a:t>PROPOSED</a:t>
            </a:r>
            <a:r>
              <a:rPr spc="-15" dirty="0">
                <a:latin typeface="Times New Roman"/>
                <a:cs typeface="Times New Roman"/>
              </a:rPr>
              <a:t> </a:t>
            </a:r>
            <a:r>
              <a:rPr lang="en-US" spc="-10" dirty="0">
                <a:latin typeface="Times New Roman"/>
                <a:cs typeface="Times New Roman"/>
              </a:rPr>
              <a:t>SYSTEM &amp; ALGORITHM</a:t>
            </a:r>
            <a:endParaRPr spc="-10" dirty="0">
              <a:latin typeface="Times New Roman"/>
              <a:cs typeface="Times New Roman"/>
            </a:endParaRPr>
          </a:p>
        </p:txBody>
      </p:sp>
      <p:sp>
        <p:nvSpPr>
          <p:cNvPr id="6" name="object 6">
            <a:extLst>
              <a:ext uri="{FF2B5EF4-FFF2-40B4-BE49-F238E27FC236}">
                <a16:creationId xmlns:a16="http://schemas.microsoft.com/office/drawing/2014/main" id="{6CA2D353-91B9-C087-485D-5E16B5ABA0F3}"/>
              </a:ext>
            </a:extLst>
          </p:cNvPr>
          <p:cNvSpPr txBox="1">
            <a:spLocks noGrp="1"/>
          </p:cNvSpPr>
          <p:nvPr>
            <p:ph type="sldNum" sz="quarter" idx="7"/>
          </p:nvPr>
        </p:nvSpPr>
        <p:spPr>
          <a:prstGeom prst="rect">
            <a:avLst/>
          </a:prstGeom>
        </p:spPr>
        <p:txBody>
          <a:bodyPr vert="horz" wrap="square" lIns="0" tIns="1270" rIns="0" bIns="0" rtlCol="0">
            <a:spAutoFit/>
          </a:bodyPr>
          <a:lstStyle/>
          <a:p>
            <a:pPr marL="38100" marR="0" lvl="0" indent="0" defTabSz="914400" eaLnBrk="1" fontAlgn="auto" latinLnBrk="0" hangingPunct="1">
              <a:lnSpc>
                <a:spcPct val="100000"/>
              </a:lnSpc>
              <a:spcBef>
                <a:spcPts val="10"/>
              </a:spcBef>
              <a:spcAft>
                <a:spcPts val="0"/>
              </a:spcAft>
              <a:buClrTx/>
              <a:buSzTx/>
              <a:buFontTx/>
              <a:buNone/>
              <a:tabLst/>
              <a:defRPr/>
            </a:pPr>
            <a:fld id="{81D60167-4931-47E6-BA6A-407CBD079E47}" type="slidenum">
              <a:rPr kumimoji="0" sz="1800" b="1" i="0" u="none" strike="noStrike" kern="0" cap="none" spc="-50" normalizeH="0" baseline="0" noProof="0" dirty="0">
                <a:ln>
                  <a:noFill/>
                </a:ln>
                <a:solidFill>
                  <a:srgbClr val="2D5395"/>
                </a:solidFill>
                <a:effectLst/>
                <a:uLnTx/>
                <a:uFillTx/>
                <a:latin typeface="Cambria"/>
              </a:rPr>
              <a:pPr marL="38100" marR="0" lvl="0" indent="0" defTabSz="914400" eaLnBrk="1" fontAlgn="auto" latinLnBrk="0" hangingPunct="1">
                <a:lnSpc>
                  <a:spcPct val="100000"/>
                </a:lnSpc>
                <a:spcBef>
                  <a:spcPts val="10"/>
                </a:spcBef>
                <a:spcAft>
                  <a:spcPts val="0"/>
                </a:spcAft>
                <a:buClrTx/>
                <a:buSzTx/>
                <a:buFontTx/>
                <a:buNone/>
                <a:tabLst/>
                <a:defRPr/>
              </a:pPr>
              <a:t>14</a:t>
            </a:fld>
            <a:endParaRPr kumimoji="0" sz="1800" b="1" i="0" u="none" strike="noStrike" kern="0" cap="none" spc="-50" normalizeH="0" baseline="0" noProof="0" dirty="0">
              <a:ln>
                <a:noFill/>
              </a:ln>
              <a:solidFill>
                <a:srgbClr val="2D5395"/>
              </a:solidFill>
              <a:effectLst/>
              <a:uLnTx/>
              <a:uFillTx/>
              <a:latin typeface="Cambria"/>
            </a:endParaRPr>
          </a:p>
        </p:txBody>
      </p:sp>
      <p:sp>
        <p:nvSpPr>
          <p:cNvPr id="5" name="TextBox 4">
            <a:extLst>
              <a:ext uri="{FF2B5EF4-FFF2-40B4-BE49-F238E27FC236}">
                <a16:creationId xmlns:a16="http://schemas.microsoft.com/office/drawing/2014/main" id="{93749A5C-EECF-ADEF-6042-85A80A2B2CCC}"/>
              </a:ext>
            </a:extLst>
          </p:cNvPr>
          <p:cNvSpPr txBox="1"/>
          <p:nvPr/>
        </p:nvSpPr>
        <p:spPr>
          <a:xfrm>
            <a:off x="914400" y="1905000"/>
            <a:ext cx="10521695" cy="535531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ysClr val="windowText" lastClr="000000"/>
                </a:solidFill>
                <a:effectLst/>
                <a:uLnTx/>
                <a:uFillTx/>
              </a:rPr>
              <a:t>Feature Engineering</a:t>
            </a:r>
            <a:endParaRPr kumimoji="0" lang="en-IN" sz="1800" b="1" i="0" u="none" strike="noStrike" kern="0" cap="none" spc="0" normalizeH="0" baseline="0" noProof="0" dirty="0">
              <a:ln>
                <a:noFill/>
              </a:ln>
              <a:solidFill>
                <a:sysClr val="windowText" lastClr="0000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rPr>
              <a:t>The model uses a preprocessing pipeline that handles both numerical and categorical features:</a:t>
            </a:r>
            <a:br>
              <a:rPr kumimoji="0" lang="en-US" sz="1800" b="0" i="0" u="none" strike="noStrike" kern="0" cap="none" spc="0" normalizeH="0" baseline="0" noProof="0" dirty="0">
                <a:ln>
                  <a:noFill/>
                </a:ln>
                <a:solidFill>
                  <a:sysClr val="windowText" lastClr="000000"/>
                </a:solidFill>
                <a:effectLst/>
                <a:uLnTx/>
                <a:uFillTx/>
              </a:rPr>
            </a:br>
            <a:endParaRPr kumimoji="0" lang="en-IN" sz="1800" b="0" i="0" u="none" strike="noStrike" kern="0" cap="none" spc="0" normalizeH="0" baseline="0" noProof="0" dirty="0">
              <a:ln>
                <a:noFill/>
              </a:ln>
              <a:solidFill>
                <a:sysClr val="windowText" lastClr="0000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ysClr val="windowText" lastClr="000000"/>
                </a:solidFill>
                <a:effectLst/>
                <a:uLnTx/>
                <a:uFillTx/>
              </a:rPr>
              <a:t>Numerical Features (8 total):</a:t>
            </a:r>
            <a:br>
              <a:rPr kumimoji="0" lang="en-US" sz="1800" b="1" i="0" u="none" strike="noStrike" kern="0" cap="none" spc="0" normalizeH="0" baseline="0" noProof="0" dirty="0">
                <a:ln>
                  <a:noFill/>
                </a:ln>
                <a:solidFill>
                  <a:sysClr val="windowText" lastClr="000000"/>
                </a:solidFill>
                <a:effectLst/>
                <a:uLnTx/>
                <a:uFillTx/>
              </a:rPr>
            </a:br>
            <a:r>
              <a:rPr kumimoji="0" lang="en-US" sz="1800" b="0" i="0" u="none" strike="noStrike" kern="0" cap="none" spc="0" normalizeH="0" baseline="0" noProof="0" dirty="0">
                <a:ln>
                  <a:noFill/>
                </a:ln>
                <a:solidFill>
                  <a:sysClr val="windowText" lastClr="000000"/>
                </a:solidFill>
                <a:effectLst/>
                <a:uLnTx/>
                <a:uFillTx/>
              </a:rPr>
              <a:t>Standardized using </a:t>
            </a:r>
            <a:r>
              <a:rPr kumimoji="0" lang="en-US" sz="1800" b="0" i="0" u="none" strike="noStrike" kern="0" cap="none" spc="0" normalizeH="0" baseline="0" noProof="0" dirty="0" err="1">
                <a:ln>
                  <a:noFill/>
                </a:ln>
                <a:solidFill>
                  <a:sysClr val="windowText" lastClr="000000"/>
                </a:solidFill>
                <a:effectLst/>
                <a:uLnTx/>
                <a:uFillTx/>
              </a:rPr>
              <a:t>StandardScaler</a:t>
            </a:r>
            <a:r>
              <a:rPr kumimoji="0" lang="en-US" sz="1800" b="0" i="0" u="none" strike="noStrike" kern="0" cap="none" spc="0" normalizeH="0" baseline="0" noProof="0" dirty="0">
                <a:ln>
                  <a:noFill/>
                </a:ln>
                <a:solidFill>
                  <a:sysClr val="windowText" lastClr="000000"/>
                </a:solidFill>
                <a:effectLst/>
                <a:uLnTx/>
                <a:uFillTx/>
              </a:rPr>
              <a:t> to have mean=0 and std=1. This ensures all features contribute equally to the model and improves convergence.</a:t>
            </a:r>
            <a:endParaRPr kumimoji="0" lang="en-IN" sz="1800" b="0" i="0" u="none" strike="noStrike" kern="0" cap="none" spc="0" normalizeH="0" baseline="0" noProof="0" dirty="0">
              <a:ln>
                <a:noFill/>
              </a:ln>
              <a:solidFill>
                <a:sysClr val="windowText" lastClr="0000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ysClr val="windowText" lastClr="000000"/>
                </a:solidFill>
                <a:effectLst/>
                <a:uLnTx/>
                <a:uFillTx/>
              </a:rPr>
              <a:t>Categorical Features (3 total):</a:t>
            </a:r>
            <a:br>
              <a:rPr kumimoji="0" lang="en-US" sz="1800" b="1" i="0" u="none" strike="noStrike" kern="0" cap="none" spc="0" normalizeH="0" baseline="0" noProof="0" dirty="0">
                <a:ln>
                  <a:noFill/>
                </a:ln>
                <a:solidFill>
                  <a:sysClr val="windowText" lastClr="000000"/>
                </a:solidFill>
                <a:effectLst/>
                <a:uLnTx/>
                <a:uFillTx/>
              </a:rPr>
            </a:br>
            <a:r>
              <a:rPr kumimoji="0" lang="en-US" sz="1800" b="0" i="0" u="none" strike="noStrike" kern="0" cap="none" spc="0" normalizeH="0" baseline="0" noProof="0" dirty="0">
                <a:ln>
                  <a:noFill/>
                </a:ln>
                <a:solidFill>
                  <a:sysClr val="windowText" lastClr="000000"/>
                </a:solidFill>
                <a:effectLst/>
                <a:uLnTx/>
                <a:uFillTx/>
              </a:rPr>
              <a:t>Encoded using </a:t>
            </a:r>
            <a:r>
              <a:rPr kumimoji="0" lang="en-US" sz="1800" b="0" i="0" u="none" strike="noStrike" kern="0" cap="none" spc="0" normalizeH="0" baseline="0" noProof="0" dirty="0" err="1">
                <a:ln>
                  <a:noFill/>
                </a:ln>
                <a:solidFill>
                  <a:sysClr val="windowText" lastClr="000000"/>
                </a:solidFill>
                <a:effectLst/>
                <a:uLnTx/>
                <a:uFillTx/>
              </a:rPr>
              <a:t>OneHotEncoder</a:t>
            </a:r>
            <a:r>
              <a:rPr kumimoji="0" lang="en-US" sz="1800" b="0" i="0" u="none" strike="noStrike" kern="0" cap="none" spc="0" normalizeH="0" baseline="0" noProof="0" dirty="0">
                <a:ln>
                  <a:noFill/>
                </a:ln>
                <a:solidFill>
                  <a:sysClr val="windowText" lastClr="000000"/>
                </a:solidFill>
                <a:effectLst/>
                <a:uLnTx/>
                <a:uFillTx/>
              </a:rPr>
              <a:t>, creating binary columns for each category. The encoder handles unknown categories gracefully during prediction.</a:t>
            </a:r>
            <a:endParaRPr kumimoji="0" lang="en-IN" sz="1800" b="0" i="0" u="none" strike="noStrike" kern="0" cap="none" spc="0" normalizeH="0" baseline="0" noProof="0" dirty="0">
              <a:ln>
                <a:noFill/>
              </a:ln>
              <a:solidFill>
                <a:sysClr val="windowText" lastClr="0000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dirty="0">
              <a:ln>
                <a:noFill/>
              </a:ln>
              <a:solidFill>
                <a:sysClr val="windowText" lastClr="0000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ysClr val="windowText" lastClr="000000"/>
                </a:solidFill>
                <a:effectLst/>
                <a:uLnTx/>
                <a:uFillTx/>
              </a:rPr>
              <a:t>Training Process</a:t>
            </a:r>
            <a:endParaRPr kumimoji="0" lang="en-IN" sz="1800" b="1" i="0" u="none" strike="noStrike" kern="0" cap="none" spc="0" normalizeH="0" baseline="0" noProof="0" dirty="0">
              <a:ln>
                <a:noFill/>
              </a:ln>
              <a:solidFill>
                <a:sysClr val="windowText" lastClr="0000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rPr>
              <a:t>Data is split into 80% training and 20% test sets using </a:t>
            </a:r>
            <a:r>
              <a:rPr kumimoji="0" lang="en-US" sz="1800" b="0" i="0" u="none" strike="noStrike" kern="0" cap="none" spc="0" normalizeH="0" baseline="0" noProof="0" dirty="0" err="1">
                <a:ln>
                  <a:noFill/>
                </a:ln>
                <a:solidFill>
                  <a:sysClr val="windowText" lastClr="000000"/>
                </a:solidFill>
                <a:effectLst/>
                <a:uLnTx/>
                <a:uFillTx/>
              </a:rPr>
              <a:t>train_test_split</a:t>
            </a:r>
            <a:endParaRPr kumimoji="0" lang="en-IN" sz="1800" b="0" i="0" u="none" strike="noStrike" kern="0" cap="none" spc="0" normalizeH="0" baseline="0" noProof="0" dirty="0">
              <a:ln>
                <a:noFill/>
              </a:ln>
              <a:solidFill>
                <a:sysClr val="windowText" lastClr="0000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rPr>
              <a:t>Preprocessing pipeline is fitted on training data only (prevents data leakage)</a:t>
            </a:r>
            <a:endParaRPr kumimoji="0" lang="en-IN" sz="1800" b="0" i="0" u="none" strike="noStrike" kern="0" cap="none" spc="0" normalizeH="0" baseline="0" noProof="0" dirty="0">
              <a:ln>
                <a:noFill/>
              </a:ln>
              <a:solidFill>
                <a:sysClr val="windowText" lastClr="0000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rPr>
              <a:t>Gradient Boosting builds trees sequentially, each correcting errors of previous trees</a:t>
            </a:r>
            <a:endParaRPr kumimoji="0" lang="en-IN" sz="1800" b="0" i="0" u="none" strike="noStrike" kern="0" cap="none" spc="0" normalizeH="0" baseline="0" noProof="0" dirty="0">
              <a:ln>
                <a:noFill/>
              </a:ln>
              <a:solidFill>
                <a:sysClr val="windowText" lastClr="0000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rPr>
              <a:t>Training takes approximately 10-30 seconds on modern hardware</a:t>
            </a:r>
            <a:endParaRPr kumimoji="0" lang="en-IN" sz="1800" b="0" i="0" u="none" strike="noStrike" kern="0" cap="none" spc="0" normalizeH="0" baseline="0" noProof="0" dirty="0">
              <a:ln>
                <a:noFill/>
              </a:ln>
              <a:solidFill>
                <a:sysClr val="windowText" lastClr="0000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rPr>
              <a:t>Model and preprocessing pipeline are saved together for consistent inference</a:t>
            </a:r>
            <a:endParaRPr kumimoji="0" lang="en-IN" sz="1800" b="0" i="0" u="none" strike="noStrike" kern="0" cap="none" spc="0" normalizeH="0" baseline="0" noProof="0" dirty="0">
              <a:ln>
                <a:noFill/>
              </a:ln>
              <a:solidFill>
                <a:sysClr val="windowText" lastClr="0000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dirty="0">
              <a:ln>
                <a:noFill/>
              </a:ln>
              <a:solidFill>
                <a:sysClr val="windowText" lastClr="0000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rPr>
              <a:t> </a:t>
            </a:r>
            <a:endParaRPr kumimoji="0" lang="en-IN" sz="1800" b="0" i="0" u="none" strike="noStrike" kern="0" cap="none" spc="0" normalizeH="0" baseline="0" noProof="0" dirty="0">
              <a:ln>
                <a:noFill/>
              </a:ln>
              <a:solidFill>
                <a:sysClr val="windowText" lastClr="0000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dirty="0">
              <a:ln>
                <a:noFill/>
              </a:ln>
              <a:solidFill>
                <a:sysClr val="windowText" lastClr="000000"/>
              </a:solidFill>
              <a:effectLst/>
              <a:uLnTx/>
              <a:uFillTx/>
            </a:endParaRPr>
          </a:p>
        </p:txBody>
      </p:sp>
    </p:spTree>
    <p:extLst>
      <p:ext uri="{BB962C8B-B14F-4D97-AF65-F5344CB8AC3E}">
        <p14:creationId xmlns:p14="http://schemas.microsoft.com/office/powerpoint/2010/main" val="6237492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55241" y="188213"/>
            <a:ext cx="9359265" cy="700192"/>
          </a:xfrm>
          <a:prstGeom prst="rect">
            <a:avLst/>
          </a:prstGeom>
          <a:ln w="28575">
            <a:solidFill>
              <a:srgbClr val="2D528F"/>
            </a:solidFill>
          </a:ln>
        </p:spPr>
        <p:txBody>
          <a:bodyPr vert="horz" wrap="square" lIns="0" tIns="144780" rIns="0" bIns="0" rtlCol="0">
            <a:spAutoFit/>
          </a:bodyPr>
          <a:lstStyle/>
          <a:p>
            <a:pPr marR="59055" algn="ctr">
              <a:lnSpc>
                <a:spcPct val="100000"/>
              </a:lnSpc>
              <a:spcBef>
                <a:spcPts val="1140"/>
              </a:spcBef>
            </a:pPr>
            <a:r>
              <a:rPr lang="en-IN" spc="265" dirty="0"/>
              <a:t>PROJECT PROGRESS</a:t>
            </a:r>
            <a:endParaRPr spc="225" dirty="0"/>
          </a:p>
        </p:txBody>
      </p:sp>
      <p:grpSp>
        <p:nvGrpSpPr>
          <p:cNvPr id="3" name="object 3"/>
          <p:cNvGrpSpPr/>
          <p:nvPr/>
        </p:nvGrpSpPr>
        <p:grpSpPr>
          <a:xfrm>
            <a:off x="106869" y="76389"/>
            <a:ext cx="11971020" cy="6706870"/>
            <a:chOff x="106869" y="76389"/>
            <a:chExt cx="11971020" cy="6706870"/>
          </a:xfrm>
        </p:grpSpPr>
        <p:sp>
          <p:nvSpPr>
            <p:cNvPr id="4" name="object 4"/>
            <p:cNvSpPr/>
            <p:nvPr/>
          </p:nvSpPr>
          <p:spPr>
            <a:xfrm>
              <a:off x="121156" y="90676"/>
              <a:ext cx="11942445" cy="6678295"/>
            </a:xfrm>
            <a:custGeom>
              <a:avLst/>
              <a:gdLst/>
              <a:ahLst/>
              <a:cxnLst/>
              <a:rect l="l" t="t" r="r" b="b"/>
              <a:pathLst>
                <a:path w="11942445" h="6678295">
                  <a:moveTo>
                    <a:pt x="0" y="6678168"/>
                  </a:moveTo>
                  <a:lnTo>
                    <a:pt x="11942064" y="6678168"/>
                  </a:lnTo>
                  <a:lnTo>
                    <a:pt x="11942064" y="0"/>
                  </a:lnTo>
                  <a:lnTo>
                    <a:pt x="0" y="0"/>
                  </a:lnTo>
                  <a:lnTo>
                    <a:pt x="0" y="6678168"/>
                  </a:lnTo>
                  <a:close/>
                </a:path>
              </a:pathLst>
            </a:custGeom>
            <a:ln w="28575">
              <a:solidFill>
                <a:srgbClr val="2D528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5" name="object 5"/>
            <p:cNvPicPr/>
            <p:nvPr/>
          </p:nvPicPr>
          <p:blipFill>
            <a:blip r:embed="rId3" cstate="print"/>
            <a:stretch>
              <a:fillRect/>
            </a:stretch>
          </p:blipFill>
          <p:spPr>
            <a:xfrm>
              <a:off x="405384" y="187452"/>
              <a:ext cx="873252" cy="1001268"/>
            </a:xfrm>
            <a:prstGeom prst="rect">
              <a:avLst/>
            </a:prstGeom>
          </p:spPr>
        </p:pic>
      </p:grpSp>
      <p:sp>
        <p:nvSpPr>
          <p:cNvPr id="6" name="object 6"/>
          <p:cNvSpPr txBox="1"/>
          <p:nvPr/>
        </p:nvSpPr>
        <p:spPr>
          <a:xfrm>
            <a:off x="916240" y="1188720"/>
            <a:ext cx="10352276" cy="4975721"/>
          </a:xfrm>
          <a:prstGeom prst="rect">
            <a:avLst/>
          </a:prstGeom>
        </p:spPr>
        <p:txBody>
          <a:bodyPr vert="horz" wrap="square" lIns="0" tIns="1270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1600" b="1" i="0" u="none" strike="noStrike" kern="0" cap="none" spc="0" normalizeH="0" baseline="0" noProof="0" dirty="0">
                <a:ln>
                  <a:noFill/>
                </a:ln>
                <a:solidFill>
                  <a:sysClr val="windowText" lastClr="000000"/>
                </a:solidFill>
                <a:effectLst/>
                <a:uLnTx/>
                <a:uFillTx/>
              </a:rPr>
              <a:t>Progress Achieved</a:t>
            </a:r>
            <a:endParaRPr kumimoji="0" lang="en-US" sz="700" b="0" i="0" u="none" strike="noStrike" kern="0" cap="none" spc="0" normalizeH="0" baseline="0" noProof="0" dirty="0">
              <a:ln>
                <a:noFill/>
              </a:ln>
              <a:solidFill>
                <a:sysClr val="windowText" lastClr="0000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sysClr val="windowText" lastClr="000000"/>
                </a:solidFill>
                <a:effectLst/>
                <a:uLnTx/>
                <a:uFillTx/>
              </a:rPr>
              <a:t>Work Completed So Far</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1" i="0" u="none" strike="noStrike" kern="0" cap="none" spc="0" normalizeH="0" baseline="0" noProof="0" dirty="0">
              <a:ln>
                <a:noFill/>
              </a:ln>
              <a:solidFill>
                <a:sysClr val="windowText" lastClr="000000"/>
              </a:solidFill>
              <a:effectLst/>
              <a:uLnTx/>
              <a:uFillTx/>
            </a:endParaRPr>
          </a:p>
          <a:p>
            <a:pPr marL="285750" marR="0" lvl="0" indent="-285750" algn="l"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400" b="1" i="0" u="none" strike="noStrike" kern="0" cap="none" spc="0" normalizeH="0" baseline="0" noProof="0" dirty="0">
                <a:ln>
                  <a:noFill/>
                </a:ln>
                <a:solidFill>
                  <a:sysClr val="windowText" lastClr="000000"/>
                </a:solidFill>
                <a:effectLst/>
                <a:uLnTx/>
                <a:uFillTx/>
              </a:rPr>
              <a:t>Literature Survey </a:t>
            </a:r>
            <a:r>
              <a:rPr kumimoji="0" lang="en-US" sz="1400" b="1" i="0" u="none" strike="noStrike" kern="0" cap="none" spc="0" normalizeH="0" baseline="0" noProof="0" dirty="0">
                <a:ln>
                  <a:noFill/>
                </a:ln>
                <a:solidFill>
                  <a:srgbClr val="00B050"/>
                </a:solidFill>
                <a:effectLst/>
                <a:uLnTx/>
                <a:uFillTx/>
              </a:rPr>
              <a:t>Completed</a:t>
            </a:r>
            <a:br>
              <a:rPr kumimoji="0" lang="en-US" sz="1600" b="0" i="0" u="none" strike="noStrike" kern="0" cap="none" spc="0" normalizeH="0" baseline="0" noProof="0" dirty="0">
                <a:ln>
                  <a:noFill/>
                </a:ln>
                <a:solidFill>
                  <a:sysClr val="windowText" lastClr="000000"/>
                </a:solidFill>
                <a:effectLst/>
                <a:uLnTx/>
                <a:uFillTx/>
              </a:rPr>
            </a:br>
            <a:r>
              <a:rPr kumimoji="0" lang="en-US" sz="1200" b="0" i="0" u="none" strike="noStrike" kern="0" cap="none" spc="0" normalizeH="0" baseline="0" noProof="0" dirty="0">
                <a:ln>
                  <a:noFill/>
                </a:ln>
                <a:solidFill>
                  <a:sysClr val="windowText" lastClr="000000"/>
                </a:solidFill>
                <a:effectLst/>
                <a:uLnTx/>
                <a:uFillTx/>
              </a:rPr>
              <a:t>Recent research papers on car </a:t>
            </a:r>
            <a:r>
              <a:rPr kumimoji="0" lang="en-US" sz="1200" b="0" i="0" u="none" strike="noStrike" kern="0" cap="none" spc="0" normalizeH="0" baseline="0" noProof="0" dirty="0" err="1">
                <a:ln>
                  <a:noFill/>
                </a:ln>
                <a:solidFill>
                  <a:sysClr val="windowText" lastClr="000000"/>
                </a:solidFill>
                <a:effectLst/>
                <a:uLnTx/>
                <a:uFillTx/>
              </a:rPr>
              <a:t>ev</a:t>
            </a:r>
            <a:r>
              <a:rPr kumimoji="0" lang="en-US" sz="1200" b="0" i="0" u="none" strike="noStrike" kern="0" cap="none" spc="0" normalizeH="0" baseline="0" noProof="0" dirty="0">
                <a:ln>
                  <a:noFill/>
                </a:ln>
                <a:solidFill>
                  <a:sysClr val="windowText" lastClr="000000"/>
                </a:solidFill>
                <a:effectLst/>
                <a:uLnTx/>
                <a:uFillTx/>
              </a:rPr>
              <a:t> battery management system were studied to identify suitable methods and research gaps in range prediction. </a:t>
            </a:r>
          </a:p>
          <a:p>
            <a:pPr marL="0" marR="0" lvl="0" indent="0" algn="l" defTabSz="914400" eaLnBrk="1" fontAlgn="auto" latinLnBrk="0" hangingPunct="1">
              <a:lnSpc>
                <a:spcPct val="150000"/>
              </a:lnSpc>
              <a:spcBef>
                <a:spcPts val="0"/>
              </a:spcBef>
              <a:spcAft>
                <a:spcPts val="0"/>
              </a:spcAft>
              <a:buClrTx/>
              <a:buSzTx/>
              <a:buFontTx/>
              <a:buNone/>
              <a:tabLst/>
              <a:defRPr/>
            </a:pPr>
            <a:endParaRPr kumimoji="0" lang="en-US" sz="700" b="0" i="0" u="none" strike="noStrike" kern="0" cap="none" spc="0" normalizeH="0" baseline="0" noProof="0" dirty="0">
              <a:ln>
                <a:noFill/>
              </a:ln>
              <a:solidFill>
                <a:sysClr val="windowText" lastClr="000000"/>
              </a:solidFill>
              <a:effectLst/>
              <a:uLnTx/>
              <a:uFillTx/>
            </a:endParaRPr>
          </a:p>
          <a:p>
            <a:pPr marL="285750" marR="0" lvl="0" indent="-285750" algn="l"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4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Problem and System Design </a:t>
            </a:r>
            <a:r>
              <a:rPr kumimoji="0" lang="en-US" sz="1400" b="1" i="0" u="none" strike="noStrike" kern="0" cap="none" spc="0" normalizeH="0" baseline="0" noProof="0" dirty="0">
                <a:ln>
                  <a:noFill/>
                </a:ln>
                <a:solidFill>
                  <a:srgbClr val="00B050"/>
                </a:solidFill>
                <a:effectLst/>
                <a:uLnTx/>
                <a:uFillTx/>
                <a:latin typeface="Times New Roman" panose="02020603050405020304" pitchFamily="18" charset="0"/>
                <a:cs typeface="Times New Roman" panose="02020603050405020304" pitchFamily="18" charset="0"/>
              </a:rPr>
              <a:t>Completed</a:t>
            </a:r>
            <a:br>
              <a:rPr kumimoji="0" lang="en-US" sz="1600" b="0" i="0" u="none" strike="noStrike" kern="0" cap="none" spc="0" normalizeH="0" baseline="0" noProof="0" dirty="0">
                <a:ln>
                  <a:noFill/>
                </a:ln>
                <a:solidFill>
                  <a:sysClr val="windowText" lastClr="000000"/>
                </a:solidFill>
                <a:effectLst/>
                <a:uLnTx/>
                <a:uFillTx/>
              </a:rPr>
            </a:br>
            <a:r>
              <a:rPr kumimoji="0" lang="en-US" sz="1200" b="0" i="0" u="none" strike="noStrike" kern="0" cap="none" spc="0" normalizeH="0" baseline="0" noProof="0" dirty="0">
                <a:ln>
                  <a:noFill/>
                </a:ln>
                <a:solidFill>
                  <a:sysClr val="windowText" lastClr="000000"/>
                </a:solidFill>
                <a:effectLst/>
                <a:uLnTx/>
                <a:uFillTx/>
              </a:rPr>
              <a:t>The problem statement, objectives, system architecture, block diagram, and workflow have been finalized. </a:t>
            </a:r>
          </a:p>
          <a:p>
            <a:pPr marL="171450" marR="0" lvl="0" indent="-171450" algn="l" defTabSz="914400" eaLnBrk="1" fontAlgn="auto" latinLnBrk="0" hangingPunct="1">
              <a:lnSpc>
                <a:spcPct val="150000"/>
              </a:lnSpc>
              <a:spcBef>
                <a:spcPts val="0"/>
              </a:spcBef>
              <a:spcAft>
                <a:spcPts val="0"/>
              </a:spcAft>
              <a:buClrTx/>
              <a:buSzTx/>
              <a:buFont typeface="Arial" panose="020B0604020202020204" pitchFamily="34" charset="0"/>
              <a:buChar char="•"/>
              <a:tabLst/>
              <a:defRPr/>
            </a:pPr>
            <a:endParaRPr kumimoji="0" lang="en-US" sz="700" b="0" i="0" u="none" strike="noStrike" kern="0" cap="none" spc="0" normalizeH="0" baseline="0" noProof="0" dirty="0">
              <a:ln>
                <a:noFill/>
              </a:ln>
              <a:solidFill>
                <a:sysClr val="windowText" lastClr="000000"/>
              </a:solidFill>
              <a:effectLst/>
              <a:uLnTx/>
              <a:uFillTx/>
            </a:endParaRPr>
          </a:p>
          <a:p>
            <a:pPr marL="285750" marR="0" lvl="0" indent="-285750" algn="l"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400" b="1" i="0" u="none" strike="noStrike" kern="0" cap="none" spc="0" normalizeH="0" baseline="0" noProof="0" dirty="0">
                <a:ln>
                  <a:noFill/>
                </a:ln>
                <a:solidFill>
                  <a:sysClr val="windowText" lastClr="000000"/>
                </a:solidFill>
                <a:effectLst/>
                <a:uLnTx/>
                <a:uFillTx/>
              </a:rPr>
              <a:t>Dataset Preparation </a:t>
            </a:r>
            <a:r>
              <a:rPr lang="en-US" sz="1400" b="1" dirty="0">
                <a:solidFill>
                  <a:srgbClr val="00B050"/>
                </a:solidFill>
              </a:rPr>
              <a:t>Completed</a:t>
            </a:r>
            <a:br>
              <a:rPr kumimoji="0" lang="en-US" sz="1600" b="0" i="0" u="none" strike="noStrike" kern="0" cap="none" spc="0" normalizeH="0" baseline="0" noProof="0" dirty="0">
                <a:ln>
                  <a:noFill/>
                </a:ln>
                <a:solidFill>
                  <a:sysClr val="windowText" lastClr="000000"/>
                </a:solidFill>
                <a:effectLst/>
                <a:uLnTx/>
                <a:uFillTx/>
              </a:rPr>
            </a:br>
            <a:r>
              <a:rPr kumimoji="0" lang="en-US" sz="1200" b="0" i="0" u="none" strike="noStrike" kern="0" cap="none" spc="0" normalizeH="0" baseline="0" noProof="0" dirty="0">
                <a:ln>
                  <a:noFill/>
                </a:ln>
                <a:solidFill>
                  <a:sysClr val="windowText" lastClr="000000"/>
                </a:solidFill>
                <a:effectLst/>
                <a:uLnTx/>
                <a:uFillTx/>
              </a:rPr>
              <a:t>Real time data has been collated from online sources and organized into separate categories.</a:t>
            </a:r>
          </a:p>
          <a:p>
            <a:pPr marL="0" marR="0" lvl="0" indent="0" algn="l" defTabSz="914400" eaLnBrk="1" fontAlgn="auto" latinLnBrk="0" hangingPunct="1">
              <a:lnSpc>
                <a:spcPct val="150000"/>
              </a:lnSpc>
              <a:spcBef>
                <a:spcPts val="0"/>
              </a:spcBef>
              <a:spcAft>
                <a:spcPts val="0"/>
              </a:spcAft>
              <a:buClrTx/>
              <a:buSzTx/>
              <a:buFontTx/>
              <a:buNone/>
              <a:tabLst/>
              <a:defRPr/>
            </a:pPr>
            <a:r>
              <a:rPr kumimoji="0" lang="en-US" sz="1200" b="0" i="0" u="none" strike="noStrike" kern="0" cap="none" spc="0" normalizeH="0" baseline="0" noProof="0" dirty="0">
                <a:ln>
                  <a:noFill/>
                </a:ln>
                <a:solidFill>
                  <a:sysClr val="windowText" lastClr="000000"/>
                </a:solidFill>
                <a:effectLst/>
                <a:uLnTx/>
                <a:uFillTx/>
              </a:rPr>
              <a:t> </a:t>
            </a:r>
          </a:p>
          <a:p>
            <a:pPr marL="285750" marR="0" lvl="0" indent="-285750" algn="l"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400" b="1" i="0" u="none" strike="noStrike" kern="0" cap="none" spc="0" normalizeH="0" baseline="0" noProof="0" dirty="0">
                <a:ln>
                  <a:noFill/>
                </a:ln>
                <a:solidFill>
                  <a:sysClr val="windowText" lastClr="000000"/>
                </a:solidFill>
                <a:effectLst/>
                <a:uLnTx/>
                <a:uFillTx/>
              </a:rPr>
              <a:t>Algorithm Selection </a:t>
            </a:r>
            <a:r>
              <a:rPr kumimoji="0" lang="en-US" sz="1400" b="1" i="0" u="none" strike="noStrike" kern="0" cap="none" spc="0" normalizeH="0" baseline="0" noProof="0" dirty="0">
                <a:ln>
                  <a:noFill/>
                </a:ln>
                <a:solidFill>
                  <a:srgbClr val="00B050"/>
                </a:solidFill>
                <a:effectLst/>
                <a:uLnTx/>
                <a:uFillTx/>
              </a:rPr>
              <a:t>Completed</a:t>
            </a:r>
            <a:br>
              <a:rPr kumimoji="0" lang="en-US" sz="1600" b="0" i="0" u="none" strike="noStrike" kern="0" cap="none" spc="0" normalizeH="0" baseline="0" noProof="0" dirty="0">
                <a:ln>
                  <a:noFill/>
                </a:ln>
                <a:solidFill>
                  <a:sysClr val="windowText" lastClr="000000"/>
                </a:solidFill>
                <a:effectLst/>
                <a:uLnTx/>
                <a:uFillTx/>
              </a:rPr>
            </a:br>
            <a:r>
              <a:rPr kumimoji="0" lang="en-US" sz="1200" b="0" i="0" u="none" strike="noStrike" kern="0" cap="none" spc="0" normalizeH="0" baseline="0" noProof="0" dirty="0">
                <a:ln>
                  <a:noFill/>
                </a:ln>
                <a:solidFill>
                  <a:sysClr val="windowText" lastClr="000000"/>
                </a:solidFill>
                <a:effectLst/>
                <a:uLnTx/>
                <a:uFillTx/>
              </a:rPr>
              <a:t>trying various algorithm</a:t>
            </a:r>
            <a:r>
              <a:rPr lang="en-US" sz="1200" dirty="0"/>
              <a:t> to train ai model which result in higher accuracy percentage has been verified. </a:t>
            </a:r>
          </a:p>
          <a:p>
            <a:pPr marL="0" marR="0" lvl="0" indent="0" algn="l" defTabSz="914400" eaLnBrk="1" fontAlgn="auto" latinLnBrk="0" hangingPunct="1">
              <a:lnSpc>
                <a:spcPct val="150000"/>
              </a:lnSpc>
              <a:spcBef>
                <a:spcPts val="0"/>
              </a:spcBef>
              <a:spcAft>
                <a:spcPts val="0"/>
              </a:spcAft>
              <a:buClrTx/>
              <a:buSzTx/>
              <a:buFontTx/>
              <a:buNone/>
              <a:tabLst/>
              <a:defRPr/>
            </a:pPr>
            <a:endParaRPr kumimoji="0" lang="en-US" sz="700" b="0" i="0" u="none" strike="noStrike" kern="0" cap="none" spc="0" normalizeH="0" baseline="0" noProof="0" dirty="0">
              <a:ln>
                <a:noFill/>
              </a:ln>
              <a:solidFill>
                <a:sysClr val="windowText" lastClr="000000"/>
              </a:solidFill>
              <a:effectLst/>
              <a:uLnTx/>
              <a:uFillTx/>
            </a:endParaRPr>
          </a:p>
          <a:p>
            <a:pPr marL="285750" marR="0" lvl="0" indent="-285750" algn="l"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400" b="1" i="0" u="none" strike="noStrike" kern="0" cap="none" spc="0" normalizeH="0" baseline="0" noProof="0" dirty="0">
                <a:ln>
                  <a:noFill/>
                </a:ln>
                <a:solidFill>
                  <a:sysClr val="windowText" lastClr="000000"/>
                </a:solidFill>
                <a:effectLst/>
                <a:uLnTx/>
                <a:uFillTx/>
              </a:rPr>
              <a:t>Prototype Development </a:t>
            </a:r>
            <a:r>
              <a:rPr kumimoji="0" lang="en-US" sz="1400" b="1" i="0" u="none" strike="noStrike" kern="0" cap="none" spc="0" normalizeH="0" baseline="0" noProof="0" dirty="0">
                <a:ln>
                  <a:noFill/>
                </a:ln>
                <a:solidFill>
                  <a:srgbClr val="FFC000"/>
                </a:solidFill>
                <a:effectLst/>
                <a:uLnTx/>
                <a:uFillTx/>
              </a:rPr>
              <a:t>Started</a:t>
            </a:r>
            <a:br>
              <a:rPr kumimoji="0" lang="en-US" sz="1600" b="0" i="0" u="none" strike="noStrike" kern="0" cap="none" spc="0" normalizeH="0" baseline="0" noProof="0" dirty="0">
                <a:ln>
                  <a:noFill/>
                </a:ln>
                <a:solidFill>
                  <a:sysClr val="windowText" lastClr="000000"/>
                </a:solidFill>
                <a:effectLst/>
                <a:uLnTx/>
                <a:uFillTx/>
              </a:rPr>
            </a:br>
            <a:r>
              <a:rPr kumimoji="0" lang="en-US" sz="1200" b="0" i="0" u="none" strike="noStrike" kern="0" cap="none" spc="0" normalizeH="0" baseline="0" noProof="0" dirty="0">
                <a:ln>
                  <a:noFill/>
                </a:ln>
                <a:solidFill>
                  <a:sysClr val="windowText" lastClr="000000"/>
                </a:solidFill>
                <a:effectLst/>
                <a:uLnTx/>
                <a:uFillTx/>
              </a:rPr>
              <a:t>Model training has been </a:t>
            </a:r>
            <a:r>
              <a:rPr lang="en-US" sz="1200" dirty="0"/>
              <a:t>started to check and analyze accuracy percentage</a:t>
            </a:r>
            <a:r>
              <a:rPr kumimoji="0" lang="en-US" sz="1200" b="0" i="0" u="none" strike="noStrike" kern="0" cap="none" spc="0" normalizeH="0" baseline="0" noProof="0" dirty="0">
                <a:ln>
                  <a:noFill/>
                </a:ln>
                <a:solidFill>
                  <a:sysClr val="windowText" lastClr="000000"/>
                </a:solidFill>
                <a:effectLst/>
                <a:uLnTx/>
                <a:uFillTx/>
              </a:rPr>
              <a:t>.</a:t>
            </a:r>
          </a:p>
          <a:p>
            <a:pPr marR="0" lvl="0" algn="l" defTabSz="914400" eaLnBrk="1" fontAlgn="auto" latinLnBrk="0" hangingPunct="1">
              <a:lnSpc>
                <a:spcPct val="150000"/>
              </a:lnSpc>
              <a:spcBef>
                <a:spcPts val="0"/>
              </a:spcBef>
              <a:spcAft>
                <a:spcPts val="0"/>
              </a:spcAft>
              <a:buClrTx/>
              <a:buSzTx/>
              <a:tabLst/>
              <a:defRPr/>
            </a:pPr>
            <a:r>
              <a:rPr lang="en-US" sz="1200" dirty="0"/>
              <a:t>       In parallel backend logic and </a:t>
            </a:r>
            <a:r>
              <a:rPr lang="en-US" sz="1200" dirty="0" err="1"/>
              <a:t>ui</a:t>
            </a:r>
            <a:r>
              <a:rPr lang="en-US" sz="1200" dirty="0"/>
              <a:t> development has been started.</a:t>
            </a:r>
            <a:endParaRPr kumimoji="0" lang="en-US" sz="1200" b="0" i="0" u="none" strike="noStrike" kern="0" cap="none" spc="0" normalizeH="0" baseline="0" noProof="0" dirty="0">
              <a:ln>
                <a:noFill/>
              </a:ln>
              <a:solidFill>
                <a:sysClr val="windowText" lastClr="000000"/>
              </a:solidFill>
              <a:effectLst/>
              <a:uLnTx/>
              <a:uFillTx/>
            </a:endParaRPr>
          </a:p>
          <a:p>
            <a:pPr marL="0" marR="0" lvl="1" indent="0" algn="just" defTabSz="914400"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dirty="0">
              <a:ln>
                <a:noFill/>
              </a:ln>
              <a:solidFill>
                <a:sysClr val="windowText" lastClr="000000"/>
              </a:solidFill>
              <a:effectLst/>
              <a:uLnTx/>
              <a:uFillTx/>
            </a:endParaRPr>
          </a:p>
        </p:txBody>
      </p:sp>
      <p:sp>
        <p:nvSpPr>
          <p:cNvPr id="7" name="object 7"/>
          <p:cNvSpPr txBox="1"/>
          <p:nvPr/>
        </p:nvSpPr>
        <p:spPr>
          <a:xfrm>
            <a:off x="11629770" y="6396132"/>
            <a:ext cx="161290" cy="278281"/>
          </a:xfrm>
          <a:prstGeom prst="rect">
            <a:avLst/>
          </a:prstGeom>
        </p:spPr>
        <p:txBody>
          <a:bodyPr vert="horz" wrap="square" lIns="0" tIns="1270" rIns="0" bIns="0" rtlCol="0">
            <a:spAutoFit/>
          </a:bodyPr>
          <a:lstStyle/>
          <a:p>
            <a:pPr marL="12700" marR="0" lvl="0" indent="0" defTabSz="914400" eaLnBrk="1" fontAlgn="auto" latinLnBrk="0" hangingPunct="1">
              <a:lnSpc>
                <a:spcPct val="100000"/>
              </a:lnSpc>
              <a:spcBef>
                <a:spcPts val="10"/>
              </a:spcBef>
              <a:spcAft>
                <a:spcPts val="0"/>
              </a:spcAft>
              <a:buClrTx/>
              <a:buSzTx/>
              <a:buFontTx/>
              <a:buNone/>
              <a:tabLst/>
              <a:defRPr/>
            </a:pPr>
            <a:r>
              <a:rPr kumimoji="0" lang="en-US" sz="1800" b="1" i="0" u="none" strike="noStrike" kern="0" cap="none" spc="-50" normalizeH="0" baseline="0" noProof="0" dirty="0">
                <a:ln>
                  <a:noFill/>
                </a:ln>
                <a:solidFill>
                  <a:srgbClr val="2D5395"/>
                </a:solidFill>
                <a:effectLst/>
                <a:uLnTx/>
                <a:uFillTx/>
                <a:latin typeface="Cambria"/>
                <a:cs typeface="Cambria"/>
              </a:rPr>
              <a:t>8</a:t>
            </a:r>
            <a:endParaRPr kumimoji="0" sz="1800" b="0" i="0" u="none" strike="noStrike" kern="0" cap="none" spc="0" normalizeH="0" baseline="0" noProof="0" dirty="0">
              <a:ln>
                <a:noFill/>
              </a:ln>
              <a:solidFill>
                <a:sysClr val="windowText" lastClr="000000"/>
              </a:solidFill>
              <a:effectLst/>
              <a:uLnTx/>
              <a:uFillTx/>
              <a:latin typeface="Cambria"/>
              <a:cs typeface="Cambria"/>
            </a:endParaRPr>
          </a:p>
        </p:txBody>
      </p:sp>
    </p:spTree>
    <p:extLst>
      <p:ext uri="{BB962C8B-B14F-4D97-AF65-F5344CB8AC3E}">
        <p14:creationId xmlns:p14="http://schemas.microsoft.com/office/powerpoint/2010/main" val="8668309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55241" y="188213"/>
            <a:ext cx="9359265" cy="700192"/>
          </a:xfrm>
          <a:prstGeom prst="rect">
            <a:avLst/>
          </a:prstGeom>
          <a:ln w="28575">
            <a:solidFill>
              <a:srgbClr val="2D528F"/>
            </a:solidFill>
          </a:ln>
        </p:spPr>
        <p:txBody>
          <a:bodyPr vert="horz" wrap="square" lIns="0" tIns="144780" rIns="0" bIns="0" rtlCol="0">
            <a:spAutoFit/>
          </a:bodyPr>
          <a:lstStyle/>
          <a:p>
            <a:pPr marR="59055" algn="ctr">
              <a:lnSpc>
                <a:spcPct val="100000"/>
              </a:lnSpc>
              <a:spcBef>
                <a:spcPts val="1140"/>
              </a:spcBef>
            </a:pPr>
            <a:r>
              <a:rPr lang="en-IN" spc="265" dirty="0"/>
              <a:t>WORK PLAN</a:t>
            </a:r>
            <a:endParaRPr spc="225" dirty="0"/>
          </a:p>
        </p:txBody>
      </p:sp>
      <p:grpSp>
        <p:nvGrpSpPr>
          <p:cNvPr id="3" name="object 3"/>
          <p:cNvGrpSpPr/>
          <p:nvPr/>
        </p:nvGrpSpPr>
        <p:grpSpPr>
          <a:xfrm>
            <a:off x="106869" y="76389"/>
            <a:ext cx="11971020" cy="6706870"/>
            <a:chOff x="106869" y="76389"/>
            <a:chExt cx="11971020" cy="6706870"/>
          </a:xfrm>
        </p:grpSpPr>
        <p:sp>
          <p:nvSpPr>
            <p:cNvPr id="4" name="object 4"/>
            <p:cNvSpPr/>
            <p:nvPr/>
          </p:nvSpPr>
          <p:spPr>
            <a:xfrm>
              <a:off x="121156" y="90676"/>
              <a:ext cx="11942445" cy="6678295"/>
            </a:xfrm>
            <a:custGeom>
              <a:avLst/>
              <a:gdLst/>
              <a:ahLst/>
              <a:cxnLst/>
              <a:rect l="l" t="t" r="r" b="b"/>
              <a:pathLst>
                <a:path w="11942445" h="6678295">
                  <a:moveTo>
                    <a:pt x="0" y="6678168"/>
                  </a:moveTo>
                  <a:lnTo>
                    <a:pt x="11942064" y="6678168"/>
                  </a:lnTo>
                  <a:lnTo>
                    <a:pt x="11942064" y="0"/>
                  </a:lnTo>
                  <a:lnTo>
                    <a:pt x="0" y="0"/>
                  </a:lnTo>
                  <a:lnTo>
                    <a:pt x="0" y="6678168"/>
                  </a:lnTo>
                  <a:close/>
                </a:path>
              </a:pathLst>
            </a:custGeom>
            <a:ln w="28575">
              <a:solidFill>
                <a:srgbClr val="2D528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5" name="object 5"/>
            <p:cNvPicPr/>
            <p:nvPr/>
          </p:nvPicPr>
          <p:blipFill>
            <a:blip r:embed="rId3" cstate="print"/>
            <a:stretch>
              <a:fillRect/>
            </a:stretch>
          </p:blipFill>
          <p:spPr>
            <a:xfrm>
              <a:off x="405384" y="187452"/>
              <a:ext cx="873252" cy="1001268"/>
            </a:xfrm>
            <a:prstGeom prst="rect">
              <a:avLst/>
            </a:prstGeom>
          </p:spPr>
        </p:pic>
      </p:grpSp>
      <p:sp>
        <p:nvSpPr>
          <p:cNvPr id="6" name="object 6"/>
          <p:cNvSpPr txBox="1"/>
          <p:nvPr/>
        </p:nvSpPr>
        <p:spPr>
          <a:xfrm>
            <a:off x="1555241" y="1188720"/>
            <a:ext cx="10913110" cy="1490152"/>
          </a:xfrm>
          <a:prstGeom prst="rect">
            <a:avLst/>
          </a:prstGeom>
        </p:spPr>
        <p:txBody>
          <a:bodyPr vert="horz" wrap="square" lIns="0" tIns="1270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16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Work Plan</a:t>
            </a:r>
            <a:endParaRPr kumimoji="0" lang="en-IN" sz="16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IN" sz="2000" b="0" i="0" u="none" strike="noStrike" kern="0" cap="none" spc="0" normalizeH="0" baseline="0" noProof="0" dirty="0">
              <a:ln>
                <a:noFill/>
              </a:ln>
              <a:solidFill>
                <a:sysClr val="windowText" lastClr="0000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IN" sz="2000" b="0" i="0" u="none" strike="noStrike" kern="0" cap="none" spc="0" normalizeH="0" baseline="0" noProof="0" dirty="0">
                <a:ln>
                  <a:noFill/>
                </a:ln>
                <a:solidFill>
                  <a:sysClr val="windowText" lastClr="000000"/>
                </a:solidFill>
                <a:effectLst/>
                <a:uLnTx/>
                <a:uFillTx/>
              </a:rPr>
              <a:t> </a:t>
            </a:r>
          </a:p>
          <a:p>
            <a:pPr marL="0" marR="0" lvl="0" indent="0" defTabSz="914400" eaLnBrk="1" fontAlgn="auto" latinLnBrk="0" hangingPunct="1">
              <a:lnSpc>
                <a:spcPct val="100000"/>
              </a:lnSpc>
              <a:spcBef>
                <a:spcPts val="0"/>
              </a:spcBef>
              <a:spcAft>
                <a:spcPts val="0"/>
              </a:spcAft>
              <a:buClrTx/>
              <a:buSzTx/>
              <a:buFontTx/>
              <a:buNone/>
              <a:tabLst/>
              <a:defRPr/>
            </a:pPr>
            <a:endParaRPr kumimoji="0" lang="en-IN" sz="2000" b="0" i="0" u="none" strike="noStrike" kern="0" cap="none" spc="0" normalizeH="0" baseline="0" noProof="0" dirty="0">
              <a:ln>
                <a:noFill/>
              </a:ln>
              <a:solidFill>
                <a:sysClr val="windowText" lastClr="0000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IN" sz="2000" b="0" i="0" u="none" strike="noStrike" kern="0" cap="none" spc="0" normalizeH="0" baseline="0" noProof="0" dirty="0">
              <a:ln>
                <a:noFill/>
              </a:ln>
              <a:solidFill>
                <a:sysClr val="windowText" lastClr="000000"/>
              </a:solidFill>
              <a:effectLst/>
              <a:uLnTx/>
              <a:uFillTx/>
            </a:endParaRPr>
          </a:p>
        </p:txBody>
      </p:sp>
      <p:sp>
        <p:nvSpPr>
          <p:cNvPr id="7" name="object 7"/>
          <p:cNvSpPr txBox="1"/>
          <p:nvPr/>
        </p:nvSpPr>
        <p:spPr>
          <a:xfrm>
            <a:off x="11629770" y="6396132"/>
            <a:ext cx="333630" cy="278281"/>
          </a:xfrm>
          <a:prstGeom prst="rect">
            <a:avLst/>
          </a:prstGeom>
        </p:spPr>
        <p:txBody>
          <a:bodyPr vert="horz" wrap="square" lIns="0" tIns="1270" rIns="0" bIns="0" rtlCol="0">
            <a:spAutoFit/>
          </a:bodyPr>
          <a:lstStyle/>
          <a:p>
            <a:pPr marL="12700" marR="0" lvl="0" indent="0" defTabSz="914400" eaLnBrk="1" fontAlgn="auto" latinLnBrk="0" hangingPunct="1">
              <a:lnSpc>
                <a:spcPct val="100000"/>
              </a:lnSpc>
              <a:spcBef>
                <a:spcPts val="10"/>
              </a:spcBef>
              <a:spcAft>
                <a:spcPts val="0"/>
              </a:spcAft>
              <a:buClrTx/>
              <a:buSzTx/>
              <a:buFontTx/>
              <a:buNone/>
              <a:tabLst/>
              <a:defRPr/>
            </a:pPr>
            <a:r>
              <a:rPr kumimoji="0" lang="en-US" sz="1800" b="1" i="0" u="none" strike="noStrike" kern="0" cap="none" spc="-50" normalizeH="0" baseline="0" noProof="0" dirty="0">
                <a:ln>
                  <a:noFill/>
                </a:ln>
                <a:solidFill>
                  <a:srgbClr val="2D5395"/>
                </a:solidFill>
                <a:effectLst/>
                <a:uLnTx/>
                <a:uFillTx/>
                <a:latin typeface="Cambria"/>
                <a:cs typeface="Cambria"/>
              </a:rPr>
              <a:t>12</a:t>
            </a:r>
            <a:endParaRPr kumimoji="0" sz="1800" b="0" i="0" u="none" strike="noStrike" kern="0" cap="none" spc="0" normalizeH="0" baseline="0" noProof="0" dirty="0">
              <a:ln>
                <a:noFill/>
              </a:ln>
              <a:solidFill>
                <a:sysClr val="windowText" lastClr="000000"/>
              </a:solidFill>
              <a:effectLst/>
              <a:uLnTx/>
              <a:uFillTx/>
              <a:latin typeface="Cambria"/>
              <a:cs typeface="Cambria"/>
            </a:endParaRPr>
          </a:p>
        </p:txBody>
      </p:sp>
      <p:graphicFrame>
        <p:nvGraphicFramePr>
          <p:cNvPr id="9" name="Table 9">
            <a:extLst>
              <a:ext uri="{FF2B5EF4-FFF2-40B4-BE49-F238E27FC236}">
                <a16:creationId xmlns:a16="http://schemas.microsoft.com/office/drawing/2014/main" id="{2F93C695-F9CD-4373-A0DF-59DC223FB9F0}"/>
              </a:ext>
            </a:extLst>
          </p:cNvPr>
          <p:cNvGraphicFramePr>
            <a:graphicFrameLocks noGrp="1"/>
          </p:cNvGraphicFramePr>
          <p:nvPr>
            <p:extLst>
              <p:ext uri="{D42A27DB-BD31-4B8C-83A1-F6EECF244321}">
                <p14:modId xmlns:p14="http://schemas.microsoft.com/office/powerpoint/2010/main" val="2148285990"/>
              </p:ext>
            </p:extLst>
          </p:nvPr>
        </p:nvGraphicFramePr>
        <p:xfrm>
          <a:off x="1253236" y="1516964"/>
          <a:ext cx="10049508" cy="4925086"/>
        </p:xfrm>
        <a:graphic>
          <a:graphicData uri="http://schemas.openxmlformats.org/drawingml/2006/table">
            <a:tbl>
              <a:tblPr firstRow="1" bandRow="1">
                <a:tableStyleId>{5C22544A-7EE6-4342-B048-85BDC9FD1C3A}</a:tableStyleId>
              </a:tblPr>
              <a:tblGrid>
                <a:gridCol w="3349836">
                  <a:extLst>
                    <a:ext uri="{9D8B030D-6E8A-4147-A177-3AD203B41FA5}">
                      <a16:colId xmlns:a16="http://schemas.microsoft.com/office/drawing/2014/main" val="2087425833"/>
                    </a:ext>
                  </a:extLst>
                </a:gridCol>
                <a:gridCol w="3349836">
                  <a:extLst>
                    <a:ext uri="{9D8B030D-6E8A-4147-A177-3AD203B41FA5}">
                      <a16:colId xmlns:a16="http://schemas.microsoft.com/office/drawing/2014/main" val="3598243616"/>
                    </a:ext>
                  </a:extLst>
                </a:gridCol>
                <a:gridCol w="3349836">
                  <a:extLst>
                    <a:ext uri="{9D8B030D-6E8A-4147-A177-3AD203B41FA5}">
                      <a16:colId xmlns:a16="http://schemas.microsoft.com/office/drawing/2014/main" val="2900272065"/>
                    </a:ext>
                  </a:extLst>
                </a:gridCol>
              </a:tblGrid>
              <a:tr h="299437">
                <a:tc>
                  <a:txBody>
                    <a:bodyPr/>
                    <a:lstStyle/>
                    <a:p>
                      <a:pPr algn="ctr"/>
                      <a:r>
                        <a:rPr lang="en-IN" sz="1600" dirty="0"/>
                        <a:t>Phase</a:t>
                      </a:r>
                    </a:p>
                  </a:txBody>
                  <a:tcPr anchor="ctr"/>
                </a:tc>
                <a:tc>
                  <a:txBody>
                    <a:bodyPr/>
                    <a:lstStyle/>
                    <a:p>
                      <a:pPr algn="ctr"/>
                      <a:r>
                        <a:rPr lang="en-IN" sz="1600"/>
                        <a:t>Activity</a:t>
                      </a:r>
                    </a:p>
                  </a:txBody>
                  <a:tcPr anchor="ctr"/>
                </a:tc>
                <a:tc>
                  <a:txBody>
                    <a:bodyPr/>
                    <a:lstStyle/>
                    <a:p>
                      <a:pPr algn="ctr"/>
                      <a:r>
                        <a:rPr lang="en-IN" sz="1600" dirty="0"/>
                        <a:t>Status</a:t>
                      </a:r>
                    </a:p>
                  </a:txBody>
                  <a:tcPr anchor="ctr"/>
                </a:tc>
                <a:extLst>
                  <a:ext uri="{0D108BD9-81ED-4DB2-BD59-A6C34878D82A}">
                    <a16:rowId xmlns:a16="http://schemas.microsoft.com/office/drawing/2014/main" val="90272751"/>
                  </a:ext>
                </a:extLst>
              </a:tr>
              <a:tr h="516836">
                <a:tc>
                  <a:txBody>
                    <a:bodyPr/>
                    <a:lstStyle/>
                    <a:p>
                      <a:pPr algn="ctr"/>
                      <a:r>
                        <a:rPr lang="en-IN" sz="1400" b="1" dirty="0"/>
                        <a:t>1</a:t>
                      </a:r>
                      <a:endParaRPr lang="en-IN" sz="1400" dirty="0"/>
                    </a:p>
                  </a:txBody>
                  <a:tcPr anchor="ctr"/>
                </a:tc>
                <a:tc>
                  <a:txBody>
                    <a:bodyPr/>
                    <a:lstStyle/>
                    <a:p>
                      <a:pPr algn="ctr"/>
                      <a:r>
                        <a:rPr lang="en-US" sz="1400"/>
                        <a:t>Literature survey and problem identification</a:t>
                      </a:r>
                    </a:p>
                  </a:txBody>
                  <a:tcPr anchor="ctr"/>
                </a:tc>
                <a:tc>
                  <a:txBody>
                    <a:bodyPr/>
                    <a:lstStyle/>
                    <a:p>
                      <a:pPr algn="ctr"/>
                      <a:r>
                        <a:rPr lang="en-IN" sz="1400" dirty="0">
                          <a:solidFill>
                            <a:srgbClr val="00B050"/>
                          </a:solidFill>
                        </a:rPr>
                        <a:t> Completed</a:t>
                      </a:r>
                    </a:p>
                  </a:txBody>
                  <a:tcPr anchor="ctr"/>
                </a:tc>
                <a:extLst>
                  <a:ext uri="{0D108BD9-81ED-4DB2-BD59-A6C34878D82A}">
                    <a16:rowId xmlns:a16="http://schemas.microsoft.com/office/drawing/2014/main" val="4219380540"/>
                  </a:ext>
                </a:extLst>
              </a:tr>
              <a:tr h="738338">
                <a:tc>
                  <a:txBody>
                    <a:bodyPr/>
                    <a:lstStyle/>
                    <a:p>
                      <a:pPr algn="ctr"/>
                      <a:r>
                        <a:rPr lang="en-IN" sz="1400" b="1"/>
                        <a:t>2</a:t>
                      </a:r>
                      <a:endParaRPr lang="en-IN" sz="1400"/>
                    </a:p>
                  </a:txBody>
                  <a:tcPr anchor="ctr"/>
                </a:tc>
                <a:tc>
                  <a:txBody>
                    <a:bodyPr/>
                    <a:lstStyle/>
                    <a:p>
                      <a:pPr algn="ctr"/>
                      <a:r>
                        <a:rPr lang="en-US" sz="1400" dirty="0"/>
                        <a:t>Problem statement, objectives and system design</a:t>
                      </a:r>
                    </a:p>
                  </a:txBody>
                  <a:tcPr anchor="ctr"/>
                </a:tc>
                <a:tc>
                  <a:txBody>
                    <a:bodyPr/>
                    <a:lstStyle/>
                    <a:p>
                      <a:pPr algn="ctr"/>
                      <a:r>
                        <a:rPr lang="en-IN" sz="1400" dirty="0">
                          <a:solidFill>
                            <a:srgbClr val="00B050"/>
                          </a:solidFill>
                        </a:rPr>
                        <a:t> Completed</a:t>
                      </a:r>
                    </a:p>
                  </a:txBody>
                  <a:tcPr anchor="ctr"/>
                </a:tc>
                <a:extLst>
                  <a:ext uri="{0D108BD9-81ED-4DB2-BD59-A6C34878D82A}">
                    <a16:rowId xmlns:a16="http://schemas.microsoft.com/office/drawing/2014/main" val="452340970"/>
                  </a:ext>
                </a:extLst>
              </a:tr>
              <a:tr h="516836">
                <a:tc>
                  <a:txBody>
                    <a:bodyPr/>
                    <a:lstStyle/>
                    <a:p>
                      <a:pPr algn="ctr"/>
                      <a:r>
                        <a:rPr lang="en-IN" sz="1400" b="1"/>
                        <a:t>3</a:t>
                      </a:r>
                      <a:endParaRPr lang="en-IN" sz="1400"/>
                    </a:p>
                  </a:txBody>
                  <a:tcPr anchor="ctr"/>
                </a:tc>
                <a:tc>
                  <a:txBody>
                    <a:bodyPr/>
                    <a:lstStyle/>
                    <a:p>
                      <a:pPr algn="ctr"/>
                      <a:r>
                        <a:rPr lang="en-US" sz="1400" dirty="0"/>
                        <a:t>Data Collection and Preparation</a:t>
                      </a:r>
                    </a:p>
                  </a:txBody>
                  <a:tcPr anchor="ctr"/>
                </a:tc>
                <a:tc>
                  <a:txBody>
                    <a:bodyPr/>
                    <a:lstStyle/>
                    <a:p>
                      <a:pPr algn="ctr"/>
                      <a:r>
                        <a:rPr lang="en-IN" sz="1400" dirty="0">
                          <a:solidFill>
                            <a:srgbClr val="00B050"/>
                          </a:solidFill>
                        </a:rPr>
                        <a:t> Completed</a:t>
                      </a:r>
                    </a:p>
                  </a:txBody>
                  <a:tcPr anchor="ctr"/>
                </a:tc>
                <a:extLst>
                  <a:ext uri="{0D108BD9-81ED-4DB2-BD59-A6C34878D82A}">
                    <a16:rowId xmlns:a16="http://schemas.microsoft.com/office/drawing/2014/main" val="337874389"/>
                  </a:ext>
                </a:extLst>
              </a:tr>
              <a:tr h="516836">
                <a:tc>
                  <a:txBody>
                    <a:bodyPr/>
                    <a:lstStyle/>
                    <a:p>
                      <a:pPr algn="ctr"/>
                      <a:r>
                        <a:rPr lang="en-IN" sz="1400" b="1"/>
                        <a:t>4</a:t>
                      </a:r>
                      <a:endParaRPr lang="en-IN" sz="1400"/>
                    </a:p>
                  </a:txBody>
                  <a:tcPr anchor="ctr"/>
                </a:tc>
                <a:tc>
                  <a:txBody>
                    <a:bodyPr/>
                    <a:lstStyle/>
                    <a:p>
                      <a:pPr algn="ctr"/>
                      <a:r>
                        <a:rPr lang="en-US" sz="1400" dirty="0"/>
                        <a:t>Algorithm Selection(Gradient boost regression)</a:t>
                      </a:r>
                    </a:p>
                  </a:txBody>
                  <a:tcPr anchor="ctr"/>
                </a:tc>
                <a:tc>
                  <a:txBody>
                    <a:bodyPr/>
                    <a:lstStyle/>
                    <a:p>
                      <a:pPr algn="ctr"/>
                      <a:r>
                        <a:rPr lang="en-IN" sz="1400" dirty="0">
                          <a:solidFill>
                            <a:srgbClr val="00B050"/>
                          </a:solidFill>
                        </a:rPr>
                        <a:t> Completed</a:t>
                      </a:r>
                    </a:p>
                  </a:txBody>
                  <a:tcPr anchor="ctr"/>
                </a:tc>
                <a:extLst>
                  <a:ext uri="{0D108BD9-81ED-4DB2-BD59-A6C34878D82A}">
                    <a16:rowId xmlns:a16="http://schemas.microsoft.com/office/drawing/2014/main" val="3251080187"/>
                  </a:ext>
                </a:extLst>
              </a:tr>
              <a:tr h="516836">
                <a:tc>
                  <a:txBody>
                    <a:bodyPr/>
                    <a:lstStyle/>
                    <a:p>
                      <a:pPr algn="ctr"/>
                      <a:r>
                        <a:rPr lang="en-IN" sz="1400" b="1"/>
                        <a:t>5</a:t>
                      </a:r>
                      <a:endParaRPr lang="en-IN" sz="1400"/>
                    </a:p>
                  </a:txBody>
                  <a:tcPr anchor="ctr"/>
                </a:tc>
                <a:tc>
                  <a:txBody>
                    <a:bodyPr/>
                    <a:lstStyle/>
                    <a:p>
                      <a:pPr algn="ctr"/>
                      <a:r>
                        <a:rPr lang="en-US" sz="1400" dirty="0"/>
                        <a:t>AI/ML model training and testing</a:t>
                      </a:r>
                    </a:p>
                  </a:txBody>
                  <a:tcPr anchor="ctr"/>
                </a:tc>
                <a:tc>
                  <a:txBody>
                    <a:bodyPr/>
                    <a:lstStyle/>
                    <a:p>
                      <a:pPr algn="ctr"/>
                      <a:r>
                        <a:rPr lang="en-IN" sz="1400" dirty="0"/>
                        <a:t> </a:t>
                      </a:r>
                      <a:r>
                        <a:rPr lang="en-IN" sz="1400" dirty="0">
                          <a:solidFill>
                            <a:srgbClr val="00B050"/>
                          </a:solidFill>
                        </a:rPr>
                        <a:t>Completed</a:t>
                      </a:r>
                      <a:endParaRPr lang="en-IN" sz="1400" dirty="0">
                        <a:solidFill>
                          <a:srgbClr val="FFFF00"/>
                        </a:solidFill>
                      </a:endParaRPr>
                    </a:p>
                  </a:txBody>
                  <a:tcPr anchor="ctr"/>
                </a:tc>
                <a:extLst>
                  <a:ext uri="{0D108BD9-81ED-4DB2-BD59-A6C34878D82A}">
                    <a16:rowId xmlns:a16="http://schemas.microsoft.com/office/drawing/2014/main" val="1242615279"/>
                  </a:ext>
                </a:extLst>
              </a:tr>
              <a:tr h="299437">
                <a:tc>
                  <a:txBody>
                    <a:bodyPr/>
                    <a:lstStyle/>
                    <a:p>
                      <a:pPr algn="ctr"/>
                      <a:r>
                        <a:rPr lang="en-IN" sz="1400" b="1"/>
                        <a:t>6</a:t>
                      </a:r>
                      <a:endParaRPr lang="en-IN" sz="1400"/>
                    </a:p>
                  </a:txBody>
                  <a:tcPr anchor="ctr"/>
                </a:tc>
                <a:tc>
                  <a:txBody>
                    <a:bodyPr/>
                    <a:lstStyle/>
                    <a:p>
                      <a:pPr algn="ctr"/>
                      <a:r>
                        <a:rPr lang="en-IN" sz="1400" dirty="0"/>
                        <a:t>AI + Front end Ui integration</a:t>
                      </a:r>
                    </a:p>
                  </a:txBody>
                  <a:tcPr anchor="ctr"/>
                </a:tc>
                <a:tc>
                  <a:txBody>
                    <a:bodyPr/>
                    <a:lstStyle/>
                    <a:p>
                      <a:pPr algn="ctr"/>
                      <a:r>
                        <a:rPr lang="en-IN" sz="1400" dirty="0"/>
                        <a:t> Started</a:t>
                      </a:r>
                    </a:p>
                  </a:txBody>
                  <a:tcPr anchor="ctr"/>
                </a:tc>
                <a:extLst>
                  <a:ext uri="{0D108BD9-81ED-4DB2-BD59-A6C34878D82A}">
                    <a16:rowId xmlns:a16="http://schemas.microsoft.com/office/drawing/2014/main" val="4083875406"/>
                  </a:ext>
                </a:extLst>
              </a:tr>
              <a:tr h="738338">
                <a:tc>
                  <a:txBody>
                    <a:bodyPr/>
                    <a:lstStyle/>
                    <a:p>
                      <a:pPr algn="ctr"/>
                      <a:r>
                        <a:rPr lang="en-IN" sz="1400" b="1"/>
                        <a:t>7</a:t>
                      </a:r>
                      <a:endParaRPr lang="en-IN" sz="1400"/>
                    </a:p>
                  </a:txBody>
                  <a:tcPr anchor="ctr"/>
                </a:tc>
                <a:tc>
                  <a:txBody>
                    <a:bodyPr/>
                    <a:lstStyle/>
                    <a:p>
                      <a:pPr algn="ctr"/>
                      <a:r>
                        <a:rPr lang="en-US" sz="1400"/>
                        <a:t>Testing, accuracy evaluation and improvements</a:t>
                      </a:r>
                    </a:p>
                  </a:txBody>
                  <a:tcPr anchor="ctr"/>
                </a:tc>
                <a:tc>
                  <a:txBody>
                    <a:bodyPr/>
                    <a:lstStyle/>
                    <a:p>
                      <a:pPr algn="ctr"/>
                      <a:r>
                        <a:rPr lang="en-IN" sz="1400" dirty="0"/>
                        <a:t> To be completed</a:t>
                      </a:r>
                    </a:p>
                  </a:txBody>
                  <a:tcPr anchor="ctr"/>
                </a:tc>
                <a:extLst>
                  <a:ext uri="{0D108BD9-81ED-4DB2-BD59-A6C34878D82A}">
                    <a16:rowId xmlns:a16="http://schemas.microsoft.com/office/drawing/2014/main" val="3637200464"/>
                  </a:ext>
                </a:extLst>
              </a:tr>
              <a:tr h="738338">
                <a:tc>
                  <a:txBody>
                    <a:bodyPr/>
                    <a:lstStyle/>
                    <a:p>
                      <a:pPr algn="ctr"/>
                      <a:r>
                        <a:rPr lang="en-IN" sz="1400" b="1" dirty="0"/>
                        <a:t>8</a:t>
                      </a:r>
                      <a:endParaRPr lang="en-IN" sz="1400" dirty="0"/>
                    </a:p>
                  </a:txBody>
                  <a:tcPr anchor="ctr"/>
                </a:tc>
                <a:tc>
                  <a:txBody>
                    <a:bodyPr/>
                    <a:lstStyle/>
                    <a:p>
                      <a:pPr algn="ctr"/>
                      <a:r>
                        <a:rPr lang="en-IN" sz="1400"/>
                        <a:t>Final prototype, documentation and presentation</a:t>
                      </a:r>
                    </a:p>
                  </a:txBody>
                  <a:tcPr anchor="ctr"/>
                </a:tc>
                <a:tc>
                  <a:txBody>
                    <a:bodyPr/>
                    <a:lstStyle/>
                    <a:p>
                      <a:pPr algn="ctr"/>
                      <a:r>
                        <a:rPr lang="en-IN" sz="1400" dirty="0"/>
                        <a:t> To be completed</a:t>
                      </a:r>
                    </a:p>
                  </a:txBody>
                  <a:tcPr anchor="ctr"/>
                </a:tc>
                <a:extLst>
                  <a:ext uri="{0D108BD9-81ED-4DB2-BD59-A6C34878D82A}">
                    <a16:rowId xmlns:a16="http://schemas.microsoft.com/office/drawing/2014/main" val="1376106340"/>
                  </a:ext>
                </a:extLst>
              </a:tr>
            </a:tbl>
          </a:graphicData>
        </a:graphic>
      </p:graphicFrame>
    </p:spTree>
    <p:extLst>
      <p:ext uri="{BB962C8B-B14F-4D97-AF65-F5344CB8AC3E}">
        <p14:creationId xmlns:p14="http://schemas.microsoft.com/office/powerpoint/2010/main" val="27960708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55241" y="188213"/>
            <a:ext cx="9359265" cy="700192"/>
          </a:xfrm>
          <a:prstGeom prst="rect">
            <a:avLst/>
          </a:prstGeom>
          <a:ln w="28575">
            <a:solidFill>
              <a:srgbClr val="2D528F"/>
            </a:solidFill>
          </a:ln>
        </p:spPr>
        <p:txBody>
          <a:bodyPr vert="horz" wrap="square" lIns="0" tIns="144780" rIns="0" bIns="0" rtlCol="0">
            <a:spAutoFit/>
          </a:bodyPr>
          <a:lstStyle/>
          <a:p>
            <a:pPr marR="59055" algn="ctr">
              <a:lnSpc>
                <a:spcPct val="100000"/>
              </a:lnSpc>
              <a:spcBef>
                <a:spcPts val="1140"/>
              </a:spcBef>
            </a:pPr>
            <a:r>
              <a:rPr lang="en-IN" spc="265" dirty="0"/>
              <a:t>PROJECT OUTCOME</a:t>
            </a:r>
            <a:endParaRPr spc="225" dirty="0"/>
          </a:p>
        </p:txBody>
      </p:sp>
      <p:grpSp>
        <p:nvGrpSpPr>
          <p:cNvPr id="3" name="object 3"/>
          <p:cNvGrpSpPr/>
          <p:nvPr/>
        </p:nvGrpSpPr>
        <p:grpSpPr>
          <a:xfrm>
            <a:off x="106869" y="76389"/>
            <a:ext cx="11971020" cy="6706870"/>
            <a:chOff x="106869" y="76389"/>
            <a:chExt cx="11971020" cy="6706870"/>
          </a:xfrm>
        </p:grpSpPr>
        <p:sp>
          <p:nvSpPr>
            <p:cNvPr id="4" name="object 4"/>
            <p:cNvSpPr/>
            <p:nvPr/>
          </p:nvSpPr>
          <p:spPr>
            <a:xfrm>
              <a:off x="121156" y="90676"/>
              <a:ext cx="11942445" cy="6678295"/>
            </a:xfrm>
            <a:custGeom>
              <a:avLst/>
              <a:gdLst/>
              <a:ahLst/>
              <a:cxnLst/>
              <a:rect l="l" t="t" r="r" b="b"/>
              <a:pathLst>
                <a:path w="11942445" h="6678295">
                  <a:moveTo>
                    <a:pt x="0" y="6678168"/>
                  </a:moveTo>
                  <a:lnTo>
                    <a:pt x="11942064" y="6678168"/>
                  </a:lnTo>
                  <a:lnTo>
                    <a:pt x="11942064" y="0"/>
                  </a:lnTo>
                  <a:lnTo>
                    <a:pt x="0" y="0"/>
                  </a:lnTo>
                  <a:lnTo>
                    <a:pt x="0" y="6678168"/>
                  </a:lnTo>
                  <a:close/>
                </a:path>
              </a:pathLst>
            </a:custGeom>
            <a:ln w="28575">
              <a:solidFill>
                <a:srgbClr val="2D528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5" name="object 5"/>
            <p:cNvPicPr/>
            <p:nvPr/>
          </p:nvPicPr>
          <p:blipFill>
            <a:blip r:embed="rId3" cstate="print"/>
            <a:stretch>
              <a:fillRect/>
            </a:stretch>
          </p:blipFill>
          <p:spPr>
            <a:xfrm>
              <a:off x="405384" y="187452"/>
              <a:ext cx="873252" cy="1001268"/>
            </a:xfrm>
            <a:prstGeom prst="rect">
              <a:avLst/>
            </a:prstGeom>
          </p:spPr>
        </p:pic>
      </p:grpSp>
      <p:sp>
        <p:nvSpPr>
          <p:cNvPr id="6" name="object 6"/>
          <p:cNvSpPr txBox="1"/>
          <p:nvPr/>
        </p:nvSpPr>
        <p:spPr>
          <a:xfrm>
            <a:off x="1555241" y="1828800"/>
            <a:ext cx="10913110" cy="1736373"/>
          </a:xfrm>
          <a:prstGeom prst="rect">
            <a:avLst/>
          </a:prstGeom>
        </p:spPr>
        <p:txBody>
          <a:bodyPr vert="horz" wrap="square" lIns="0" tIns="1270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16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Expected Outcomes</a:t>
            </a:r>
          </a:p>
          <a:p>
            <a:pPr marL="0" marR="0" lvl="0" indent="0" defTabSz="914400" eaLnBrk="1" fontAlgn="auto" latinLnBrk="0" hangingPunct="1">
              <a:lnSpc>
                <a:spcPct val="100000"/>
              </a:lnSpc>
              <a:spcBef>
                <a:spcPts val="0"/>
              </a:spcBef>
              <a:spcAft>
                <a:spcPts val="0"/>
              </a:spcAft>
              <a:buClrTx/>
              <a:buSzTx/>
              <a:buFontTx/>
              <a:buNone/>
              <a:tabLst/>
              <a:defRPr/>
            </a:pPr>
            <a:r>
              <a:rPr kumimoji="0" lang="en-IN" sz="16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a:t>
            </a:r>
          </a:p>
          <a:p>
            <a:pPr marL="0" marR="0" lvl="0" indent="0" defTabSz="914400" eaLnBrk="1" fontAlgn="auto" latinLnBrk="0" hangingPunct="1">
              <a:lnSpc>
                <a:spcPct val="100000"/>
              </a:lnSpc>
              <a:spcBef>
                <a:spcPts val="0"/>
              </a:spcBef>
              <a:spcAft>
                <a:spcPts val="0"/>
              </a:spcAft>
              <a:buClrTx/>
              <a:buSzTx/>
              <a:buFontTx/>
              <a:buNone/>
              <a:tabLst/>
              <a:defRPr/>
            </a:pPr>
            <a:endParaRPr kumimoji="0" lang="en-IN" sz="2000" b="0" i="0" u="none" strike="noStrike" kern="0" cap="none" spc="0" normalizeH="0" baseline="0" noProof="0" dirty="0">
              <a:ln>
                <a:noFill/>
              </a:ln>
              <a:solidFill>
                <a:sysClr val="windowText" lastClr="0000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IN" sz="2000" b="0" i="0" u="none" strike="noStrike" kern="0" cap="none" spc="0" normalizeH="0" baseline="0" noProof="0" dirty="0">
                <a:ln>
                  <a:noFill/>
                </a:ln>
                <a:solidFill>
                  <a:sysClr val="windowText" lastClr="000000"/>
                </a:solidFill>
                <a:effectLst/>
                <a:uLnTx/>
                <a:uFillTx/>
              </a:rPr>
              <a:t> </a:t>
            </a:r>
          </a:p>
          <a:p>
            <a:pPr marL="0" marR="0" lvl="0" indent="0" defTabSz="914400" eaLnBrk="1" fontAlgn="auto" latinLnBrk="0" hangingPunct="1">
              <a:lnSpc>
                <a:spcPct val="100000"/>
              </a:lnSpc>
              <a:spcBef>
                <a:spcPts val="0"/>
              </a:spcBef>
              <a:spcAft>
                <a:spcPts val="0"/>
              </a:spcAft>
              <a:buClrTx/>
              <a:buSzTx/>
              <a:buFontTx/>
              <a:buNone/>
              <a:tabLst/>
              <a:defRPr/>
            </a:pPr>
            <a:endParaRPr kumimoji="0" lang="en-IN" sz="2000" b="0" i="0" u="none" strike="noStrike" kern="0" cap="none" spc="0" normalizeH="0" baseline="0" noProof="0" dirty="0">
              <a:ln>
                <a:noFill/>
              </a:ln>
              <a:solidFill>
                <a:sysClr val="windowText" lastClr="0000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IN" sz="2000" b="0" i="0" u="none" strike="noStrike" kern="0" cap="none" spc="0" normalizeH="0" baseline="0" noProof="0" dirty="0">
              <a:ln>
                <a:noFill/>
              </a:ln>
              <a:solidFill>
                <a:sysClr val="windowText" lastClr="000000"/>
              </a:solidFill>
              <a:effectLst/>
              <a:uLnTx/>
              <a:uFillTx/>
            </a:endParaRPr>
          </a:p>
        </p:txBody>
      </p:sp>
      <p:sp>
        <p:nvSpPr>
          <p:cNvPr id="7" name="object 7"/>
          <p:cNvSpPr txBox="1"/>
          <p:nvPr/>
        </p:nvSpPr>
        <p:spPr>
          <a:xfrm>
            <a:off x="11629770" y="6396132"/>
            <a:ext cx="333630" cy="278281"/>
          </a:xfrm>
          <a:prstGeom prst="rect">
            <a:avLst/>
          </a:prstGeom>
        </p:spPr>
        <p:txBody>
          <a:bodyPr vert="horz" wrap="square" lIns="0" tIns="1270" rIns="0" bIns="0" rtlCol="0">
            <a:spAutoFit/>
          </a:bodyPr>
          <a:lstStyle/>
          <a:p>
            <a:pPr marL="12700" marR="0" lvl="0" indent="0" defTabSz="914400" eaLnBrk="1" fontAlgn="auto" latinLnBrk="0" hangingPunct="1">
              <a:lnSpc>
                <a:spcPct val="100000"/>
              </a:lnSpc>
              <a:spcBef>
                <a:spcPts val="10"/>
              </a:spcBef>
              <a:spcAft>
                <a:spcPts val="0"/>
              </a:spcAft>
              <a:buClrTx/>
              <a:buSzTx/>
              <a:buFontTx/>
              <a:buNone/>
              <a:tabLst/>
              <a:defRPr/>
            </a:pPr>
            <a:r>
              <a:rPr kumimoji="0" lang="en-US" sz="1800" b="1" i="0" u="none" strike="noStrike" kern="0" cap="none" spc="-50" normalizeH="0" baseline="0" noProof="0" dirty="0">
                <a:ln>
                  <a:noFill/>
                </a:ln>
                <a:solidFill>
                  <a:srgbClr val="2D5395"/>
                </a:solidFill>
                <a:effectLst/>
                <a:uLnTx/>
                <a:uFillTx/>
                <a:latin typeface="Cambria"/>
                <a:cs typeface="Cambria"/>
              </a:rPr>
              <a:t>1</a:t>
            </a:r>
            <a:r>
              <a:rPr kumimoji="0" sz="1800" b="1" i="0" u="none" strike="noStrike" kern="0" cap="none" spc="-50" normalizeH="0" baseline="0" noProof="0" dirty="0">
                <a:ln>
                  <a:noFill/>
                </a:ln>
                <a:solidFill>
                  <a:srgbClr val="2D5395"/>
                </a:solidFill>
                <a:effectLst/>
                <a:uLnTx/>
                <a:uFillTx/>
                <a:latin typeface="Cambria"/>
                <a:cs typeface="Cambria"/>
              </a:rPr>
              <a:t>3</a:t>
            </a:r>
            <a:endParaRPr kumimoji="0" sz="1800" b="0" i="0" u="none" strike="noStrike" kern="0" cap="none" spc="0" normalizeH="0" baseline="0" noProof="0" dirty="0">
              <a:ln>
                <a:noFill/>
              </a:ln>
              <a:solidFill>
                <a:sysClr val="windowText" lastClr="000000"/>
              </a:solidFill>
              <a:effectLst/>
              <a:uLnTx/>
              <a:uFillTx/>
              <a:latin typeface="Cambria"/>
              <a:cs typeface="Cambria"/>
            </a:endParaRPr>
          </a:p>
        </p:txBody>
      </p:sp>
      <p:sp>
        <p:nvSpPr>
          <p:cNvPr id="14" name="Rectangle 5">
            <a:extLst>
              <a:ext uri="{FF2B5EF4-FFF2-40B4-BE49-F238E27FC236}">
                <a16:creationId xmlns:a16="http://schemas.microsoft.com/office/drawing/2014/main" id="{CA553312-F82B-4D05-80CF-352198D9FC60}"/>
              </a:ext>
            </a:extLst>
          </p:cNvPr>
          <p:cNvSpPr>
            <a:spLocks noChangeArrowheads="1"/>
          </p:cNvSpPr>
          <p:nvPr/>
        </p:nvSpPr>
        <p:spPr bwMode="auto">
          <a:xfrm>
            <a:off x="1371600" y="2362200"/>
            <a:ext cx="8704706"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buFont typeface="Arial" panose="020B0604020202020204" pitchFamily="34" charset="0"/>
              <a:buChar char="•"/>
            </a:pPr>
            <a:r>
              <a:rPr lang="en-IN" sz="1800" b="1" dirty="0"/>
              <a:t>Reduces range anxiety</a:t>
            </a:r>
            <a:r>
              <a:rPr lang="en-IN" sz="1800" dirty="0"/>
              <a:t> for EV drivers through accurate predictions</a:t>
            </a:r>
          </a:p>
          <a:p>
            <a:pPr marL="285750" indent="-285750">
              <a:buFont typeface="Arial" panose="020B0604020202020204" pitchFamily="34" charset="0"/>
              <a:buChar char="•"/>
            </a:pPr>
            <a:r>
              <a:rPr lang="en-IN" sz="1800" b="1" dirty="0"/>
              <a:t>Enables better trip planning</a:t>
            </a:r>
            <a:r>
              <a:rPr lang="en-IN" sz="1800" dirty="0"/>
              <a:t> with real-time range estimates</a:t>
            </a:r>
          </a:p>
          <a:p>
            <a:pPr marL="285750" indent="-285750">
              <a:buFont typeface="Arial" panose="020B0604020202020204" pitchFamily="34" charset="0"/>
              <a:buChar char="•"/>
            </a:pPr>
            <a:r>
              <a:rPr lang="en-IN" sz="1800" b="1" dirty="0"/>
              <a:t>Demonstrates AI/ML capabilities</a:t>
            </a:r>
            <a:r>
              <a:rPr lang="en-IN" sz="1800" dirty="0"/>
              <a:t> in automotive applications</a:t>
            </a:r>
          </a:p>
          <a:p>
            <a:pPr marL="285750" indent="-285750">
              <a:buFont typeface="Arial" panose="020B0604020202020204" pitchFamily="34" charset="0"/>
              <a:buChar char="•"/>
            </a:pPr>
            <a:r>
              <a:rPr lang="en-IN" sz="1800" b="1" dirty="0"/>
              <a:t>Ready for integration</a:t>
            </a:r>
            <a:r>
              <a:rPr lang="en-IN" sz="1800" dirty="0"/>
              <a:t> into vehicle systems or mobile applications</a:t>
            </a:r>
          </a:p>
        </p:txBody>
      </p:sp>
    </p:spTree>
    <p:extLst>
      <p:ext uri="{BB962C8B-B14F-4D97-AF65-F5344CB8AC3E}">
        <p14:creationId xmlns:p14="http://schemas.microsoft.com/office/powerpoint/2010/main" val="37301064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79070" y="151637"/>
            <a:ext cx="11780520" cy="6560820"/>
          </a:xfrm>
          <a:custGeom>
            <a:avLst/>
            <a:gdLst/>
            <a:ahLst/>
            <a:cxnLst/>
            <a:rect l="l" t="t" r="r" b="b"/>
            <a:pathLst>
              <a:path w="11780520" h="6560820">
                <a:moveTo>
                  <a:pt x="0" y="6560820"/>
                </a:moveTo>
                <a:lnTo>
                  <a:pt x="11780520" y="6560820"/>
                </a:lnTo>
                <a:lnTo>
                  <a:pt x="11780520" y="0"/>
                </a:lnTo>
                <a:lnTo>
                  <a:pt x="0" y="0"/>
                </a:lnTo>
                <a:lnTo>
                  <a:pt x="0" y="6560820"/>
                </a:lnTo>
                <a:close/>
              </a:path>
            </a:pathLst>
          </a:custGeom>
          <a:ln w="28575">
            <a:solidFill>
              <a:srgbClr val="2D5395"/>
            </a:solidFill>
          </a:ln>
        </p:spPr>
        <p:txBody>
          <a:bodyPr wrap="square" lIns="0" tIns="0" rIns="0" bIns="0" rtlCol="0"/>
          <a:lstStyle/>
          <a:p>
            <a:endParaRPr/>
          </a:p>
        </p:txBody>
      </p:sp>
      <p:pic>
        <p:nvPicPr>
          <p:cNvPr id="3" name="object 3"/>
          <p:cNvPicPr/>
          <p:nvPr/>
        </p:nvPicPr>
        <p:blipFill>
          <a:blip r:embed="rId3" cstate="print"/>
          <a:stretch>
            <a:fillRect/>
          </a:stretch>
        </p:blipFill>
        <p:spPr>
          <a:xfrm>
            <a:off x="548640" y="184404"/>
            <a:ext cx="1216152" cy="1392936"/>
          </a:xfrm>
          <a:prstGeom prst="rect">
            <a:avLst/>
          </a:prstGeom>
        </p:spPr>
      </p:pic>
      <p:sp>
        <p:nvSpPr>
          <p:cNvPr id="4" name="object 4"/>
          <p:cNvSpPr txBox="1">
            <a:spLocks noGrp="1"/>
          </p:cNvSpPr>
          <p:nvPr>
            <p:ph type="title"/>
          </p:nvPr>
        </p:nvSpPr>
        <p:spPr>
          <a:xfrm>
            <a:off x="2279142" y="299440"/>
            <a:ext cx="9363710" cy="1102866"/>
          </a:xfrm>
          <a:prstGeom prst="rect">
            <a:avLst/>
          </a:prstGeom>
          <a:ln w="28575">
            <a:solidFill>
              <a:srgbClr val="2D5395"/>
            </a:solidFill>
          </a:ln>
        </p:spPr>
        <p:txBody>
          <a:bodyPr vert="horz" wrap="square" lIns="0" tIns="0" rIns="0" bIns="0" rtlCol="0">
            <a:spAutoFit/>
          </a:bodyPr>
          <a:lstStyle/>
          <a:p>
            <a:pPr marL="5080" lvl="0" algn="ctr">
              <a:lnSpc>
                <a:spcPts val="4295"/>
              </a:lnSpc>
            </a:pPr>
            <a:r>
              <a:rPr lang="en-IN" dirty="0"/>
              <a:t>ADVANTAGES OF PROPOSED SYSTEM</a:t>
            </a:r>
            <a:br>
              <a:rPr lang="en-US" dirty="0"/>
            </a:br>
            <a:endParaRPr lang="en-IN" spc="-10" dirty="0">
              <a:latin typeface="Times New Roman"/>
              <a:cs typeface="Times New Roman"/>
            </a:endParaRPr>
          </a:p>
        </p:txBody>
      </p:sp>
      <p:sp>
        <p:nvSpPr>
          <p:cNvPr id="6" name="object 6"/>
          <p:cNvSpPr txBox="1">
            <a:spLocks noGrp="1"/>
          </p:cNvSpPr>
          <p:nvPr>
            <p:ph type="sldNum" sz="quarter" idx="7"/>
          </p:nvPr>
        </p:nvSpPr>
        <p:spPr>
          <a:prstGeom prst="rect">
            <a:avLst/>
          </a:prstGeom>
        </p:spPr>
        <p:txBody>
          <a:bodyPr vert="horz" wrap="square" lIns="0" tIns="1270" rIns="0" bIns="0" rtlCol="0">
            <a:spAutoFit/>
          </a:bodyPr>
          <a:lstStyle/>
          <a:p>
            <a:pPr marL="38100">
              <a:lnSpc>
                <a:spcPct val="100000"/>
              </a:lnSpc>
              <a:spcBef>
                <a:spcPts val="10"/>
              </a:spcBef>
            </a:pPr>
            <a:fld id="{81D60167-4931-47E6-BA6A-407CBD079E47}" type="slidenum">
              <a:rPr spc="-25" dirty="0"/>
              <a:t>18</a:t>
            </a:fld>
            <a:endParaRPr spc="-25" dirty="0"/>
          </a:p>
        </p:txBody>
      </p:sp>
      <p:sp>
        <p:nvSpPr>
          <p:cNvPr id="5" name="object 5"/>
          <p:cNvSpPr txBox="1"/>
          <p:nvPr/>
        </p:nvSpPr>
        <p:spPr>
          <a:xfrm>
            <a:off x="457200" y="1951456"/>
            <a:ext cx="11185652" cy="764312"/>
          </a:xfrm>
          <a:prstGeom prst="rect">
            <a:avLst/>
          </a:prstGeom>
        </p:spPr>
        <p:txBody>
          <a:bodyPr vert="horz" wrap="square" lIns="0" tIns="12700" rIns="0" bIns="0" rtlCol="0">
            <a:spAutoFit/>
          </a:bodyPr>
          <a:lstStyle/>
          <a:p>
            <a:pPr marL="12065" marR="635635">
              <a:lnSpc>
                <a:spcPct val="150000"/>
              </a:lnSpc>
              <a:spcBef>
                <a:spcPts val="100"/>
              </a:spcBef>
              <a:tabLst>
                <a:tab pos="355600" algn="l"/>
              </a:tabLst>
            </a:pPr>
            <a:r>
              <a:rPr lang="en-US" sz="1600" b="1" dirty="0">
                <a:latin typeface="Times New Roman"/>
                <a:cs typeface="Times New Roman"/>
              </a:rPr>
              <a:t>	</a:t>
            </a:r>
            <a:r>
              <a:rPr lang="en-US" sz="2000" b="1" dirty="0">
                <a:latin typeface="Times New Roman"/>
                <a:cs typeface="Times New Roman"/>
              </a:rPr>
              <a:t>Advantages</a:t>
            </a:r>
          </a:p>
          <a:p>
            <a:pPr marL="12065" marR="635635">
              <a:spcBef>
                <a:spcPts val="100"/>
              </a:spcBef>
              <a:tabLst>
                <a:tab pos="355600" algn="l"/>
              </a:tabLst>
            </a:pPr>
            <a:r>
              <a:rPr lang="en-US" dirty="0">
                <a:latin typeface="Times New Roman"/>
                <a:cs typeface="Times New Roman"/>
              </a:rPr>
              <a:t>	</a:t>
            </a:r>
            <a:endParaRPr lang="en-IN" dirty="0">
              <a:latin typeface="Times New Roman"/>
              <a:cs typeface="Times New Roman"/>
            </a:endParaRPr>
          </a:p>
        </p:txBody>
      </p:sp>
      <p:sp>
        <p:nvSpPr>
          <p:cNvPr id="8" name="Rectangle 2">
            <a:extLst>
              <a:ext uri="{FF2B5EF4-FFF2-40B4-BE49-F238E27FC236}">
                <a16:creationId xmlns:a16="http://schemas.microsoft.com/office/drawing/2014/main" id="{F7CE2DC3-1E20-ACC4-D736-E814689D5AB0}"/>
              </a:ext>
            </a:extLst>
          </p:cNvPr>
          <p:cNvSpPr>
            <a:spLocks noChangeArrowheads="1"/>
          </p:cNvSpPr>
          <p:nvPr/>
        </p:nvSpPr>
        <p:spPr bwMode="auto">
          <a:xfrm>
            <a:off x="914400" y="2763797"/>
            <a:ext cx="5423280"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Higher accuracy compared to traditional models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Supports real-time prediction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Scalable for different EV types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Adapts to real-world driving conditions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04800" y="131592"/>
            <a:ext cx="11780520" cy="6560820"/>
          </a:xfrm>
          <a:custGeom>
            <a:avLst/>
            <a:gdLst/>
            <a:ahLst/>
            <a:cxnLst/>
            <a:rect l="l" t="t" r="r" b="b"/>
            <a:pathLst>
              <a:path w="11780520" h="6560820">
                <a:moveTo>
                  <a:pt x="0" y="6560820"/>
                </a:moveTo>
                <a:lnTo>
                  <a:pt x="11780520" y="6560820"/>
                </a:lnTo>
                <a:lnTo>
                  <a:pt x="11780520" y="0"/>
                </a:lnTo>
                <a:lnTo>
                  <a:pt x="0" y="0"/>
                </a:lnTo>
                <a:lnTo>
                  <a:pt x="0" y="6560820"/>
                </a:lnTo>
                <a:close/>
              </a:path>
            </a:pathLst>
          </a:custGeom>
          <a:ln w="28575">
            <a:solidFill>
              <a:srgbClr val="2D5395"/>
            </a:solidFill>
          </a:ln>
        </p:spPr>
        <p:txBody>
          <a:bodyPr wrap="square" lIns="0" tIns="0" rIns="0" bIns="0" rtlCol="0"/>
          <a:lstStyle/>
          <a:p>
            <a:endParaRPr/>
          </a:p>
        </p:txBody>
      </p:sp>
      <p:pic>
        <p:nvPicPr>
          <p:cNvPr id="3" name="object 3"/>
          <p:cNvPicPr/>
          <p:nvPr/>
        </p:nvPicPr>
        <p:blipFill>
          <a:blip r:embed="rId3" cstate="print"/>
          <a:stretch>
            <a:fillRect/>
          </a:stretch>
        </p:blipFill>
        <p:spPr>
          <a:xfrm>
            <a:off x="548640" y="184404"/>
            <a:ext cx="1216152" cy="1392936"/>
          </a:xfrm>
          <a:prstGeom prst="rect">
            <a:avLst/>
          </a:prstGeom>
        </p:spPr>
      </p:pic>
      <p:sp>
        <p:nvSpPr>
          <p:cNvPr id="4" name="object 4"/>
          <p:cNvSpPr txBox="1">
            <a:spLocks noGrp="1"/>
          </p:cNvSpPr>
          <p:nvPr>
            <p:ph type="title"/>
          </p:nvPr>
        </p:nvSpPr>
        <p:spPr>
          <a:xfrm>
            <a:off x="2279142" y="299440"/>
            <a:ext cx="9363710" cy="551433"/>
          </a:xfrm>
          <a:prstGeom prst="rect">
            <a:avLst/>
          </a:prstGeom>
          <a:ln w="28575">
            <a:solidFill>
              <a:srgbClr val="2D5395"/>
            </a:solidFill>
          </a:ln>
        </p:spPr>
        <p:txBody>
          <a:bodyPr vert="horz" wrap="square" lIns="0" tIns="0" rIns="0" bIns="0" rtlCol="0">
            <a:spAutoFit/>
          </a:bodyPr>
          <a:lstStyle/>
          <a:p>
            <a:pPr marL="5080" lvl="0" algn="ctr">
              <a:lnSpc>
                <a:spcPts val="4295"/>
              </a:lnSpc>
            </a:pPr>
            <a:r>
              <a:rPr lang="en-IN" dirty="0"/>
              <a:t>APPLICATIONS OF PROPOSED SYSTEM</a:t>
            </a:r>
            <a:endParaRPr lang="en-IN" spc="-10" dirty="0">
              <a:latin typeface="Times New Roman"/>
              <a:cs typeface="Times New Roman"/>
            </a:endParaRPr>
          </a:p>
        </p:txBody>
      </p:sp>
      <p:sp>
        <p:nvSpPr>
          <p:cNvPr id="6" name="object 6"/>
          <p:cNvSpPr txBox="1">
            <a:spLocks noGrp="1"/>
          </p:cNvSpPr>
          <p:nvPr>
            <p:ph type="sldNum" sz="quarter" idx="7"/>
          </p:nvPr>
        </p:nvSpPr>
        <p:spPr>
          <a:prstGeom prst="rect">
            <a:avLst/>
          </a:prstGeom>
        </p:spPr>
        <p:txBody>
          <a:bodyPr vert="horz" wrap="square" lIns="0" tIns="1270" rIns="0" bIns="0" rtlCol="0">
            <a:spAutoFit/>
          </a:bodyPr>
          <a:lstStyle/>
          <a:p>
            <a:pPr marL="38100">
              <a:lnSpc>
                <a:spcPct val="100000"/>
              </a:lnSpc>
              <a:spcBef>
                <a:spcPts val="10"/>
              </a:spcBef>
            </a:pPr>
            <a:fld id="{81D60167-4931-47E6-BA6A-407CBD079E47}" type="slidenum">
              <a:rPr spc="-25" dirty="0"/>
              <a:t>19</a:t>
            </a:fld>
            <a:endParaRPr spc="-25" dirty="0"/>
          </a:p>
        </p:txBody>
      </p:sp>
      <p:sp>
        <p:nvSpPr>
          <p:cNvPr id="5" name="object 5"/>
          <p:cNvSpPr txBox="1"/>
          <p:nvPr/>
        </p:nvSpPr>
        <p:spPr>
          <a:xfrm>
            <a:off x="0" y="1832244"/>
            <a:ext cx="11185652" cy="289823"/>
          </a:xfrm>
          <a:prstGeom prst="rect">
            <a:avLst/>
          </a:prstGeom>
        </p:spPr>
        <p:txBody>
          <a:bodyPr vert="horz" wrap="square" lIns="0" tIns="12700" rIns="0" bIns="0" rtlCol="0">
            <a:spAutoFit/>
          </a:bodyPr>
          <a:lstStyle/>
          <a:p>
            <a:pPr marL="12065" marR="635635">
              <a:spcBef>
                <a:spcPts val="100"/>
              </a:spcBef>
              <a:tabLst>
                <a:tab pos="355600" algn="l"/>
              </a:tabLst>
            </a:pPr>
            <a:r>
              <a:rPr lang="en-US" dirty="0">
                <a:latin typeface="Times New Roman"/>
                <a:cs typeface="Times New Roman"/>
              </a:rPr>
              <a:t>	</a:t>
            </a:r>
            <a:endParaRPr lang="en-IN" dirty="0">
              <a:latin typeface="Times New Roman"/>
              <a:cs typeface="Times New Roman"/>
            </a:endParaRPr>
          </a:p>
        </p:txBody>
      </p:sp>
      <p:sp>
        <p:nvSpPr>
          <p:cNvPr id="7" name="Rectangle 1">
            <a:extLst>
              <a:ext uri="{FF2B5EF4-FFF2-40B4-BE49-F238E27FC236}">
                <a16:creationId xmlns:a16="http://schemas.microsoft.com/office/drawing/2014/main" id="{C2C151E9-4B11-C060-76C9-0D0C1995ECF1}"/>
              </a:ext>
            </a:extLst>
          </p:cNvPr>
          <p:cNvSpPr>
            <a:spLocks noChangeArrowheads="1"/>
          </p:cNvSpPr>
          <p:nvPr/>
        </p:nvSpPr>
        <p:spPr bwMode="auto">
          <a:xfrm rot="10800000" flipV="1">
            <a:off x="1676400" y="1985632"/>
            <a:ext cx="7696200"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Used in </a:t>
            </a:r>
            <a:r>
              <a:rPr kumimoji="0" lang="en-US" altLang="en-US" sz="1800" b="1" i="0" u="none" strike="noStrike" cap="none" normalizeH="0" baseline="0" dirty="0">
                <a:ln>
                  <a:noFill/>
                </a:ln>
                <a:solidFill>
                  <a:schemeClr val="tx1"/>
                </a:solidFill>
                <a:effectLst/>
                <a:latin typeface="Arial" panose="020B0604020202020204" pitchFamily="34" charset="0"/>
              </a:rPr>
              <a:t>electric vehicles (EVs)</a:t>
            </a:r>
            <a:r>
              <a:rPr kumimoji="0" lang="en-US" altLang="en-US" sz="1800" b="0" i="0" u="none" strike="noStrike" cap="none" normalizeH="0" baseline="0" dirty="0">
                <a:ln>
                  <a:noFill/>
                </a:ln>
                <a:solidFill>
                  <a:schemeClr val="tx1"/>
                </a:solidFill>
                <a:effectLst/>
                <a:latin typeface="Arial" panose="020B0604020202020204" pitchFamily="34" charset="0"/>
              </a:rPr>
              <a:t> to predict remaining driving range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Helps reduce </a:t>
            </a:r>
            <a:r>
              <a:rPr kumimoji="0" lang="en-US" altLang="en-US" sz="1800" b="1" i="0" u="none" strike="noStrike" cap="none" normalizeH="0" baseline="0" dirty="0">
                <a:ln>
                  <a:noFill/>
                </a:ln>
                <a:solidFill>
                  <a:schemeClr val="tx1"/>
                </a:solidFill>
                <a:effectLst/>
                <a:latin typeface="Arial" panose="020B0604020202020204" pitchFamily="34" charset="0"/>
              </a:rPr>
              <a:t>range anxiety</a:t>
            </a:r>
            <a:r>
              <a:rPr kumimoji="0" lang="en-US" altLang="en-US" sz="1800" b="0" i="0" u="none" strike="noStrike" cap="none" normalizeH="0" baseline="0" dirty="0">
                <a:ln>
                  <a:noFill/>
                </a:ln>
                <a:solidFill>
                  <a:schemeClr val="tx1"/>
                </a:solidFill>
                <a:effectLst/>
                <a:latin typeface="Arial" panose="020B0604020202020204" pitchFamily="34" charset="0"/>
              </a:rPr>
              <a:t> for drivers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Improves </a:t>
            </a:r>
            <a:r>
              <a:rPr kumimoji="0" lang="en-US" altLang="en-US" sz="1800" b="1" i="0" u="none" strike="noStrike" cap="none" normalizeH="0" baseline="0" dirty="0">
                <a:ln>
                  <a:noFill/>
                </a:ln>
                <a:solidFill>
                  <a:schemeClr val="tx1"/>
                </a:solidFill>
                <a:effectLst/>
                <a:latin typeface="Arial" panose="020B0604020202020204" pitchFamily="34" charset="0"/>
              </a:rPr>
              <a:t>battery management system (BMS)</a:t>
            </a:r>
            <a:r>
              <a:rPr kumimoji="0" lang="en-US" altLang="en-US" sz="1800" b="0" i="0" u="none" strike="noStrike" cap="none" normalizeH="0" baseline="0" dirty="0">
                <a:ln>
                  <a:noFill/>
                </a:ln>
                <a:solidFill>
                  <a:schemeClr val="tx1"/>
                </a:solidFill>
                <a:effectLst/>
                <a:latin typeface="Arial" panose="020B0604020202020204" pitchFamily="34" charset="0"/>
              </a:rPr>
              <a:t> performance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IN" dirty="0"/>
              <a:t>Supports </a:t>
            </a:r>
            <a:r>
              <a:rPr lang="en-IN" b="1" dirty="0"/>
              <a:t>smart charging stations</a:t>
            </a:r>
            <a:r>
              <a:rPr lang="en-IN" dirty="0"/>
              <a:t> for efficient power usage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2">
            <a:extLst>
              <a:ext uri="{FF2B5EF4-FFF2-40B4-BE49-F238E27FC236}">
                <a16:creationId xmlns:a16="http://schemas.microsoft.com/office/drawing/2014/main" id="{976F0F92-10B4-4412-7673-2FDE5DA74F04}"/>
              </a:ext>
            </a:extLst>
          </p:cNvPr>
          <p:cNvSpPr>
            <a:spLocks noChangeArrowheads="1"/>
          </p:cNvSpPr>
          <p:nvPr/>
        </p:nvSpPr>
        <p:spPr bwMode="auto">
          <a:xfrm>
            <a:off x="1671735" y="3143702"/>
            <a:ext cx="936371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Useful in </a:t>
            </a:r>
            <a:r>
              <a:rPr kumimoji="0" lang="en-US" altLang="en-US" sz="1800" b="1" i="0" u="none" strike="noStrike" cap="none" normalizeH="0" baseline="0" dirty="0">
                <a:ln>
                  <a:noFill/>
                </a:ln>
                <a:solidFill>
                  <a:schemeClr val="tx1"/>
                </a:solidFill>
                <a:effectLst/>
                <a:latin typeface="Arial" panose="020B0604020202020204" pitchFamily="34" charset="0"/>
              </a:rPr>
              <a:t>public transportation systems</a:t>
            </a:r>
            <a:r>
              <a:rPr kumimoji="0" lang="en-US" altLang="en-US" sz="1800" b="0" i="0" u="none" strike="noStrike" cap="none" normalizeH="0" baseline="0" dirty="0">
                <a:ln>
                  <a:noFill/>
                </a:ln>
                <a:solidFill>
                  <a:schemeClr val="tx1"/>
                </a:solidFill>
                <a:effectLst/>
                <a:latin typeface="Arial" panose="020B0604020202020204" pitchFamily="34" charset="0"/>
              </a:rPr>
              <a:t> (electric buses, taxis)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104747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79070" y="151637"/>
            <a:ext cx="11780520" cy="6560820"/>
          </a:xfrm>
          <a:custGeom>
            <a:avLst/>
            <a:gdLst/>
            <a:ahLst/>
            <a:cxnLst/>
            <a:rect l="l" t="t" r="r" b="b"/>
            <a:pathLst>
              <a:path w="11780520" h="6560820">
                <a:moveTo>
                  <a:pt x="0" y="6560820"/>
                </a:moveTo>
                <a:lnTo>
                  <a:pt x="11780520" y="6560820"/>
                </a:lnTo>
                <a:lnTo>
                  <a:pt x="11780520" y="0"/>
                </a:lnTo>
                <a:lnTo>
                  <a:pt x="0" y="0"/>
                </a:lnTo>
                <a:lnTo>
                  <a:pt x="0" y="6560820"/>
                </a:lnTo>
                <a:close/>
              </a:path>
            </a:pathLst>
          </a:custGeom>
          <a:ln w="28575">
            <a:solidFill>
              <a:srgbClr val="2D5395"/>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3" name="object 3"/>
          <p:cNvPicPr/>
          <p:nvPr/>
        </p:nvPicPr>
        <p:blipFill>
          <a:blip r:embed="rId3" cstate="print"/>
          <a:stretch>
            <a:fillRect/>
          </a:stretch>
        </p:blipFill>
        <p:spPr>
          <a:xfrm>
            <a:off x="548640" y="184404"/>
            <a:ext cx="1216152" cy="1392936"/>
          </a:xfrm>
          <a:prstGeom prst="rect">
            <a:avLst/>
          </a:prstGeom>
        </p:spPr>
      </p:pic>
      <p:sp>
        <p:nvSpPr>
          <p:cNvPr id="4" name="object 4"/>
          <p:cNvSpPr txBox="1">
            <a:spLocks noGrp="1"/>
          </p:cNvSpPr>
          <p:nvPr>
            <p:ph type="title"/>
          </p:nvPr>
        </p:nvSpPr>
        <p:spPr>
          <a:xfrm>
            <a:off x="2279142" y="299440"/>
            <a:ext cx="9363710" cy="551433"/>
          </a:xfrm>
          <a:prstGeom prst="rect">
            <a:avLst/>
          </a:prstGeom>
          <a:ln w="28575">
            <a:solidFill>
              <a:srgbClr val="2D5395"/>
            </a:solidFill>
          </a:ln>
        </p:spPr>
        <p:txBody>
          <a:bodyPr vert="horz" wrap="square" lIns="0" tIns="0" rIns="0" bIns="0" rtlCol="0">
            <a:spAutoFit/>
          </a:bodyPr>
          <a:lstStyle/>
          <a:p>
            <a:pPr marL="5080" lvl="0" algn="ctr">
              <a:lnSpc>
                <a:spcPts val="4295"/>
              </a:lnSpc>
            </a:pPr>
            <a:r>
              <a:rPr lang="en-IN"/>
              <a:t>APPLICATION PROPOSED</a:t>
            </a:r>
            <a:endParaRPr lang="en-IN" spc="-10" dirty="0">
              <a:latin typeface="Times New Roman"/>
              <a:cs typeface="Times New Roman"/>
            </a:endParaRPr>
          </a:p>
        </p:txBody>
      </p:sp>
      <p:sp>
        <p:nvSpPr>
          <p:cNvPr id="6" name="object 6"/>
          <p:cNvSpPr txBox="1">
            <a:spLocks noGrp="1"/>
          </p:cNvSpPr>
          <p:nvPr>
            <p:ph type="sldNum" sz="quarter" idx="7"/>
          </p:nvPr>
        </p:nvSpPr>
        <p:spPr>
          <a:prstGeom prst="rect">
            <a:avLst/>
          </a:prstGeom>
        </p:spPr>
        <p:txBody>
          <a:bodyPr vert="horz" wrap="square" lIns="0" tIns="1270" rIns="0" bIns="0" rtlCol="0">
            <a:spAutoFit/>
          </a:bodyPr>
          <a:lstStyle/>
          <a:p>
            <a:pPr marL="38100" marR="0" lvl="0" indent="0" defTabSz="914400" eaLnBrk="1" fontAlgn="auto" latinLnBrk="0" hangingPunct="1">
              <a:lnSpc>
                <a:spcPct val="100000"/>
              </a:lnSpc>
              <a:spcBef>
                <a:spcPts val="10"/>
              </a:spcBef>
              <a:spcAft>
                <a:spcPts val="0"/>
              </a:spcAft>
              <a:buClrTx/>
              <a:buSzTx/>
              <a:buFontTx/>
              <a:buNone/>
              <a:tabLst/>
              <a:defRPr/>
            </a:pPr>
            <a:fld id="{81D60167-4931-47E6-BA6A-407CBD079E47}" type="slidenum">
              <a:rPr kumimoji="0" sz="1800" b="1" i="0" u="none" strike="noStrike" kern="0" cap="none" spc="-25" normalizeH="0" baseline="0" noProof="0" dirty="0">
                <a:ln>
                  <a:noFill/>
                </a:ln>
                <a:solidFill>
                  <a:srgbClr val="2D5395"/>
                </a:solidFill>
                <a:effectLst/>
                <a:uLnTx/>
                <a:uFillTx/>
                <a:latin typeface="Cambria"/>
              </a:rPr>
              <a:pPr marL="38100" marR="0" lvl="0" indent="0" defTabSz="914400" eaLnBrk="1" fontAlgn="auto" latinLnBrk="0" hangingPunct="1">
                <a:lnSpc>
                  <a:spcPct val="100000"/>
                </a:lnSpc>
                <a:spcBef>
                  <a:spcPts val="10"/>
                </a:spcBef>
                <a:spcAft>
                  <a:spcPts val="0"/>
                </a:spcAft>
                <a:buClrTx/>
                <a:buSzTx/>
                <a:buFontTx/>
                <a:buNone/>
                <a:tabLst/>
                <a:defRPr/>
              </a:pPr>
              <a:t>20</a:t>
            </a:fld>
            <a:endParaRPr kumimoji="0" sz="1800" b="1" i="0" u="none" strike="noStrike" kern="0" cap="none" spc="-25" normalizeH="0" baseline="0" noProof="0" dirty="0">
              <a:ln>
                <a:noFill/>
              </a:ln>
              <a:solidFill>
                <a:srgbClr val="2D5395"/>
              </a:solidFill>
              <a:effectLst/>
              <a:uLnTx/>
              <a:uFillTx/>
              <a:latin typeface="Cambria"/>
            </a:endParaRPr>
          </a:p>
        </p:txBody>
      </p:sp>
      <p:sp>
        <p:nvSpPr>
          <p:cNvPr id="5" name="object 5"/>
          <p:cNvSpPr txBox="1"/>
          <p:nvPr/>
        </p:nvSpPr>
        <p:spPr>
          <a:xfrm>
            <a:off x="457200" y="1951456"/>
            <a:ext cx="11185652" cy="289823"/>
          </a:xfrm>
          <a:prstGeom prst="rect">
            <a:avLst/>
          </a:prstGeom>
        </p:spPr>
        <p:txBody>
          <a:bodyPr vert="horz" wrap="square" lIns="0" tIns="12700" rIns="0" bIns="0" rtlCol="0">
            <a:spAutoFit/>
          </a:bodyPr>
          <a:lstStyle/>
          <a:p>
            <a:pPr marL="12065" marR="635635" lvl="0" indent="0" defTabSz="914400" eaLnBrk="1" fontAlgn="auto" latinLnBrk="0" hangingPunct="1">
              <a:lnSpc>
                <a:spcPct val="100000"/>
              </a:lnSpc>
              <a:spcBef>
                <a:spcPts val="100"/>
              </a:spcBef>
              <a:spcAft>
                <a:spcPts val="0"/>
              </a:spcAft>
              <a:buClrTx/>
              <a:buSzTx/>
              <a:buFontTx/>
              <a:buNone/>
              <a:tabLst>
                <a:tab pos="355600" algn="l"/>
              </a:tabLst>
              <a:defRPr/>
            </a:pPr>
            <a:r>
              <a:rPr kumimoji="0" lang="en-US" sz="1800" b="0" i="0" u="none" strike="noStrike" kern="0" cap="none" spc="0" normalizeH="0" baseline="0" noProof="0" dirty="0">
                <a:ln>
                  <a:noFill/>
                </a:ln>
                <a:solidFill>
                  <a:sysClr val="windowText" lastClr="000000"/>
                </a:solidFill>
                <a:effectLst/>
                <a:uLnTx/>
                <a:uFillTx/>
                <a:latin typeface="Times New Roman"/>
                <a:cs typeface="Times New Roman"/>
              </a:rPr>
              <a:t>	</a:t>
            </a:r>
            <a:endParaRPr kumimoji="0" lang="en-IN" sz="1800" b="0" i="0" u="none" strike="noStrike" kern="0" cap="none" spc="0" normalizeH="0" baseline="0" noProof="0" dirty="0">
              <a:ln>
                <a:noFill/>
              </a:ln>
              <a:solidFill>
                <a:sysClr val="windowText" lastClr="000000"/>
              </a:solidFill>
              <a:effectLst/>
              <a:uLnTx/>
              <a:uFillTx/>
              <a:latin typeface="Times New Roman"/>
              <a:cs typeface="Times New Roman"/>
            </a:endParaRPr>
          </a:p>
        </p:txBody>
      </p:sp>
      <p:pic>
        <p:nvPicPr>
          <p:cNvPr id="7" name="Picture 6">
            <a:extLst>
              <a:ext uri="{FF2B5EF4-FFF2-40B4-BE49-F238E27FC236}">
                <a16:creationId xmlns:a16="http://schemas.microsoft.com/office/drawing/2014/main" id="{241173FA-FC99-78F3-51AE-4C35378F3916}"/>
              </a:ext>
            </a:extLst>
          </p:cNvPr>
          <p:cNvPicPr>
            <a:picLocks noChangeAspect="1"/>
          </p:cNvPicPr>
          <p:nvPr/>
        </p:nvPicPr>
        <p:blipFill>
          <a:blip r:embed="rId4"/>
          <a:stretch>
            <a:fillRect/>
          </a:stretch>
        </p:blipFill>
        <p:spPr>
          <a:xfrm>
            <a:off x="2134362" y="1143000"/>
            <a:ext cx="8848935" cy="5045025"/>
          </a:xfrm>
          <a:prstGeom prst="rect">
            <a:avLst/>
          </a:prstGeom>
        </p:spPr>
      </p:pic>
    </p:spTree>
    <p:extLst>
      <p:ext uri="{BB962C8B-B14F-4D97-AF65-F5344CB8AC3E}">
        <p14:creationId xmlns:p14="http://schemas.microsoft.com/office/powerpoint/2010/main" val="25049970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17FD333-B5FE-BBF2-EF10-4C3907F239F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F793D68-BF1E-4AD3-70B2-096F7319BEF7}"/>
              </a:ext>
            </a:extLst>
          </p:cNvPr>
          <p:cNvSpPr/>
          <p:nvPr/>
        </p:nvSpPr>
        <p:spPr>
          <a:xfrm>
            <a:off x="179070" y="151637"/>
            <a:ext cx="11780520" cy="6560820"/>
          </a:xfrm>
          <a:custGeom>
            <a:avLst/>
            <a:gdLst/>
            <a:ahLst/>
            <a:cxnLst/>
            <a:rect l="l" t="t" r="r" b="b"/>
            <a:pathLst>
              <a:path w="11780520" h="6560820">
                <a:moveTo>
                  <a:pt x="0" y="6560820"/>
                </a:moveTo>
                <a:lnTo>
                  <a:pt x="11780520" y="6560820"/>
                </a:lnTo>
                <a:lnTo>
                  <a:pt x="11780520" y="0"/>
                </a:lnTo>
                <a:lnTo>
                  <a:pt x="0" y="0"/>
                </a:lnTo>
                <a:lnTo>
                  <a:pt x="0" y="6560820"/>
                </a:lnTo>
                <a:close/>
              </a:path>
            </a:pathLst>
          </a:custGeom>
          <a:ln w="28575">
            <a:solidFill>
              <a:srgbClr val="2D5395"/>
            </a:solidFill>
          </a:ln>
        </p:spPr>
        <p:txBody>
          <a:bodyPr wrap="square" lIns="0" tIns="0" rIns="0" bIns="0" rtlCol="0"/>
          <a:lstStyle/>
          <a:p>
            <a:endParaRPr/>
          </a:p>
        </p:txBody>
      </p:sp>
      <p:pic>
        <p:nvPicPr>
          <p:cNvPr id="3" name="object 3">
            <a:extLst>
              <a:ext uri="{FF2B5EF4-FFF2-40B4-BE49-F238E27FC236}">
                <a16:creationId xmlns:a16="http://schemas.microsoft.com/office/drawing/2014/main" id="{2EA31435-8CEC-A1E0-DD99-D2058389A6B0}"/>
              </a:ext>
            </a:extLst>
          </p:cNvPr>
          <p:cNvPicPr/>
          <p:nvPr/>
        </p:nvPicPr>
        <p:blipFill>
          <a:blip r:embed="rId3" cstate="print"/>
          <a:stretch>
            <a:fillRect/>
          </a:stretch>
        </p:blipFill>
        <p:spPr>
          <a:xfrm>
            <a:off x="548640" y="184404"/>
            <a:ext cx="1216152" cy="1392936"/>
          </a:xfrm>
          <a:prstGeom prst="rect">
            <a:avLst/>
          </a:prstGeom>
        </p:spPr>
      </p:pic>
      <p:sp>
        <p:nvSpPr>
          <p:cNvPr id="4" name="object 4">
            <a:extLst>
              <a:ext uri="{FF2B5EF4-FFF2-40B4-BE49-F238E27FC236}">
                <a16:creationId xmlns:a16="http://schemas.microsoft.com/office/drawing/2014/main" id="{EB6CF2FA-B877-6AF4-AEB7-522678184B52}"/>
              </a:ext>
            </a:extLst>
          </p:cNvPr>
          <p:cNvSpPr txBox="1">
            <a:spLocks noGrp="1"/>
          </p:cNvSpPr>
          <p:nvPr>
            <p:ph type="title"/>
          </p:nvPr>
        </p:nvSpPr>
        <p:spPr>
          <a:xfrm>
            <a:off x="2279142" y="299440"/>
            <a:ext cx="9363710" cy="567055"/>
          </a:xfrm>
          <a:prstGeom prst="rect">
            <a:avLst/>
          </a:prstGeom>
          <a:ln w="28575">
            <a:solidFill>
              <a:srgbClr val="2D5395"/>
            </a:solidFill>
          </a:ln>
        </p:spPr>
        <p:txBody>
          <a:bodyPr vert="horz" wrap="square" lIns="0" tIns="0" rIns="0" bIns="0" rtlCol="0">
            <a:spAutoFit/>
          </a:bodyPr>
          <a:lstStyle/>
          <a:p>
            <a:pPr marL="5080" algn="ctr">
              <a:lnSpc>
                <a:spcPts val="4295"/>
              </a:lnSpc>
            </a:pPr>
            <a:r>
              <a:rPr spc="-10" dirty="0">
                <a:latin typeface="Times New Roman"/>
                <a:cs typeface="Times New Roman"/>
              </a:rPr>
              <a:t>CONCLUSION</a:t>
            </a:r>
          </a:p>
        </p:txBody>
      </p:sp>
      <p:sp>
        <p:nvSpPr>
          <p:cNvPr id="6" name="object 6">
            <a:extLst>
              <a:ext uri="{FF2B5EF4-FFF2-40B4-BE49-F238E27FC236}">
                <a16:creationId xmlns:a16="http://schemas.microsoft.com/office/drawing/2014/main" id="{8D1F0965-5160-9E0F-4652-BCB32DED3B19}"/>
              </a:ext>
            </a:extLst>
          </p:cNvPr>
          <p:cNvSpPr txBox="1">
            <a:spLocks noGrp="1"/>
          </p:cNvSpPr>
          <p:nvPr>
            <p:ph type="sldNum" sz="quarter" idx="7"/>
          </p:nvPr>
        </p:nvSpPr>
        <p:spPr>
          <a:prstGeom prst="rect">
            <a:avLst/>
          </a:prstGeom>
        </p:spPr>
        <p:txBody>
          <a:bodyPr vert="horz" wrap="square" lIns="0" tIns="1270" rIns="0" bIns="0" rtlCol="0">
            <a:spAutoFit/>
          </a:bodyPr>
          <a:lstStyle/>
          <a:p>
            <a:pPr marL="38100">
              <a:lnSpc>
                <a:spcPct val="100000"/>
              </a:lnSpc>
              <a:spcBef>
                <a:spcPts val="10"/>
              </a:spcBef>
            </a:pPr>
            <a:fld id="{81D60167-4931-47E6-BA6A-407CBD079E47}" type="slidenum">
              <a:rPr spc="-25" dirty="0"/>
              <a:t>21</a:t>
            </a:fld>
            <a:endParaRPr spc="-25" dirty="0"/>
          </a:p>
        </p:txBody>
      </p:sp>
      <p:sp>
        <p:nvSpPr>
          <p:cNvPr id="7" name="Rectangle 1">
            <a:extLst>
              <a:ext uri="{FF2B5EF4-FFF2-40B4-BE49-F238E27FC236}">
                <a16:creationId xmlns:a16="http://schemas.microsoft.com/office/drawing/2014/main" id="{D810EC29-D384-5746-FF69-16A76DC3A305}"/>
              </a:ext>
            </a:extLst>
          </p:cNvPr>
          <p:cNvSpPr>
            <a:spLocks noChangeArrowheads="1"/>
          </p:cNvSpPr>
          <p:nvPr/>
        </p:nvSpPr>
        <p:spPr bwMode="auto">
          <a:xfrm>
            <a:off x="869043" y="1619651"/>
            <a:ext cx="982980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Arial" panose="020B0604020202020204" pitchFamily="34" charset="0"/>
              </a:rPr>
              <a:t>A data-driven approach using machine learning provides </a:t>
            </a:r>
            <a:r>
              <a:rPr kumimoji="0" lang="en-US" altLang="en-US" sz="1800" b="1" i="0" u="none" strike="noStrike" cap="none" normalizeH="0" baseline="0" dirty="0">
                <a:ln>
                  <a:noFill/>
                </a:ln>
                <a:solidFill>
                  <a:schemeClr val="tx1"/>
                </a:solidFill>
                <a:effectLst/>
                <a:latin typeface="Arial" panose="020B0604020202020204" pitchFamily="34" charset="0"/>
              </a:rPr>
              <a:t>accurate prediction of EV driving range</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Arial" panose="020B0604020202020204" pitchFamily="34" charset="0"/>
              </a:rPr>
              <a:t>The system effectively utilizes </a:t>
            </a:r>
            <a:r>
              <a:rPr kumimoji="0" lang="en-US" altLang="en-US" sz="1800" b="1" i="0" u="none" strike="noStrike" cap="none" normalizeH="0" baseline="0" dirty="0">
                <a:ln>
                  <a:noFill/>
                </a:ln>
                <a:solidFill>
                  <a:schemeClr val="tx1"/>
                </a:solidFill>
                <a:effectLst/>
                <a:latin typeface="Arial" panose="020B0604020202020204" pitchFamily="34" charset="0"/>
              </a:rPr>
              <a:t>vehicle, battery, and environmental data</a:t>
            </a:r>
            <a:r>
              <a:rPr kumimoji="0" lang="en-US" altLang="en-US" sz="1800" b="0" i="0" u="none" strike="noStrike" cap="none" normalizeH="0" baseline="0" dirty="0">
                <a:ln>
                  <a:noFill/>
                </a:ln>
                <a:solidFill>
                  <a:schemeClr val="tx1"/>
                </a:solidFill>
                <a:effectLst/>
                <a:latin typeface="Arial" panose="020B0604020202020204" pitchFamily="34" charset="0"/>
              </a:rPr>
              <a:t> for better estimation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Arial" panose="020B0604020202020204" pitchFamily="34" charset="0"/>
              </a:rPr>
              <a:t>Machine learning models such as </a:t>
            </a:r>
            <a:r>
              <a:rPr kumimoji="0" lang="en-US" altLang="en-US" sz="1800" b="1" i="0" u="none" strike="noStrike" cap="none" normalizeH="0" baseline="0" dirty="0">
                <a:ln>
                  <a:noFill/>
                </a:ln>
                <a:solidFill>
                  <a:schemeClr val="tx1"/>
                </a:solidFill>
                <a:effectLst/>
                <a:latin typeface="Arial" panose="020B0604020202020204" pitchFamily="34" charset="0"/>
              </a:rPr>
              <a:t>Random Forest, Gradient Boosting, and LSTM</a:t>
            </a:r>
            <a:r>
              <a:rPr kumimoji="0" lang="en-US" altLang="en-US" sz="1800" b="0" i="0" u="none" strike="noStrike" cap="none" normalizeH="0" baseline="0" dirty="0">
                <a:ln>
                  <a:noFill/>
                </a:ln>
                <a:solidFill>
                  <a:schemeClr val="tx1"/>
                </a:solidFill>
                <a:effectLst/>
                <a:latin typeface="Arial" panose="020B0604020202020204" pitchFamily="34" charset="0"/>
              </a:rPr>
              <a:t> improve prediction performance compared to traditional methods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892229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79070" y="151637"/>
            <a:ext cx="11780520" cy="6560820"/>
          </a:xfrm>
          <a:custGeom>
            <a:avLst/>
            <a:gdLst/>
            <a:ahLst/>
            <a:cxnLst/>
            <a:rect l="l" t="t" r="r" b="b"/>
            <a:pathLst>
              <a:path w="11780520" h="6560820">
                <a:moveTo>
                  <a:pt x="0" y="6560820"/>
                </a:moveTo>
                <a:lnTo>
                  <a:pt x="11780520" y="6560820"/>
                </a:lnTo>
                <a:lnTo>
                  <a:pt x="11780520" y="0"/>
                </a:lnTo>
                <a:lnTo>
                  <a:pt x="0" y="0"/>
                </a:lnTo>
                <a:lnTo>
                  <a:pt x="0" y="6560820"/>
                </a:lnTo>
                <a:close/>
              </a:path>
            </a:pathLst>
          </a:custGeom>
          <a:ln w="28575">
            <a:solidFill>
              <a:srgbClr val="2D5395"/>
            </a:solidFill>
          </a:ln>
        </p:spPr>
        <p:txBody>
          <a:bodyPr wrap="square" lIns="0" tIns="0" rIns="0" bIns="0" rtlCol="0"/>
          <a:lstStyle/>
          <a:p>
            <a:endParaRPr/>
          </a:p>
        </p:txBody>
      </p:sp>
      <p:pic>
        <p:nvPicPr>
          <p:cNvPr id="3" name="object 3"/>
          <p:cNvPicPr/>
          <p:nvPr/>
        </p:nvPicPr>
        <p:blipFill>
          <a:blip r:embed="rId3" cstate="print"/>
          <a:stretch>
            <a:fillRect/>
          </a:stretch>
        </p:blipFill>
        <p:spPr>
          <a:xfrm>
            <a:off x="548640" y="184404"/>
            <a:ext cx="1216152" cy="1392936"/>
          </a:xfrm>
          <a:prstGeom prst="rect">
            <a:avLst/>
          </a:prstGeom>
        </p:spPr>
      </p:pic>
      <p:sp>
        <p:nvSpPr>
          <p:cNvPr id="4" name="object 4"/>
          <p:cNvSpPr txBox="1">
            <a:spLocks noGrp="1"/>
          </p:cNvSpPr>
          <p:nvPr>
            <p:ph type="title"/>
          </p:nvPr>
        </p:nvSpPr>
        <p:spPr>
          <a:xfrm>
            <a:off x="2279142" y="299440"/>
            <a:ext cx="9363710" cy="567055"/>
          </a:xfrm>
          <a:prstGeom prst="rect">
            <a:avLst/>
          </a:prstGeom>
          <a:ln w="28575">
            <a:solidFill>
              <a:srgbClr val="2D5395"/>
            </a:solidFill>
          </a:ln>
        </p:spPr>
        <p:txBody>
          <a:bodyPr vert="horz" wrap="square" lIns="0" tIns="0" rIns="0" bIns="0" rtlCol="0">
            <a:spAutoFit/>
          </a:bodyPr>
          <a:lstStyle/>
          <a:p>
            <a:pPr marL="3810" algn="ctr">
              <a:lnSpc>
                <a:spcPts val="4295"/>
              </a:lnSpc>
            </a:pPr>
            <a:r>
              <a:rPr spc="-10" dirty="0">
                <a:latin typeface="Times New Roman"/>
                <a:cs typeface="Times New Roman"/>
              </a:rPr>
              <a:t>REFERENCES</a:t>
            </a:r>
          </a:p>
        </p:txBody>
      </p:sp>
      <p:sp>
        <p:nvSpPr>
          <p:cNvPr id="6" name="object 6"/>
          <p:cNvSpPr txBox="1">
            <a:spLocks noGrp="1"/>
          </p:cNvSpPr>
          <p:nvPr>
            <p:ph type="sldNum" sz="quarter" idx="7"/>
          </p:nvPr>
        </p:nvSpPr>
        <p:spPr>
          <a:prstGeom prst="rect">
            <a:avLst/>
          </a:prstGeom>
        </p:spPr>
        <p:txBody>
          <a:bodyPr vert="horz" wrap="square" lIns="0" tIns="1270" rIns="0" bIns="0" rtlCol="0">
            <a:spAutoFit/>
          </a:bodyPr>
          <a:lstStyle/>
          <a:p>
            <a:pPr marL="38100">
              <a:lnSpc>
                <a:spcPct val="100000"/>
              </a:lnSpc>
              <a:spcBef>
                <a:spcPts val="10"/>
              </a:spcBef>
            </a:pPr>
            <a:fld id="{81D60167-4931-47E6-BA6A-407CBD079E47}" type="slidenum">
              <a:rPr spc="-25" dirty="0"/>
              <a:t>22</a:t>
            </a:fld>
            <a:endParaRPr spc="-25" dirty="0"/>
          </a:p>
        </p:txBody>
      </p:sp>
      <p:sp>
        <p:nvSpPr>
          <p:cNvPr id="5" name="object 5"/>
          <p:cNvSpPr txBox="1">
            <a:spLocks noGrp="1"/>
          </p:cNvSpPr>
          <p:nvPr>
            <p:ph type="body" idx="1"/>
          </p:nvPr>
        </p:nvSpPr>
        <p:spPr>
          <a:prstGeom prst="rect">
            <a:avLst/>
          </a:prstGeom>
        </p:spPr>
        <p:txBody>
          <a:bodyPr vert="horz" wrap="square" lIns="0" tIns="12700" rIns="0" bIns="0" rtlCol="0">
            <a:spAutoFit/>
          </a:bodyPr>
          <a:lstStyle/>
          <a:p>
            <a:pPr marL="355600" marR="231140" indent="-342900">
              <a:lnSpc>
                <a:spcPct val="150000"/>
              </a:lnSpc>
              <a:spcBef>
                <a:spcPts val="100"/>
              </a:spcBef>
              <a:buFont typeface="Arial MT"/>
              <a:buChar char="•"/>
              <a:tabLst>
                <a:tab pos="355600" algn="l"/>
              </a:tabLst>
            </a:pPr>
            <a:r>
              <a:rPr dirty="0"/>
              <a:t>V</a:t>
            </a:r>
            <a:r>
              <a:rPr spc="-35" dirty="0"/>
              <a:t> </a:t>
            </a:r>
            <a:r>
              <a:rPr dirty="0"/>
              <a:t>Praveen,</a:t>
            </a:r>
            <a:r>
              <a:rPr spc="-40" dirty="0"/>
              <a:t> </a:t>
            </a:r>
            <a:r>
              <a:rPr dirty="0"/>
              <a:t>P</a:t>
            </a:r>
            <a:r>
              <a:rPr spc="-35" dirty="0"/>
              <a:t> </a:t>
            </a:r>
            <a:r>
              <a:rPr dirty="0"/>
              <a:t>Hari</a:t>
            </a:r>
            <a:r>
              <a:rPr spc="-30" dirty="0"/>
              <a:t> </a:t>
            </a:r>
            <a:r>
              <a:rPr dirty="0"/>
              <a:t>Manohara</a:t>
            </a:r>
            <a:r>
              <a:rPr spc="-30" dirty="0"/>
              <a:t> </a:t>
            </a:r>
            <a:r>
              <a:rPr dirty="0"/>
              <a:t>Varma,</a:t>
            </a:r>
            <a:r>
              <a:rPr spc="-30" dirty="0"/>
              <a:t> </a:t>
            </a:r>
            <a:r>
              <a:rPr dirty="0"/>
              <a:t>BVSSN</a:t>
            </a:r>
            <a:r>
              <a:rPr spc="-25" dirty="0"/>
              <a:t> </a:t>
            </a:r>
            <a:r>
              <a:rPr dirty="0"/>
              <a:t>Raju,</a:t>
            </a:r>
            <a:r>
              <a:rPr spc="-35" dirty="0"/>
              <a:t> </a:t>
            </a:r>
            <a:r>
              <a:rPr dirty="0"/>
              <a:t>“Image</a:t>
            </a:r>
            <a:r>
              <a:rPr spc="-20" dirty="0"/>
              <a:t> </a:t>
            </a:r>
            <a:r>
              <a:rPr dirty="0"/>
              <a:t>Encryption</a:t>
            </a:r>
            <a:r>
              <a:rPr spc="-60" dirty="0"/>
              <a:t> </a:t>
            </a:r>
            <a:r>
              <a:rPr dirty="0"/>
              <a:t>using</a:t>
            </a:r>
            <a:r>
              <a:rPr spc="-40" dirty="0"/>
              <a:t> </a:t>
            </a:r>
            <a:r>
              <a:rPr dirty="0"/>
              <a:t>Scan</a:t>
            </a:r>
            <a:r>
              <a:rPr spc="-25" dirty="0"/>
              <a:t> </a:t>
            </a:r>
            <a:r>
              <a:rPr dirty="0"/>
              <a:t>Patterns</a:t>
            </a:r>
            <a:r>
              <a:rPr spc="-55" dirty="0"/>
              <a:t> </a:t>
            </a:r>
            <a:r>
              <a:rPr dirty="0"/>
              <a:t>and</a:t>
            </a:r>
            <a:r>
              <a:rPr spc="-25" dirty="0"/>
              <a:t> </a:t>
            </a:r>
            <a:r>
              <a:rPr dirty="0"/>
              <a:t>Hill</a:t>
            </a:r>
            <a:r>
              <a:rPr spc="-45" dirty="0"/>
              <a:t> </a:t>
            </a:r>
            <a:r>
              <a:rPr spc="-10" dirty="0"/>
              <a:t>Cipher”, </a:t>
            </a:r>
            <a:r>
              <a:rPr dirty="0"/>
              <a:t>IEEE</a:t>
            </a:r>
            <a:r>
              <a:rPr spc="-60" dirty="0"/>
              <a:t> </a:t>
            </a:r>
            <a:r>
              <a:rPr dirty="0"/>
              <a:t>International</a:t>
            </a:r>
            <a:r>
              <a:rPr spc="-60" dirty="0"/>
              <a:t> </a:t>
            </a:r>
            <a:r>
              <a:rPr dirty="0"/>
              <a:t>Conference</a:t>
            </a:r>
            <a:r>
              <a:rPr spc="-60" dirty="0"/>
              <a:t> </a:t>
            </a:r>
            <a:r>
              <a:rPr dirty="0"/>
              <a:t>on</a:t>
            </a:r>
            <a:r>
              <a:rPr spc="-55" dirty="0"/>
              <a:t> </a:t>
            </a:r>
            <a:r>
              <a:rPr dirty="0"/>
              <a:t>Recent</a:t>
            </a:r>
            <a:r>
              <a:rPr spc="-20" dirty="0"/>
              <a:t> </a:t>
            </a:r>
            <a:r>
              <a:rPr dirty="0"/>
              <a:t>Trendsin</a:t>
            </a:r>
            <a:r>
              <a:rPr spc="-65" dirty="0"/>
              <a:t> </a:t>
            </a:r>
            <a:r>
              <a:rPr dirty="0"/>
              <a:t>Electronics,</a:t>
            </a:r>
            <a:r>
              <a:rPr spc="-70" dirty="0"/>
              <a:t> </a:t>
            </a:r>
            <a:r>
              <a:rPr dirty="0"/>
              <a:t>Information</a:t>
            </a:r>
            <a:r>
              <a:rPr spc="-45" dirty="0"/>
              <a:t> </a:t>
            </a:r>
            <a:r>
              <a:rPr dirty="0"/>
              <a:t>&amp;</a:t>
            </a:r>
            <a:r>
              <a:rPr spc="-45" dirty="0"/>
              <a:t> </a:t>
            </a:r>
            <a:r>
              <a:rPr dirty="0"/>
              <a:t>Communication</a:t>
            </a:r>
            <a:r>
              <a:rPr spc="-45" dirty="0"/>
              <a:t> </a:t>
            </a:r>
            <a:r>
              <a:rPr spc="-10" dirty="0"/>
              <a:t>Technology (RTEICT-</a:t>
            </a:r>
            <a:r>
              <a:rPr dirty="0"/>
              <a:t>2018), </a:t>
            </a:r>
            <a:r>
              <a:rPr spc="-10" dirty="0"/>
              <a:t>pp.1-6,2018.</a:t>
            </a:r>
          </a:p>
          <a:p>
            <a:pPr marL="355600" marR="318770" indent="-342900">
              <a:lnSpc>
                <a:spcPct val="150000"/>
              </a:lnSpc>
              <a:buFont typeface="Arial MT"/>
              <a:buChar char="•"/>
              <a:tabLst>
                <a:tab pos="355600" algn="l"/>
              </a:tabLst>
            </a:pPr>
            <a:r>
              <a:rPr dirty="0"/>
              <a:t>Sara</a:t>
            </a:r>
            <a:r>
              <a:rPr spc="-30" dirty="0"/>
              <a:t> </a:t>
            </a:r>
            <a:r>
              <a:rPr dirty="0"/>
              <a:t>Farrag,</a:t>
            </a:r>
            <a:r>
              <a:rPr spc="-30" dirty="0"/>
              <a:t> </a:t>
            </a:r>
            <a:r>
              <a:rPr dirty="0"/>
              <a:t>Wassim</a:t>
            </a:r>
            <a:r>
              <a:rPr spc="-20" dirty="0"/>
              <a:t> </a:t>
            </a:r>
            <a:r>
              <a:rPr dirty="0"/>
              <a:t>Alexan,</a:t>
            </a:r>
            <a:r>
              <a:rPr spc="-40" dirty="0"/>
              <a:t> </a:t>
            </a:r>
            <a:r>
              <a:rPr dirty="0"/>
              <a:t>Hisham</a:t>
            </a:r>
            <a:r>
              <a:rPr spc="-25" dirty="0"/>
              <a:t> </a:t>
            </a:r>
            <a:r>
              <a:rPr dirty="0"/>
              <a:t>H.</a:t>
            </a:r>
            <a:r>
              <a:rPr spc="-20" dirty="0"/>
              <a:t> </a:t>
            </a:r>
            <a:r>
              <a:rPr dirty="0"/>
              <a:t>Hussein,</a:t>
            </a:r>
            <a:r>
              <a:rPr spc="-25" dirty="0"/>
              <a:t> </a:t>
            </a:r>
            <a:r>
              <a:rPr spc="-10" dirty="0"/>
              <a:t>“Triple-</a:t>
            </a:r>
            <a:r>
              <a:rPr dirty="0"/>
              <a:t>Layer</a:t>
            </a:r>
            <a:r>
              <a:rPr spc="-55" dirty="0"/>
              <a:t> </a:t>
            </a:r>
            <a:r>
              <a:rPr dirty="0"/>
              <a:t>Image</a:t>
            </a:r>
            <a:r>
              <a:rPr spc="-20" dirty="0"/>
              <a:t> </a:t>
            </a:r>
            <a:r>
              <a:rPr dirty="0"/>
              <a:t>Security</a:t>
            </a:r>
            <a:r>
              <a:rPr spc="-35" dirty="0"/>
              <a:t> </a:t>
            </a:r>
            <a:r>
              <a:rPr dirty="0"/>
              <a:t>Using</a:t>
            </a:r>
            <a:r>
              <a:rPr spc="-20" dirty="0"/>
              <a:t> </a:t>
            </a:r>
            <a:r>
              <a:rPr dirty="0"/>
              <a:t>a</a:t>
            </a:r>
            <a:r>
              <a:rPr spc="-25" dirty="0"/>
              <a:t> </a:t>
            </a:r>
            <a:r>
              <a:rPr dirty="0"/>
              <a:t>Zigzag</a:t>
            </a:r>
            <a:r>
              <a:rPr spc="-40" dirty="0"/>
              <a:t> </a:t>
            </a:r>
            <a:r>
              <a:rPr spc="-10" dirty="0"/>
              <a:t>Embedding </a:t>
            </a:r>
            <a:r>
              <a:rPr dirty="0"/>
              <a:t>Pattern”,</a:t>
            </a:r>
            <a:r>
              <a:rPr spc="-5" dirty="0"/>
              <a:t> </a:t>
            </a:r>
            <a:r>
              <a:rPr spc="-10" dirty="0"/>
              <a:t>pp-1-8,2019.</a:t>
            </a:r>
          </a:p>
          <a:p>
            <a:pPr marL="354965" indent="-342265">
              <a:lnSpc>
                <a:spcPct val="100000"/>
              </a:lnSpc>
              <a:spcBef>
                <a:spcPts val="1080"/>
              </a:spcBef>
              <a:buFont typeface="Arial MT"/>
              <a:buChar char="•"/>
              <a:tabLst>
                <a:tab pos="354965" algn="l"/>
              </a:tabLst>
            </a:pPr>
            <a:r>
              <a:rPr dirty="0"/>
              <a:t>Krishna</a:t>
            </a:r>
            <a:r>
              <a:rPr spc="-25" dirty="0"/>
              <a:t> </a:t>
            </a:r>
            <a:r>
              <a:rPr dirty="0"/>
              <a:t>Raj</a:t>
            </a:r>
            <a:r>
              <a:rPr spc="-25" dirty="0"/>
              <a:t> </a:t>
            </a:r>
            <a:r>
              <a:rPr dirty="0"/>
              <a:t>A</a:t>
            </a:r>
            <a:r>
              <a:rPr spc="-30" dirty="0"/>
              <a:t> </a:t>
            </a:r>
            <a:r>
              <a:rPr dirty="0"/>
              <a:t>,Sharath</a:t>
            </a:r>
            <a:r>
              <a:rPr spc="-20" dirty="0"/>
              <a:t> </a:t>
            </a:r>
            <a:r>
              <a:rPr dirty="0"/>
              <a:t>Chandra</a:t>
            </a:r>
            <a:r>
              <a:rPr spc="-40" dirty="0"/>
              <a:t> </a:t>
            </a:r>
            <a:r>
              <a:rPr dirty="0"/>
              <a:t>N</a:t>
            </a:r>
            <a:r>
              <a:rPr spc="-30" dirty="0"/>
              <a:t> </a:t>
            </a:r>
            <a:r>
              <a:rPr dirty="0"/>
              <a:t>R,</a:t>
            </a:r>
            <a:r>
              <a:rPr spc="-25" dirty="0"/>
              <a:t> </a:t>
            </a:r>
            <a:r>
              <a:rPr dirty="0"/>
              <a:t>“</a:t>
            </a:r>
            <a:r>
              <a:rPr spc="-25" dirty="0"/>
              <a:t> </a:t>
            </a:r>
            <a:r>
              <a:rPr dirty="0"/>
              <a:t>Image</a:t>
            </a:r>
            <a:r>
              <a:rPr spc="-15" dirty="0"/>
              <a:t> </a:t>
            </a:r>
            <a:r>
              <a:rPr dirty="0"/>
              <a:t>encryption</a:t>
            </a:r>
            <a:r>
              <a:rPr spc="-65" dirty="0"/>
              <a:t> </a:t>
            </a:r>
            <a:r>
              <a:rPr dirty="0"/>
              <a:t>and</a:t>
            </a:r>
            <a:r>
              <a:rPr spc="-25" dirty="0"/>
              <a:t> </a:t>
            </a:r>
            <a:r>
              <a:rPr dirty="0"/>
              <a:t>decryption</a:t>
            </a:r>
            <a:r>
              <a:rPr spc="-65" dirty="0"/>
              <a:t> </a:t>
            </a:r>
            <a:r>
              <a:rPr dirty="0"/>
              <a:t>using</a:t>
            </a:r>
            <a:r>
              <a:rPr spc="-25" dirty="0"/>
              <a:t> </a:t>
            </a:r>
            <a:r>
              <a:rPr dirty="0"/>
              <a:t>Scan</a:t>
            </a:r>
            <a:r>
              <a:rPr spc="-35" dirty="0"/>
              <a:t> </a:t>
            </a:r>
            <a:r>
              <a:rPr dirty="0"/>
              <a:t>pattern</a:t>
            </a:r>
            <a:r>
              <a:rPr spc="-40" dirty="0"/>
              <a:t> </a:t>
            </a:r>
            <a:r>
              <a:rPr dirty="0"/>
              <a:t>and</a:t>
            </a:r>
            <a:r>
              <a:rPr spc="-25" dirty="0"/>
              <a:t> </a:t>
            </a:r>
            <a:r>
              <a:rPr spc="-20" dirty="0"/>
              <a:t>XTEA</a:t>
            </a:r>
          </a:p>
          <a:p>
            <a:pPr marL="355600">
              <a:lnSpc>
                <a:spcPct val="100000"/>
              </a:lnSpc>
              <a:spcBef>
                <a:spcPts val="1080"/>
              </a:spcBef>
            </a:pPr>
            <a:r>
              <a:rPr dirty="0"/>
              <a:t>encryption</a:t>
            </a:r>
            <a:r>
              <a:rPr spc="-55" dirty="0"/>
              <a:t> </a:t>
            </a:r>
            <a:r>
              <a:rPr dirty="0"/>
              <a:t>algorithm”.</a:t>
            </a:r>
            <a:r>
              <a:rPr spc="-15" dirty="0"/>
              <a:t> </a:t>
            </a:r>
            <a:r>
              <a:rPr dirty="0"/>
              <a:t>IOSR Journal of Electronics</a:t>
            </a:r>
            <a:r>
              <a:rPr spc="-20" dirty="0"/>
              <a:t> </a:t>
            </a:r>
            <a:r>
              <a:rPr dirty="0"/>
              <a:t>and Communication</a:t>
            </a:r>
            <a:r>
              <a:rPr spc="-15" dirty="0"/>
              <a:t> </a:t>
            </a:r>
            <a:r>
              <a:rPr dirty="0"/>
              <a:t>Engineering</a:t>
            </a:r>
            <a:r>
              <a:rPr spc="-25" dirty="0"/>
              <a:t> </a:t>
            </a:r>
            <a:r>
              <a:rPr spc="-10" dirty="0"/>
              <a:t>(IOSR-</a:t>
            </a:r>
            <a:r>
              <a:rPr dirty="0"/>
              <a:t>JECE),vol.</a:t>
            </a:r>
            <a:r>
              <a:rPr spc="-15" dirty="0"/>
              <a:t> </a:t>
            </a:r>
            <a:r>
              <a:rPr dirty="0"/>
              <a:t>13, </a:t>
            </a:r>
            <a:r>
              <a:rPr spc="-25" dirty="0"/>
              <a:t>pp.</a:t>
            </a:r>
          </a:p>
          <a:p>
            <a:pPr marL="355600">
              <a:lnSpc>
                <a:spcPct val="100000"/>
              </a:lnSpc>
              <a:spcBef>
                <a:spcPts val="1085"/>
              </a:spcBef>
            </a:pPr>
            <a:r>
              <a:rPr spc="-10" dirty="0"/>
              <a:t>65-71,2018.</a:t>
            </a:r>
          </a:p>
          <a:p>
            <a:pPr marL="355600" marR="159385" indent="-342900">
              <a:lnSpc>
                <a:spcPct val="150000"/>
              </a:lnSpc>
              <a:buFont typeface="Arial MT"/>
              <a:buChar char="•"/>
              <a:tabLst>
                <a:tab pos="355600" algn="l"/>
              </a:tabLst>
            </a:pPr>
            <a:r>
              <a:rPr dirty="0"/>
              <a:t>Veena</a:t>
            </a:r>
            <a:r>
              <a:rPr spc="-40" dirty="0"/>
              <a:t> </a:t>
            </a:r>
            <a:r>
              <a:rPr dirty="0"/>
              <a:t>G</a:t>
            </a:r>
            <a:r>
              <a:rPr spc="-35" dirty="0"/>
              <a:t> </a:t>
            </a:r>
            <a:r>
              <a:rPr dirty="0"/>
              <a:t>and</a:t>
            </a:r>
            <a:r>
              <a:rPr spc="-40" dirty="0"/>
              <a:t> </a:t>
            </a:r>
            <a:r>
              <a:rPr dirty="0"/>
              <a:t>Dr.</a:t>
            </a:r>
            <a:r>
              <a:rPr spc="-45" dirty="0"/>
              <a:t> </a:t>
            </a:r>
            <a:r>
              <a:rPr dirty="0"/>
              <a:t>Ramakrishna</a:t>
            </a:r>
            <a:r>
              <a:rPr spc="-35" dirty="0"/>
              <a:t> </a:t>
            </a:r>
            <a:r>
              <a:rPr dirty="0"/>
              <a:t>M,“A</a:t>
            </a:r>
            <a:r>
              <a:rPr spc="-30" dirty="0"/>
              <a:t> </a:t>
            </a:r>
            <a:r>
              <a:rPr dirty="0"/>
              <a:t>Survey</a:t>
            </a:r>
            <a:r>
              <a:rPr spc="-50" dirty="0"/>
              <a:t> </a:t>
            </a:r>
            <a:r>
              <a:rPr dirty="0"/>
              <a:t>on</a:t>
            </a:r>
            <a:r>
              <a:rPr spc="-45" dirty="0"/>
              <a:t> </a:t>
            </a:r>
            <a:r>
              <a:rPr dirty="0"/>
              <a:t>Image</a:t>
            </a:r>
            <a:r>
              <a:rPr spc="-35" dirty="0"/>
              <a:t> </a:t>
            </a:r>
            <a:r>
              <a:rPr dirty="0"/>
              <a:t>Encryption</a:t>
            </a:r>
            <a:r>
              <a:rPr spc="-75" dirty="0"/>
              <a:t> </a:t>
            </a:r>
            <a:r>
              <a:rPr dirty="0"/>
              <a:t>using</a:t>
            </a:r>
            <a:r>
              <a:rPr spc="-40" dirty="0"/>
              <a:t> </a:t>
            </a:r>
            <a:r>
              <a:rPr dirty="0"/>
              <a:t>Chaos-</a:t>
            </a:r>
            <a:r>
              <a:rPr spc="-45" dirty="0"/>
              <a:t> </a:t>
            </a:r>
            <a:r>
              <a:rPr dirty="0"/>
              <a:t>based</a:t>
            </a:r>
            <a:r>
              <a:rPr spc="-35" dirty="0"/>
              <a:t> </a:t>
            </a:r>
            <a:r>
              <a:rPr dirty="0"/>
              <a:t>Techniques”,</a:t>
            </a:r>
            <a:r>
              <a:rPr spc="-65" dirty="0"/>
              <a:t> </a:t>
            </a:r>
            <a:r>
              <a:rPr spc="-10" dirty="0"/>
              <a:t>IJACSA, </a:t>
            </a:r>
            <a:r>
              <a:rPr dirty="0"/>
              <a:t>Vol.12,</a:t>
            </a:r>
            <a:r>
              <a:rPr spc="-40" dirty="0"/>
              <a:t> </a:t>
            </a:r>
            <a:r>
              <a:rPr spc="-10" dirty="0"/>
              <a:t>pp.379-</a:t>
            </a:r>
            <a:r>
              <a:rPr dirty="0"/>
              <a:t>384,</a:t>
            </a:r>
            <a:r>
              <a:rPr spc="-20" dirty="0"/>
              <a:t> 2021</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548640" y="184404"/>
            <a:ext cx="1216152" cy="1392936"/>
          </a:xfrm>
          <a:prstGeom prst="rect">
            <a:avLst/>
          </a:prstGeom>
        </p:spPr>
      </p:pic>
      <p:grpSp>
        <p:nvGrpSpPr>
          <p:cNvPr id="3" name="object 3"/>
          <p:cNvGrpSpPr/>
          <p:nvPr/>
        </p:nvGrpSpPr>
        <p:grpSpPr>
          <a:xfrm>
            <a:off x="3861434" y="3206495"/>
            <a:ext cx="4207510" cy="506730"/>
            <a:chOff x="3861434" y="3206495"/>
            <a:chExt cx="4207510" cy="506730"/>
          </a:xfrm>
        </p:grpSpPr>
        <p:pic>
          <p:nvPicPr>
            <p:cNvPr id="4" name="object 4"/>
            <p:cNvPicPr/>
            <p:nvPr/>
          </p:nvPicPr>
          <p:blipFill>
            <a:blip r:embed="rId4" cstate="print"/>
            <a:stretch>
              <a:fillRect/>
            </a:stretch>
          </p:blipFill>
          <p:spPr>
            <a:xfrm>
              <a:off x="3881627" y="3226307"/>
              <a:ext cx="4187189" cy="486918"/>
            </a:xfrm>
            <a:prstGeom prst="rect">
              <a:avLst/>
            </a:prstGeom>
          </p:spPr>
        </p:pic>
        <p:pic>
          <p:nvPicPr>
            <p:cNvPr id="5" name="object 5"/>
            <p:cNvPicPr/>
            <p:nvPr/>
          </p:nvPicPr>
          <p:blipFill>
            <a:blip r:embed="rId5" cstate="print"/>
            <a:stretch>
              <a:fillRect/>
            </a:stretch>
          </p:blipFill>
          <p:spPr>
            <a:xfrm>
              <a:off x="3867530" y="3212591"/>
              <a:ext cx="4174236" cy="474091"/>
            </a:xfrm>
            <a:prstGeom prst="rect">
              <a:avLst/>
            </a:prstGeom>
          </p:spPr>
        </p:pic>
        <p:sp>
          <p:nvSpPr>
            <p:cNvPr id="6" name="object 6"/>
            <p:cNvSpPr/>
            <p:nvPr/>
          </p:nvSpPr>
          <p:spPr>
            <a:xfrm>
              <a:off x="3867530" y="3212591"/>
              <a:ext cx="4174490" cy="474345"/>
            </a:xfrm>
            <a:custGeom>
              <a:avLst/>
              <a:gdLst/>
              <a:ahLst/>
              <a:cxnLst/>
              <a:rect l="l" t="t" r="r" b="b"/>
              <a:pathLst>
                <a:path w="4174490" h="474345">
                  <a:moveTo>
                    <a:pt x="1172083" y="153035"/>
                  </a:moveTo>
                  <a:lnTo>
                    <a:pt x="1102487" y="309372"/>
                  </a:lnTo>
                  <a:lnTo>
                    <a:pt x="1239774" y="309372"/>
                  </a:lnTo>
                  <a:lnTo>
                    <a:pt x="1172083" y="153035"/>
                  </a:lnTo>
                  <a:close/>
                </a:path>
                <a:path w="4174490" h="474345">
                  <a:moveTo>
                    <a:pt x="3426205" y="24384"/>
                  </a:moveTo>
                  <a:lnTo>
                    <a:pt x="3371405" y="40290"/>
                  </a:lnTo>
                  <a:lnTo>
                    <a:pt x="3331464" y="88011"/>
                  </a:lnTo>
                  <a:lnTo>
                    <a:pt x="3311636" y="151622"/>
                  </a:lnTo>
                  <a:lnTo>
                    <a:pt x="3306693" y="191970"/>
                  </a:lnTo>
                  <a:lnTo>
                    <a:pt x="3305048" y="237998"/>
                  </a:lnTo>
                  <a:lnTo>
                    <a:pt x="3307595" y="292314"/>
                  </a:lnTo>
                  <a:lnTo>
                    <a:pt x="3315239" y="339058"/>
                  </a:lnTo>
                  <a:lnTo>
                    <a:pt x="3327979" y="378229"/>
                  </a:lnTo>
                  <a:lnTo>
                    <a:pt x="3361509" y="426831"/>
                  </a:lnTo>
                  <a:lnTo>
                    <a:pt x="3401375" y="446262"/>
                  </a:lnTo>
                  <a:lnTo>
                    <a:pt x="3425571" y="448691"/>
                  </a:lnTo>
                  <a:lnTo>
                    <a:pt x="3442098" y="447643"/>
                  </a:lnTo>
                  <a:lnTo>
                    <a:pt x="3483229" y="431927"/>
                  </a:lnTo>
                  <a:lnTo>
                    <a:pt x="3509391" y="404082"/>
                  </a:lnTo>
                  <a:lnTo>
                    <a:pt x="3529076" y="363474"/>
                  </a:lnTo>
                  <a:lnTo>
                    <a:pt x="3541363" y="309260"/>
                  </a:lnTo>
                  <a:lnTo>
                    <a:pt x="3545459" y="240665"/>
                  </a:lnTo>
                  <a:lnTo>
                    <a:pt x="3544411" y="198518"/>
                  </a:lnTo>
                  <a:lnTo>
                    <a:pt x="3536029" y="131133"/>
                  </a:lnTo>
                  <a:lnTo>
                    <a:pt x="3519741" y="85197"/>
                  </a:lnTo>
                  <a:lnTo>
                    <a:pt x="3486023" y="42799"/>
                  </a:lnTo>
                  <a:lnTo>
                    <a:pt x="3442660" y="25528"/>
                  </a:lnTo>
                  <a:lnTo>
                    <a:pt x="3426205" y="24384"/>
                  </a:lnTo>
                  <a:close/>
                </a:path>
                <a:path w="4174490" h="474345">
                  <a:moveTo>
                    <a:pt x="3706876" y="9271"/>
                  </a:moveTo>
                  <a:lnTo>
                    <a:pt x="3941191" y="9271"/>
                  </a:lnTo>
                  <a:lnTo>
                    <a:pt x="3941191" y="21717"/>
                  </a:lnTo>
                  <a:lnTo>
                    <a:pt x="3929507" y="21717"/>
                  </a:lnTo>
                  <a:lnTo>
                    <a:pt x="3917313" y="22072"/>
                  </a:lnTo>
                  <a:lnTo>
                    <a:pt x="3879088" y="42418"/>
                  </a:lnTo>
                  <a:lnTo>
                    <a:pt x="3874897" y="91059"/>
                  </a:lnTo>
                  <a:lnTo>
                    <a:pt x="3874897" y="313436"/>
                  </a:lnTo>
                  <a:lnTo>
                    <a:pt x="3877198" y="364045"/>
                  </a:lnTo>
                  <a:lnTo>
                    <a:pt x="3889498" y="403558"/>
                  </a:lnTo>
                  <a:lnTo>
                    <a:pt x="3925657" y="432587"/>
                  </a:lnTo>
                  <a:lnTo>
                    <a:pt x="3967734" y="439928"/>
                  </a:lnTo>
                  <a:lnTo>
                    <a:pt x="3985448" y="438902"/>
                  </a:lnTo>
                  <a:lnTo>
                    <a:pt x="4030472" y="423418"/>
                  </a:lnTo>
                  <a:lnTo>
                    <a:pt x="4062047" y="391485"/>
                  </a:lnTo>
                  <a:lnTo>
                    <a:pt x="4078938" y="337772"/>
                  </a:lnTo>
                  <a:lnTo>
                    <a:pt x="4082161" y="276225"/>
                  </a:lnTo>
                  <a:lnTo>
                    <a:pt x="4082161" y="91059"/>
                  </a:lnTo>
                  <a:lnTo>
                    <a:pt x="4075811" y="47498"/>
                  </a:lnTo>
                  <a:lnTo>
                    <a:pt x="4041632" y="23637"/>
                  </a:lnTo>
                  <a:lnTo>
                    <a:pt x="4017264" y="21717"/>
                  </a:lnTo>
                  <a:lnTo>
                    <a:pt x="4017264" y="9271"/>
                  </a:lnTo>
                  <a:lnTo>
                    <a:pt x="4174236" y="9271"/>
                  </a:lnTo>
                  <a:lnTo>
                    <a:pt x="4174236" y="21717"/>
                  </a:lnTo>
                  <a:lnTo>
                    <a:pt x="4164965" y="21717"/>
                  </a:lnTo>
                  <a:lnTo>
                    <a:pt x="4155769" y="22195"/>
                  </a:lnTo>
                  <a:lnTo>
                    <a:pt x="4117961" y="45340"/>
                  </a:lnTo>
                  <a:lnTo>
                    <a:pt x="4110354" y="91059"/>
                  </a:lnTo>
                  <a:lnTo>
                    <a:pt x="4110354" y="263525"/>
                  </a:lnTo>
                  <a:lnTo>
                    <a:pt x="4109690" y="300743"/>
                  </a:lnTo>
                  <a:lnTo>
                    <a:pt x="4104407" y="358465"/>
                  </a:lnTo>
                  <a:lnTo>
                    <a:pt x="4092598" y="396402"/>
                  </a:lnTo>
                  <a:lnTo>
                    <a:pt x="4066881" y="429081"/>
                  </a:lnTo>
                  <a:lnTo>
                    <a:pt x="4026116" y="457374"/>
                  </a:lnTo>
                  <a:lnTo>
                    <a:pt x="3970351" y="472233"/>
                  </a:lnTo>
                  <a:lnTo>
                    <a:pt x="3936873" y="474091"/>
                  </a:lnTo>
                  <a:lnTo>
                    <a:pt x="3909107" y="473112"/>
                  </a:lnTo>
                  <a:lnTo>
                    <a:pt x="3863578" y="465250"/>
                  </a:lnTo>
                  <a:lnTo>
                    <a:pt x="3825503" y="446913"/>
                  </a:lnTo>
                  <a:lnTo>
                    <a:pt x="3794504" y="419481"/>
                  </a:lnTo>
                  <a:lnTo>
                    <a:pt x="3775930" y="385284"/>
                  </a:lnTo>
                  <a:lnTo>
                    <a:pt x="3766925" y="340274"/>
                  </a:lnTo>
                  <a:lnTo>
                    <a:pt x="3765804" y="313436"/>
                  </a:lnTo>
                  <a:lnTo>
                    <a:pt x="3765804" y="91059"/>
                  </a:lnTo>
                  <a:lnTo>
                    <a:pt x="3765520" y="73294"/>
                  </a:lnTo>
                  <a:lnTo>
                    <a:pt x="3753485" y="30861"/>
                  </a:lnTo>
                  <a:lnTo>
                    <a:pt x="3706876" y="21717"/>
                  </a:lnTo>
                  <a:lnTo>
                    <a:pt x="3706876" y="9271"/>
                  </a:lnTo>
                  <a:close/>
                </a:path>
                <a:path w="4174490" h="474345">
                  <a:moveTo>
                    <a:pt x="2668016" y="9271"/>
                  </a:moveTo>
                  <a:lnTo>
                    <a:pt x="2885694" y="9271"/>
                  </a:lnTo>
                  <a:lnTo>
                    <a:pt x="2885694" y="21717"/>
                  </a:lnTo>
                  <a:lnTo>
                    <a:pt x="2876042" y="21717"/>
                  </a:lnTo>
                  <a:lnTo>
                    <a:pt x="2866894" y="22074"/>
                  </a:lnTo>
                  <a:lnTo>
                    <a:pt x="2840482" y="35179"/>
                  </a:lnTo>
                  <a:lnTo>
                    <a:pt x="2840482" y="39497"/>
                  </a:lnTo>
                  <a:lnTo>
                    <a:pt x="2855591" y="78073"/>
                  </a:lnTo>
                  <a:lnTo>
                    <a:pt x="2949321" y="250444"/>
                  </a:lnTo>
                  <a:lnTo>
                    <a:pt x="3031109" y="113411"/>
                  </a:lnTo>
                  <a:lnTo>
                    <a:pt x="3044444" y="90457"/>
                  </a:lnTo>
                  <a:lnTo>
                    <a:pt x="3053969" y="71707"/>
                  </a:lnTo>
                  <a:lnTo>
                    <a:pt x="3059684" y="57171"/>
                  </a:lnTo>
                  <a:lnTo>
                    <a:pt x="3061589" y="46862"/>
                  </a:lnTo>
                  <a:lnTo>
                    <a:pt x="3061589" y="40767"/>
                  </a:lnTo>
                  <a:lnTo>
                    <a:pt x="3024965" y="22981"/>
                  </a:lnTo>
                  <a:lnTo>
                    <a:pt x="3010916" y="21717"/>
                  </a:lnTo>
                  <a:lnTo>
                    <a:pt x="3010916" y="9271"/>
                  </a:lnTo>
                  <a:lnTo>
                    <a:pt x="3149600" y="9271"/>
                  </a:lnTo>
                  <a:lnTo>
                    <a:pt x="3149600" y="21717"/>
                  </a:lnTo>
                  <a:lnTo>
                    <a:pt x="3139023" y="23671"/>
                  </a:lnTo>
                  <a:lnTo>
                    <a:pt x="3129756" y="26495"/>
                  </a:lnTo>
                  <a:lnTo>
                    <a:pt x="3093545" y="61007"/>
                  </a:lnTo>
                  <a:lnTo>
                    <a:pt x="3062224" y="111506"/>
                  </a:lnTo>
                  <a:lnTo>
                    <a:pt x="2963799" y="275844"/>
                  </a:lnTo>
                  <a:lnTo>
                    <a:pt x="2963799" y="385699"/>
                  </a:lnTo>
                  <a:lnTo>
                    <a:pt x="2964017" y="401633"/>
                  </a:lnTo>
                  <a:lnTo>
                    <a:pt x="2974721" y="440182"/>
                  </a:lnTo>
                  <a:lnTo>
                    <a:pt x="3010916" y="450977"/>
                  </a:lnTo>
                  <a:lnTo>
                    <a:pt x="3036443" y="450977"/>
                  </a:lnTo>
                  <a:lnTo>
                    <a:pt x="3036443" y="463423"/>
                  </a:lnTo>
                  <a:lnTo>
                    <a:pt x="2781554" y="463423"/>
                  </a:lnTo>
                  <a:lnTo>
                    <a:pt x="2781554" y="450977"/>
                  </a:lnTo>
                  <a:lnTo>
                    <a:pt x="2805429" y="450977"/>
                  </a:lnTo>
                  <a:lnTo>
                    <a:pt x="2814909" y="450546"/>
                  </a:lnTo>
                  <a:lnTo>
                    <a:pt x="2850896" y="427863"/>
                  </a:lnTo>
                  <a:lnTo>
                    <a:pt x="2854579" y="385699"/>
                  </a:lnTo>
                  <a:lnTo>
                    <a:pt x="2854579" y="294640"/>
                  </a:lnTo>
                  <a:lnTo>
                    <a:pt x="2747772" y="100075"/>
                  </a:lnTo>
                  <a:lnTo>
                    <a:pt x="2720641" y="54356"/>
                  </a:lnTo>
                  <a:lnTo>
                    <a:pt x="2687669" y="24511"/>
                  </a:lnTo>
                  <a:lnTo>
                    <a:pt x="2668016" y="21717"/>
                  </a:lnTo>
                  <a:lnTo>
                    <a:pt x="2668016" y="9271"/>
                  </a:lnTo>
                  <a:close/>
                </a:path>
                <a:path w="4174490" h="474345">
                  <a:moveTo>
                    <a:pt x="1971802" y="9271"/>
                  </a:moveTo>
                  <a:lnTo>
                    <a:pt x="2197862" y="9271"/>
                  </a:lnTo>
                  <a:lnTo>
                    <a:pt x="2197862" y="21717"/>
                  </a:lnTo>
                  <a:lnTo>
                    <a:pt x="2187007" y="22143"/>
                  </a:lnTo>
                  <a:lnTo>
                    <a:pt x="2177510" y="23415"/>
                  </a:lnTo>
                  <a:lnTo>
                    <a:pt x="2147206" y="50008"/>
                  </a:lnTo>
                  <a:lnTo>
                    <a:pt x="2144903" y="86995"/>
                  </a:lnTo>
                  <a:lnTo>
                    <a:pt x="2144903" y="228346"/>
                  </a:lnTo>
                  <a:lnTo>
                    <a:pt x="2313432" y="92075"/>
                  </a:lnTo>
                  <a:lnTo>
                    <a:pt x="2346400" y="55749"/>
                  </a:lnTo>
                  <a:lnTo>
                    <a:pt x="2348611" y="46482"/>
                  </a:lnTo>
                  <a:lnTo>
                    <a:pt x="2348611" y="37973"/>
                  </a:lnTo>
                  <a:lnTo>
                    <a:pt x="2310897" y="22379"/>
                  </a:lnTo>
                  <a:lnTo>
                    <a:pt x="2297684" y="21717"/>
                  </a:lnTo>
                  <a:lnTo>
                    <a:pt x="2297684" y="9271"/>
                  </a:lnTo>
                  <a:lnTo>
                    <a:pt x="2474849" y="9271"/>
                  </a:lnTo>
                  <a:lnTo>
                    <a:pt x="2474849" y="21717"/>
                  </a:lnTo>
                  <a:lnTo>
                    <a:pt x="2463585" y="22885"/>
                  </a:lnTo>
                  <a:lnTo>
                    <a:pt x="2453608" y="24685"/>
                  </a:lnTo>
                  <a:lnTo>
                    <a:pt x="2415079" y="45259"/>
                  </a:lnTo>
                  <a:lnTo>
                    <a:pt x="2375027" y="76581"/>
                  </a:lnTo>
                  <a:lnTo>
                    <a:pt x="2242058" y="183134"/>
                  </a:lnTo>
                  <a:lnTo>
                    <a:pt x="2401824" y="383032"/>
                  </a:lnTo>
                  <a:lnTo>
                    <a:pt x="2433256" y="418480"/>
                  </a:lnTo>
                  <a:lnTo>
                    <a:pt x="2469096" y="444976"/>
                  </a:lnTo>
                  <a:lnTo>
                    <a:pt x="2497582" y="450977"/>
                  </a:lnTo>
                  <a:lnTo>
                    <a:pt x="2497582" y="463423"/>
                  </a:lnTo>
                  <a:lnTo>
                    <a:pt x="2261108" y="463423"/>
                  </a:lnTo>
                  <a:lnTo>
                    <a:pt x="2261108" y="450977"/>
                  </a:lnTo>
                  <a:lnTo>
                    <a:pt x="2271347" y="449814"/>
                  </a:lnTo>
                  <a:lnTo>
                    <a:pt x="2279586" y="448246"/>
                  </a:lnTo>
                  <a:lnTo>
                    <a:pt x="2285825" y="446297"/>
                  </a:lnTo>
                  <a:lnTo>
                    <a:pt x="2290064" y="443992"/>
                  </a:lnTo>
                  <a:lnTo>
                    <a:pt x="2294509" y="440690"/>
                  </a:lnTo>
                  <a:lnTo>
                    <a:pt x="2296668" y="436499"/>
                  </a:lnTo>
                  <a:lnTo>
                    <a:pt x="2296668" y="431546"/>
                  </a:lnTo>
                  <a:lnTo>
                    <a:pt x="2279308" y="396595"/>
                  </a:lnTo>
                  <a:lnTo>
                    <a:pt x="2161667" y="247777"/>
                  </a:lnTo>
                  <a:lnTo>
                    <a:pt x="2144903" y="261874"/>
                  </a:lnTo>
                  <a:lnTo>
                    <a:pt x="2144903" y="385699"/>
                  </a:lnTo>
                  <a:lnTo>
                    <a:pt x="2145162" y="401748"/>
                  </a:lnTo>
                  <a:lnTo>
                    <a:pt x="2156841" y="440690"/>
                  </a:lnTo>
                  <a:lnTo>
                    <a:pt x="2200910" y="450977"/>
                  </a:lnTo>
                  <a:lnTo>
                    <a:pt x="2200910" y="463423"/>
                  </a:lnTo>
                  <a:lnTo>
                    <a:pt x="1971802" y="463423"/>
                  </a:lnTo>
                  <a:lnTo>
                    <a:pt x="1971802" y="450977"/>
                  </a:lnTo>
                  <a:lnTo>
                    <a:pt x="1986915" y="450977"/>
                  </a:lnTo>
                  <a:lnTo>
                    <a:pt x="1996322" y="450546"/>
                  </a:lnTo>
                  <a:lnTo>
                    <a:pt x="2032127" y="427863"/>
                  </a:lnTo>
                  <a:lnTo>
                    <a:pt x="2035810" y="385699"/>
                  </a:lnTo>
                  <a:lnTo>
                    <a:pt x="2035810" y="86995"/>
                  </a:lnTo>
                  <a:lnTo>
                    <a:pt x="2032127" y="43434"/>
                  </a:lnTo>
                  <a:lnTo>
                    <a:pt x="1995961" y="22121"/>
                  </a:lnTo>
                  <a:lnTo>
                    <a:pt x="1986915" y="21717"/>
                  </a:lnTo>
                  <a:lnTo>
                    <a:pt x="1971802" y="21717"/>
                  </a:lnTo>
                  <a:lnTo>
                    <a:pt x="1971802" y="9271"/>
                  </a:lnTo>
                  <a:close/>
                </a:path>
                <a:path w="4174490" h="474345">
                  <a:moveTo>
                    <a:pt x="1470787" y="9271"/>
                  </a:moveTo>
                  <a:lnTo>
                    <a:pt x="1631950" y="9271"/>
                  </a:lnTo>
                  <a:lnTo>
                    <a:pt x="1855978" y="290957"/>
                  </a:lnTo>
                  <a:lnTo>
                    <a:pt x="1855978" y="95758"/>
                  </a:lnTo>
                  <a:lnTo>
                    <a:pt x="1849334" y="49323"/>
                  </a:lnTo>
                  <a:lnTo>
                    <a:pt x="1807894" y="22617"/>
                  </a:lnTo>
                  <a:lnTo>
                    <a:pt x="1790319" y="21717"/>
                  </a:lnTo>
                  <a:lnTo>
                    <a:pt x="1790319" y="9271"/>
                  </a:lnTo>
                  <a:lnTo>
                    <a:pt x="1940306" y="9271"/>
                  </a:lnTo>
                  <a:lnTo>
                    <a:pt x="1940306" y="21717"/>
                  </a:lnTo>
                  <a:lnTo>
                    <a:pt x="1927094" y="23669"/>
                  </a:lnTo>
                  <a:lnTo>
                    <a:pt x="1916239" y="25908"/>
                  </a:lnTo>
                  <a:lnTo>
                    <a:pt x="1886204" y="50292"/>
                  </a:lnTo>
                  <a:lnTo>
                    <a:pt x="1880743" y="95758"/>
                  </a:lnTo>
                  <a:lnTo>
                    <a:pt x="1880743" y="473837"/>
                  </a:lnTo>
                  <a:lnTo>
                    <a:pt x="1869313" y="473837"/>
                  </a:lnTo>
                  <a:lnTo>
                    <a:pt x="1562227" y="95758"/>
                  </a:lnTo>
                  <a:lnTo>
                    <a:pt x="1562227" y="384429"/>
                  </a:lnTo>
                  <a:lnTo>
                    <a:pt x="1572299" y="428809"/>
                  </a:lnTo>
                  <a:lnTo>
                    <a:pt x="1609941" y="450119"/>
                  </a:lnTo>
                  <a:lnTo>
                    <a:pt x="1631950" y="450977"/>
                  </a:lnTo>
                  <a:lnTo>
                    <a:pt x="1631950" y="463423"/>
                  </a:lnTo>
                  <a:lnTo>
                    <a:pt x="1470787" y="463423"/>
                  </a:lnTo>
                  <a:lnTo>
                    <a:pt x="1470787" y="450977"/>
                  </a:lnTo>
                  <a:lnTo>
                    <a:pt x="1488124" y="449933"/>
                  </a:lnTo>
                  <a:lnTo>
                    <a:pt x="1502616" y="447008"/>
                  </a:lnTo>
                  <a:lnTo>
                    <a:pt x="1534144" y="415258"/>
                  </a:lnTo>
                  <a:lnTo>
                    <a:pt x="1537843" y="384429"/>
                  </a:lnTo>
                  <a:lnTo>
                    <a:pt x="1537843" y="63881"/>
                  </a:lnTo>
                  <a:lnTo>
                    <a:pt x="1508400" y="31688"/>
                  </a:lnTo>
                  <a:lnTo>
                    <a:pt x="1470787" y="21717"/>
                  </a:lnTo>
                  <a:lnTo>
                    <a:pt x="1470787" y="9271"/>
                  </a:lnTo>
                  <a:close/>
                </a:path>
                <a:path w="4174490" h="474345">
                  <a:moveTo>
                    <a:pt x="446786" y="9271"/>
                  </a:moveTo>
                  <a:lnTo>
                    <a:pt x="684276" y="9271"/>
                  </a:lnTo>
                  <a:lnTo>
                    <a:pt x="684276" y="21717"/>
                  </a:lnTo>
                  <a:lnTo>
                    <a:pt x="669163" y="21717"/>
                  </a:lnTo>
                  <a:lnTo>
                    <a:pt x="659755" y="22147"/>
                  </a:lnTo>
                  <a:lnTo>
                    <a:pt x="623697" y="44831"/>
                  </a:lnTo>
                  <a:lnTo>
                    <a:pt x="620014" y="86995"/>
                  </a:lnTo>
                  <a:lnTo>
                    <a:pt x="620014" y="215646"/>
                  </a:lnTo>
                  <a:lnTo>
                    <a:pt x="780415" y="215646"/>
                  </a:lnTo>
                  <a:lnTo>
                    <a:pt x="780415" y="86995"/>
                  </a:lnTo>
                  <a:lnTo>
                    <a:pt x="776732" y="43434"/>
                  </a:lnTo>
                  <a:lnTo>
                    <a:pt x="740187" y="22121"/>
                  </a:lnTo>
                  <a:lnTo>
                    <a:pt x="731139" y="21717"/>
                  </a:lnTo>
                  <a:lnTo>
                    <a:pt x="716407" y="21717"/>
                  </a:lnTo>
                  <a:lnTo>
                    <a:pt x="716407" y="9271"/>
                  </a:lnTo>
                  <a:lnTo>
                    <a:pt x="953516" y="9271"/>
                  </a:lnTo>
                  <a:lnTo>
                    <a:pt x="953516" y="21717"/>
                  </a:lnTo>
                  <a:lnTo>
                    <a:pt x="938784" y="21717"/>
                  </a:lnTo>
                  <a:lnTo>
                    <a:pt x="929231" y="22147"/>
                  </a:lnTo>
                  <a:lnTo>
                    <a:pt x="893191" y="44831"/>
                  </a:lnTo>
                  <a:lnTo>
                    <a:pt x="889508" y="86995"/>
                  </a:lnTo>
                  <a:lnTo>
                    <a:pt x="889508" y="385699"/>
                  </a:lnTo>
                  <a:lnTo>
                    <a:pt x="893191" y="429260"/>
                  </a:lnTo>
                  <a:lnTo>
                    <a:pt x="929735" y="450572"/>
                  </a:lnTo>
                  <a:lnTo>
                    <a:pt x="938784" y="450977"/>
                  </a:lnTo>
                  <a:lnTo>
                    <a:pt x="953516" y="450977"/>
                  </a:lnTo>
                  <a:lnTo>
                    <a:pt x="953516" y="463423"/>
                  </a:lnTo>
                  <a:lnTo>
                    <a:pt x="716407" y="463423"/>
                  </a:lnTo>
                  <a:lnTo>
                    <a:pt x="716407" y="450977"/>
                  </a:lnTo>
                  <a:lnTo>
                    <a:pt x="731139" y="450977"/>
                  </a:lnTo>
                  <a:lnTo>
                    <a:pt x="740636" y="450546"/>
                  </a:lnTo>
                  <a:lnTo>
                    <a:pt x="776732" y="427863"/>
                  </a:lnTo>
                  <a:lnTo>
                    <a:pt x="780415" y="385699"/>
                  </a:lnTo>
                  <a:lnTo>
                    <a:pt x="780415" y="245110"/>
                  </a:lnTo>
                  <a:lnTo>
                    <a:pt x="620014" y="245110"/>
                  </a:lnTo>
                  <a:lnTo>
                    <a:pt x="620014" y="385699"/>
                  </a:lnTo>
                  <a:lnTo>
                    <a:pt x="623824" y="429260"/>
                  </a:lnTo>
                  <a:lnTo>
                    <a:pt x="660118" y="450572"/>
                  </a:lnTo>
                  <a:lnTo>
                    <a:pt x="669163" y="450977"/>
                  </a:lnTo>
                  <a:lnTo>
                    <a:pt x="684276" y="450977"/>
                  </a:lnTo>
                  <a:lnTo>
                    <a:pt x="684276" y="463423"/>
                  </a:lnTo>
                  <a:lnTo>
                    <a:pt x="446786" y="463423"/>
                  </a:lnTo>
                  <a:lnTo>
                    <a:pt x="446786" y="450977"/>
                  </a:lnTo>
                  <a:lnTo>
                    <a:pt x="461899" y="450977"/>
                  </a:lnTo>
                  <a:lnTo>
                    <a:pt x="471308" y="450546"/>
                  </a:lnTo>
                  <a:lnTo>
                    <a:pt x="507111" y="427863"/>
                  </a:lnTo>
                  <a:lnTo>
                    <a:pt x="510794" y="385699"/>
                  </a:lnTo>
                  <a:lnTo>
                    <a:pt x="510794" y="86995"/>
                  </a:lnTo>
                  <a:lnTo>
                    <a:pt x="507111" y="43434"/>
                  </a:lnTo>
                  <a:lnTo>
                    <a:pt x="470945" y="22121"/>
                  </a:lnTo>
                  <a:lnTo>
                    <a:pt x="461899" y="21717"/>
                  </a:lnTo>
                  <a:lnTo>
                    <a:pt x="446786" y="21717"/>
                  </a:lnTo>
                  <a:lnTo>
                    <a:pt x="446786" y="9271"/>
                  </a:lnTo>
                  <a:close/>
                </a:path>
                <a:path w="4174490" h="474345">
                  <a:moveTo>
                    <a:pt x="0" y="9271"/>
                  </a:moveTo>
                  <a:lnTo>
                    <a:pt x="407924" y="9271"/>
                  </a:lnTo>
                  <a:lnTo>
                    <a:pt x="407924" y="132207"/>
                  </a:lnTo>
                  <a:lnTo>
                    <a:pt x="395859" y="132207"/>
                  </a:lnTo>
                  <a:lnTo>
                    <a:pt x="390308" y="112446"/>
                  </a:lnTo>
                  <a:lnTo>
                    <a:pt x="384508" y="95662"/>
                  </a:lnTo>
                  <a:lnTo>
                    <a:pt x="364940" y="62281"/>
                  </a:lnTo>
                  <a:lnTo>
                    <a:pt x="328670" y="38862"/>
                  </a:lnTo>
                  <a:lnTo>
                    <a:pt x="291719" y="35433"/>
                  </a:lnTo>
                  <a:lnTo>
                    <a:pt x="257810" y="35433"/>
                  </a:lnTo>
                  <a:lnTo>
                    <a:pt x="257810" y="385699"/>
                  </a:lnTo>
                  <a:lnTo>
                    <a:pt x="258050" y="401488"/>
                  </a:lnTo>
                  <a:lnTo>
                    <a:pt x="269240" y="440182"/>
                  </a:lnTo>
                  <a:lnTo>
                    <a:pt x="307467" y="450977"/>
                  </a:lnTo>
                  <a:lnTo>
                    <a:pt x="322453" y="450977"/>
                  </a:lnTo>
                  <a:lnTo>
                    <a:pt x="322453" y="463423"/>
                  </a:lnTo>
                  <a:lnTo>
                    <a:pt x="84709" y="463423"/>
                  </a:lnTo>
                  <a:lnTo>
                    <a:pt x="84709" y="450977"/>
                  </a:lnTo>
                  <a:lnTo>
                    <a:pt x="99822" y="450977"/>
                  </a:lnTo>
                  <a:lnTo>
                    <a:pt x="109229" y="450546"/>
                  </a:lnTo>
                  <a:lnTo>
                    <a:pt x="145288" y="427863"/>
                  </a:lnTo>
                  <a:lnTo>
                    <a:pt x="148971" y="385699"/>
                  </a:lnTo>
                  <a:lnTo>
                    <a:pt x="148971" y="35433"/>
                  </a:lnTo>
                  <a:lnTo>
                    <a:pt x="116205" y="35433"/>
                  </a:lnTo>
                  <a:lnTo>
                    <a:pt x="94821" y="36647"/>
                  </a:lnTo>
                  <a:lnTo>
                    <a:pt x="49530" y="54863"/>
                  </a:lnTo>
                  <a:lnTo>
                    <a:pt x="25780" y="87725"/>
                  </a:lnTo>
                  <a:lnTo>
                    <a:pt x="12700" y="132207"/>
                  </a:lnTo>
                  <a:lnTo>
                    <a:pt x="0" y="132207"/>
                  </a:lnTo>
                  <a:lnTo>
                    <a:pt x="0" y="9271"/>
                  </a:lnTo>
                  <a:close/>
                </a:path>
                <a:path w="4174490" h="474345">
                  <a:moveTo>
                    <a:pt x="3435604" y="2794"/>
                  </a:moveTo>
                  <a:lnTo>
                    <a:pt x="3483066" y="6893"/>
                  </a:lnTo>
                  <a:lnTo>
                    <a:pt x="3526028" y="18827"/>
                  </a:lnTo>
                  <a:lnTo>
                    <a:pt x="3564512" y="38619"/>
                  </a:lnTo>
                  <a:lnTo>
                    <a:pt x="3598545" y="66294"/>
                  </a:lnTo>
                  <a:lnTo>
                    <a:pt x="3628215" y="102036"/>
                  </a:lnTo>
                  <a:lnTo>
                    <a:pt x="3649408" y="142017"/>
                  </a:lnTo>
                  <a:lnTo>
                    <a:pt x="3662124" y="186237"/>
                  </a:lnTo>
                  <a:lnTo>
                    <a:pt x="3666363" y="234696"/>
                  </a:lnTo>
                  <a:lnTo>
                    <a:pt x="3663197" y="276558"/>
                  </a:lnTo>
                  <a:lnTo>
                    <a:pt x="3653710" y="315849"/>
                  </a:lnTo>
                  <a:lnTo>
                    <a:pt x="3637913" y="352567"/>
                  </a:lnTo>
                  <a:lnTo>
                    <a:pt x="3615817" y="386715"/>
                  </a:lnTo>
                  <a:lnTo>
                    <a:pt x="3578856" y="424813"/>
                  </a:lnTo>
                  <a:lnTo>
                    <a:pt x="3535013" y="452040"/>
                  </a:lnTo>
                  <a:lnTo>
                    <a:pt x="3484264" y="468385"/>
                  </a:lnTo>
                  <a:lnTo>
                    <a:pt x="3426587" y="473837"/>
                  </a:lnTo>
                  <a:lnTo>
                    <a:pt x="3368798" y="468645"/>
                  </a:lnTo>
                  <a:lnTo>
                    <a:pt x="3317938" y="453072"/>
                  </a:lnTo>
                  <a:lnTo>
                    <a:pt x="3274032" y="427116"/>
                  </a:lnTo>
                  <a:lnTo>
                    <a:pt x="3237103" y="390779"/>
                  </a:lnTo>
                  <a:lnTo>
                    <a:pt x="3213933" y="356395"/>
                  </a:lnTo>
                  <a:lnTo>
                    <a:pt x="3197383" y="318976"/>
                  </a:lnTo>
                  <a:lnTo>
                    <a:pt x="3187453" y="278532"/>
                  </a:lnTo>
                  <a:lnTo>
                    <a:pt x="3184144" y="235077"/>
                  </a:lnTo>
                  <a:lnTo>
                    <a:pt x="3188452" y="186596"/>
                  </a:lnTo>
                  <a:lnTo>
                    <a:pt x="3201368" y="142319"/>
                  </a:lnTo>
                  <a:lnTo>
                    <a:pt x="3222880" y="102256"/>
                  </a:lnTo>
                  <a:lnTo>
                    <a:pt x="3252978" y="66421"/>
                  </a:lnTo>
                  <a:lnTo>
                    <a:pt x="3289341" y="37157"/>
                  </a:lnTo>
                  <a:lnTo>
                    <a:pt x="3329670" y="16811"/>
                  </a:lnTo>
                  <a:lnTo>
                    <a:pt x="3373975" y="5395"/>
                  </a:lnTo>
                  <a:lnTo>
                    <a:pt x="3422269" y="2921"/>
                  </a:lnTo>
                  <a:lnTo>
                    <a:pt x="3426714" y="2794"/>
                  </a:lnTo>
                  <a:lnTo>
                    <a:pt x="3431159" y="2667"/>
                  </a:lnTo>
                  <a:lnTo>
                    <a:pt x="3435604" y="2794"/>
                  </a:lnTo>
                  <a:close/>
                </a:path>
                <a:path w="4174490" h="474345">
                  <a:moveTo>
                    <a:pt x="1212596" y="0"/>
                  </a:moveTo>
                  <a:lnTo>
                    <a:pt x="1218946" y="0"/>
                  </a:lnTo>
                  <a:lnTo>
                    <a:pt x="1382776" y="372363"/>
                  </a:lnTo>
                  <a:lnTo>
                    <a:pt x="1393967" y="396317"/>
                  </a:lnTo>
                  <a:lnTo>
                    <a:pt x="1413208" y="429603"/>
                  </a:lnTo>
                  <a:lnTo>
                    <a:pt x="1453388" y="450977"/>
                  </a:lnTo>
                  <a:lnTo>
                    <a:pt x="1453388" y="463423"/>
                  </a:lnTo>
                  <a:lnTo>
                    <a:pt x="1233678" y="463423"/>
                  </a:lnTo>
                  <a:lnTo>
                    <a:pt x="1233678" y="450977"/>
                  </a:lnTo>
                  <a:lnTo>
                    <a:pt x="1242822" y="450977"/>
                  </a:lnTo>
                  <a:lnTo>
                    <a:pt x="1255010" y="450522"/>
                  </a:lnTo>
                  <a:lnTo>
                    <a:pt x="1287272" y="434975"/>
                  </a:lnTo>
                  <a:lnTo>
                    <a:pt x="1287272" y="428244"/>
                  </a:lnTo>
                  <a:lnTo>
                    <a:pt x="1287272" y="424180"/>
                  </a:lnTo>
                  <a:lnTo>
                    <a:pt x="1286637" y="420116"/>
                  </a:lnTo>
                  <a:lnTo>
                    <a:pt x="1285240" y="415798"/>
                  </a:lnTo>
                  <a:lnTo>
                    <a:pt x="1284404" y="413156"/>
                  </a:lnTo>
                  <a:lnTo>
                    <a:pt x="1282461" y="408098"/>
                  </a:lnTo>
                  <a:lnTo>
                    <a:pt x="1279399" y="400635"/>
                  </a:lnTo>
                  <a:lnTo>
                    <a:pt x="1275207" y="390779"/>
                  </a:lnTo>
                  <a:lnTo>
                    <a:pt x="1251077" y="334137"/>
                  </a:lnTo>
                  <a:lnTo>
                    <a:pt x="1090676" y="334137"/>
                  </a:lnTo>
                  <a:lnTo>
                    <a:pt x="1071626" y="378333"/>
                  </a:lnTo>
                  <a:lnTo>
                    <a:pt x="1062228" y="414909"/>
                  </a:lnTo>
                  <a:lnTo>
                    <a:pt x="1063202" y="423812"/>
                  </a:lnTo>
                  <a:lnTo>
                    <a:pt x="1093327" y="447643"/>
                  </a:lnTo>
                  <a:lnTo>
                    <a:pt x="1122172" y="450977"/>
                  </a:lnTo>
                  <a:lnTo>
                    <a:pt x="1122172" y="463423"/>
                  </a:lnTo>
                  <a:lnTo>
                    <a:pt x="971169" y="463423"/>
                  </a:lnTo>
                  <a:lnTo>
                    <a:pt x="971169" y="450977"/>
                  </a:lnTo>
                  <a:lnTo>
                    <a:pt x="982888" y="448357"/>
                  </a:lnTo>
                  <a:lnTo>
                    <a:pt x="993489" y="444119"/>
                  </a:lnTo>
                  <a:lnTo>
                    <a:pt x="1028938" y="405368"/>
                  </a:lnTo>
                  <a:lnTo>
                    <a:pt x="1050163" y="362331"/>
                  </a:lnTo>
                  <a:lnTo>
                    <a:pt x="1212596" y="0"/>
                  </a:lnTo>
                  <a:close/>
                </a:path>
              </a:pathLst>
            </a:custGeom>
            <a:ln w="12192">
              <a:solidFill>
                <a:srgbClr val="17375E"/>
              </a:solidFill>
            </a:ln>
          </p:spPr>
          <p:txBody>
            <a:bodyPr wrap="square" lIns="0" tIns="0" rIns="0" bIns="0" rtlCol="0"/>
            <a:lstStyle/>
            <a:p>
              <a:endParaRPr/>
            </a:p>
          </p:txBody>
        </p:sp>
      </p:grpSp>
      <p:sp>
        <p:nvSpPr>
          <p:cNvPr id="7" name="object 7"/>
          <p:cNvSpPr txBox="1">
            <a:spLocks noGrp="1"/>
          </p:cNvSpPr>
          <p:nvPr>
            <p:ph type="sldNum" sz="quarter" idx="7"/>
          </p:nvPr>
        </p:nvSpPr>
        <p:spPr>
          <a:prstGeom prst="rect">
            <a:avLst/>
          </a:prstGeom>
        </p:spPr>
        <p:txBody>
          <a:bodyPr vert="horz" wrap="square" lIns="0" tIns="1270" rIns="0" bIns="0" rtlCol="0">
            <a:spAutoFit/>
          </a:bodyPr>
          <a:lstStyle/>
          <a:p>
            <a:pPr marL="38100">
              <a:lnSpc>
                <a:spcPct val="100000"/>
              </a:lnSpc>
              <a:spcBef>
                <a:spcPts val="10"/>
              </a:spcBef>
            </a:pPr>
            <a:fld id="{81D60167-4931-47E6-BA6A-407CBD079E47}" type="slidenum">
              <a:rPr spc="-25" dirty="0"/>
              <a:t>23</a:t>
            </a:fld>
            <a:endParaRPr spc="-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632</TotalTime>
  <Words>1903</Words>
  <Application>Microsoft Office PowerPoint</Application>
  <PresentationFormat>Widescreen</PresentationFormat>
  <Paragraphs>335</Paragraphs>
  <Slides>23</Slides>
  <Notes>22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Arial MT</vt:lpstr>
      <vt:lpstr>Arial</vt:lpstr>
      <vt:lpstr>Calibri</vt:lpstr>
      <vt:lpstr>Cambria</vt:lpstr>
      <vt:lpstr>Times New Roman</vt:lpstr>
      <vt:lpstr>Wingdings</vt:lpstr>
      <vt:lpstr>Office Theme</vt:lpstr>
      <vt:lpstr>K S INSTITUTE OF TECHNOLOGY DEPARTMENT OF ARTIFICIAL INTELLIGENCE &amp; MACHINE LEARNING</vt:lpstr>
      <vt:lpstr>INDEX</vt:lpstr>
      <vt:lpstr>INTRODUCTION</vt:lpstr>
      <vt:lpstr>PROBLEM STATEMENT &amp; OBJECTIVE</vt:lpstr>
      <vt:lpstr>LITERATURE SURVEY</vt:lpstr>
      <vt:lpstr>LITERATURE SURVEY</vt:lpstr>
      <vt:lpstr>DISADVANTAGES OF EXISITING WORK</vt:lpstr>
      <vt:lpstr>PROPOSED SOLUTION &amp; OBJECTIVE</vt:lpstr>
      <vt:lpstr>PowerPoint Presentation</vt:lpstr>
      <vt:lpstr>SYSTEM ARCHITECTURE</vt:lpstr>
      <vt:lpstr>FLOWCHART</vt:lpstr>
      <vt:lpstr>PROPOSED SYSTEM &amp; ALGORITHM</vt:lpstr>
      <vt:lpstr>PROPOSED SYSTEM &amp; ALGORITHM</vt:lpstr>
      <vt:lpstr>PROPOSED SYSTEM &amp; ALGORITHM</vt:lpstr>
      <vt:lpstr>PROJECT PROGRESS</vt:lpstr>
      <vt:lpstr>WORK PLAN</vt:lpstr>
      <vt:lpstr>PROJECT OUTCOME</vt:lpstr>
      <vt:lpstr>ADVANTAGES OF PROPOSED SYSTEM </vt:lpstr>
      <vt:lpstr>APPLICATIONS OF PROPOSED SYSTEM</vt:lpstr>
      <vt:lpstr>APPLICATION PROPOSED</vt:lpstr>
      <vt:lpstr>CONCLUSION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Bhoomika K</dc:creator>
  <cp:lastModifiedBy>P, Chetan S</cp:lastModifiedBy>
  <cp:revision>48</cp:revision>
  <dcterms:created xsi:type="dcterms:W3CDTF">2024-11-09T04:12:46Z</dcterms:created>
  <dcterms:modified xsi:type="dcterms:W3CDTF">2026-08-22T04:27:51Z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2024-11-08T00:00:00Z</vt:filetime>
  </property>
  <property fmtid="{D5CDD505-2E9C-101B-9397-08002B2CF9AE}" pid="3" name="Creator">
    <vt:lpwstr>Microsoft® PowerPoint® 2021</vt:lpwstr>
  </property>
  <property fmtid="{D5CDD505-2E9C-101B-9397-08002B2CF9AE}" pid="4" name="LastSaved">
    <vt:filetime>2024-11-09T00:00:00Z</vt:filetime>
  </property>
  <property fmtid="{D5CDD505-2E9C-101B-9397-08002B2CF9AE}" pid="5" name="Producer">
    <vt:lpwstr>Microsoft® PowerPoint® 2021</vt:lpwstr>
  </property>
  <property fmtid="{D5CDD505-2E9C-101B-9397-08002B2CF9AE}" pid="6" name="MSIP_Label_dad3be33-4108-4738-9e07-d8656a181486_Enabled">
    <vt:lpwstr>true</vt:lpwstr>
  </property>
  <property fmtid="{D5CDD505-2E9C-101B-9397-08002B2CF9AE}" pid="7" name="MSIP_Label_dad3be33-4108-4738-9e07-d8656a181486_SetDate">
    <vt:lpwstr>2026-08-22T02:04:41Z</vt:lpwstr>
  </property>
  <property fmtid="{D5CDD505-2E9C-101B-9397-08002B2CF9AE}" pid="8" name="MSIP_Label_dad3be33-4108-4738-9e07-d8656a181486_Method">
    <vt:lpwstr>Privileged</vt:lpwstr>
  </property>
  <property fmtid="{D5CDD505-2E9C-101B-9397-08002B2CF9AE}" pid="9" name="MSIP_Label_dad3be33-4108-4738-9e07-d8656a181486_Name">
    <vt:lpwstr>Public No Visual Label</vt:lpwstr>
  </property>
  <property fmtid="{D5CDD505-2E9C-101B-9397-08002B2CF9AE}" pid="10" name="MSIP_Label_dad3be33-4108-4738-9e07-d8656a181486_SiteId">
    <vt:lpwstr>945c199a-83a2-4e80-9f8c-5a91be5752dd</vt:lpwstr>
  </property>
  <property fmtid="{D5CDD505-2E9C-101B-9397-08002B2CF9AE}" pid="11" name="MSIP_Label_dad3be33-4108-4738-9e07-d8656a181486_ActionId">
    <vt:lpwstr>23fd6092-6736-4735-b1d1-c7f518f5a896</vt:lpwstr>
  </property>
  <property fmtid="{D5CDD505-2E9C-101B-9397-08002B2CF9AE}" pid="12" name="MSIP_Label_dad3be33-4108-4738-9e07-d8656a181486_ContentBits">
    <vt:lpwstr>0</vt:lpwstr>
  </property>
  <property fmtid="{D5CDD505-2E9C-101B-9397-08002B2CF9AE}" pid="13" name="MSIP_Label_dad3be33-4108-4738-9e07-d8656a181486_Tag">
    <vt:lpwstr>10, 0, 1, 1</vt:lpwstr>
  </property>
</Properties>
</file>