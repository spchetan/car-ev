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7"/>
  </p:notesMasterIdLst>
  <p:handoutMasterIdLst>
    <p:handoutMasterId r:id="rId18"/>
  </p:handoutMasterIdLst>
  <p:sldIdLst>
    <p:sldId id="256" r:id="rId2"/>
    <p:sldId id="266" r:id="rId3"/>
    <p:sldId id="257" r:id="rId4"/>
    <p:sldId id="259" r:id="rId5"/>
    <p:sldId id="262" r:id="rId6"/>
    <p:sldId id="272" r:id="rId7"/>
    <p:sldId id="261" r:id="rId8"/>
    <p:sldId id="263" r:id="rId9"/>
    <p:sldId id="264" r:id="rId10"/>
    <p:sldId id="271" r:id="rId11"/>
    <p:sldId id="265" r:id="rId12"/>
    <p:sldId id="270" r:id="rId13"/>
    <p:sldId id="260" r:id="rId14"/>
    <p:sldId id="267" r:id="rId15"/>
    <p:sldId id="268" r:id="rId16"/>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2D200454-40CA-4A62-9FC3-DE9A4176ACB9}">
      <p15:notesGuideLst xmlns:p15="http://schemas.microsoft.com/office/powerpoint/2012/main">
        <p15:guide id="1" orient="horz" pos="2160">
          <p15:clr>
            <a:srgbClr val="A4A3A4"/>
          </p15:clr>
        </p15:guide>
        <p15:guide id="2" pos="384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7668" autoAdjust="0"/>
    <p:restoredTop sz="94660"/>
  </p:normalViewPr>
  <p:slideViewPr>
    <p:cSldViewPr>
      <p:cViewPr varScale="1">
        <p:scale>
          <a:sx n="97" d="100"/>
          <a:sy n="97" d="100"/>
        </p:scale>
        <p:origin x="485" y="41"/>
      </p:cViewPr>
      <p:guideLst>
        <p:guide orient="horz" pos="2880"/>
        <p:guide pos="2160"/>
      </p:guideLst>
    </p:cSldViewPr>
  </p:slideViewPr>
  <p:notesTextViewPr>
    <p:cViewPr>
      <p:scale>
        <a:sx n="100" d="100"/>
        <a:sy n="100" d="100"/>
      </p:scale>
      <p:origin x="0" y="0"/>
    </p:cViewPr>
  </p:notesTextViewPr>
  <p:sorterViewPr>
    <p:cViewPr>
      <p:scale>
        <a:sx n="100" d="100"/>
        <a:sy n="100" d="100"/>
      </p:scale>
      <p:origin x="0" y="0"/>
    </p:cViewPr>
  </p:sorterViewPr>
  <p:notesViewPr>
    <p:cSldViewPr>
      <p:cViewPr varScale="1">
        <p:scale>
          <a:sx n="117" d="100"/>
          <a:sy n="117" d="100"/>
        </p:scale>
        <p:origin x="-1236" y="-96"/>
      </p:cViewPr>
      <p:guideLst>
        <p:guide orient="horz" pos="2160"/>
        <p:guide pos="384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 Chetan S" userId="6230acdc-96f8-49cb-89d3-4aa55472d295" providerId="ADAL" clId="{5FD64CC8-0B46-4C1B-A1D0-8E9F4A8FDDAB}"/>
    <pc:docChg chg="mod">
      <pc:chgData name="P, Chetan S" userId="6230acdc-96f8-49cb-89d3-4aa55472d295" providerId="ADAL" clId="{5FD64CC8-0B46-4C1B-A1D0-8E9F4A8FDDAB}" dt="2026-08-22T01:49:15.929" v="0" actId="33475"/>
      <pc:docMkLst>
        <pc:docMk/>
      </pc:docMkLst>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29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6905625" y="0"/>
            <a:ext cx="5283200" cy="342900"/>
          </a:xfrm>
          <a:prstGeom prst="rect">
            <a:avLst/>
          </a:prstGeom>
        </p:spPr>
        <p:txBody>
          <a:bodyPr vert="horz" lIns="91440" tIns="45720" rIns="91440" bIns="45720" rtlCol="0"/>
          <a:lstStyle>
            <a:lvl1pPr algn="r">
              <a:defRPr sz="1200"/>
            </a:lvl1pPr>
          </a:lstStyle>
          <a:p>
            <a:fld id="{36AF76A7-18AC-47C8-ACF7-BA24C7E2A76E}" type="datetimeFigureOut">
              <a:rPr lang="en-US" smtClean="0"/>
              <a:t>8/22/2026</a:t>
            </a:fld>
            <a:endParaRPr lang="en-US"/>
          </a:p>
        </p:txBody>
      </p:sp>
      <p:sp>
        <p:nvSpPr>
          <p:cNvPr id="4" name="Footer Placeholder 3"/>
          <p:cNvSpPr>
            <a:spLocks noGrp="1"/>
          </p:cNvSpPr>
          <p:nvPr>
            <p:ph type="ftr" sz="quarter" idx="2"/>
          </p:nvPr>
        </p:nvSpPr>
        <p:spPr>
          <a:xfrm>
            <a:off x="0" y="6513513"/>
            <a:ext cx="5283200" cy="3429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6905625" y="6513513"/>
            <a:ext cx="5283200" cy="342900"/>
          </a:xfrm>
          <a:prstGeom prst="rect">
            <a:avLst/>
          </a:prstGeom>
        </p:spPr>
        <p:txBody>
          <a:bodyPr vert="horz" lIns="91440" tIns="45720" rIns="91440" bIns="45720" rtlCol="0" anchor="b"/>
          <a:lstStyle>
            <a:lvl1pPr algn="r">
              <a:defRPr sz="1200"/>
            </a:lvl1pPr>
          </a:lstStyle>
          <a:p>
            <a:fld id="{E206D4E0-A129-4CA5-9917-0D976B1F61F4}" type="slidenum">
              <a:rPr lang="en-US" smtClean="0"/>
              <a:t>‹#›</a:t>
            </a:fld>
            <a:endParaRPr lang="en-US"/>
          </a:p>
        </p:txBody>
      </p:sp>
    </p:spTree>
    <p:extLst>
      <p:ext uri="{BB962C8B-B14F-4D97-AF65-F5344CB8AC3E}">
        <p14:creationId xmlns:p14="http://schemas.microsoft.com/office/powerpoint/2010/main" val="328625176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EE4EDC57-CD7B-477C-94DD-CA82AFE64D9F}" type="datetimeFigureOut">
              <a:rPr lang="en-IN" smtClean="0"/>
              <a:t>22-08-2026</a:t>
            </a:fld>
            <a:endParaRPr lang="en-IN"/>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154C5EF1-11E9-4CE9-98CC-3F3BB12C0550}" type="slidenum">
              <a:rPr lang="en-IN" smtClean="0"/>
              <a:t>‹#›</a:t>
            </a:fld>
            <a:endParaRPr lang="en-IN"/>
          </a:p>
        </p:txBody>
      </p:sp>
    </p:spTree>
    <p:extLst>
      <p:ext uri="{BB962C8B-B14F-4D97-AF65-F5344CB8AC3E}">
        <p14:creationId xmlns:p14="http://schemas.microsoft.com/office/powerpoint/2010/main" val="41661392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54C5EF1-11E9-4CE9-98CC-3F3BB12C0550}" type="slidenum">
              <a:rPr lang="en-IN" smtClean="0"/>
              <a:t>1</a:t>
            </a:fld>
            <a:endParaRPr lang="en-IN"/>
          </a:p>
        </p:txBody>
      </p:sp>
    </p:spTree>
    <p:extLst>
      <p:ext uri="{BB962C8B-B14F-4D97-AF65-F5344CB8AC3E}">
        <p14:creationId xmlns:p14="http://schemas.microsoft.com/office/powerpoint/2010/main" val="10413597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54C5EF1-11E9-4CE9-98CC-3F3BB12C0550}" type="slidenum">
              <a:rPr lang="en-IN" smtClean="0"/>
              <a:t>2</a:t>
            </a:fld>
            <a:endParaRPr lang="en-IN"/>
          </a:p>
        </p:txBody>
      </p:sp>
    </p:spTree>
    <p:extLst>
      <p:ext uri="{BB962C8B-B14F-4D97-AF65-F5344CB8AC3E}">
        <p14:creationId xmlns:p14="http://schemas.microsoft.com/office/powerpoint/2010/main" val="32926451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54C5EF1-11E9-4CE9-98CC-3F3BB12C0550}" type="slidenum">
              <a:rPr lang="en-IN" smtClean="0"/>
              <a:t>3</a:t>
            </a:fld>
            <a:endParaRPr lang="en-IN"/>
          </a:p>
        </p:txBody>
      </p:sp>
    </p:spTree>
    <p:extLst>
      <p:ext uri="{BB962C8B-B14F-4D97-AF65-F5344CB8AC3E}">
        <p14:creationId xmlns:p14="http://schemas.microsoft.com/office/powerpoint/2010/main" val="4514786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54C5EF1-11E9-4CE9-98CC-3F3BB12C0550}" type="slidenum">
              <a:rPr lang="en-IN" smtClean="0"/>
              <a:t>4</a:t>
            </a:fld>
            <a:endParaRPr lang="en-IN"/>
          </a:p>
        </p:txBody>
      </p:sp>
    </p:spTree>
    <p:extLst>
      <p:ext uri="{BB962C8B-B14F-4D97-AF65-F5344CB8AC3E}">
        <p14:creationId xmlns:p14="http://schemas.microsoft.com/office/powerpoint/2010/main" val="37131829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54C5EF1-11E9-4CE9-98CC-3F3BB12C0550}" type="slidenum">
              <a:rPr lang="en-IN" smtClean="0"/>
              <a:t>5</a:t>
            </a:fld>
            <a:endParaRPr lang="en-IN"/>
          </a:p>
        </p:txBody>
      </p:sp>
    </p:spTree>
    <p:extLst>
      <p:ext uri="{BB962C8B-B14F-4D97-AF65-F5344CB8AC3E}">
        <p14:creationId xmlns:p14="http://schemas.microsoft.com/office/powerpoint/2010/main" val="14557253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54C5EF1-11E9-4CE9-98CC-3F3BB12C0550}" type="slidenum">
              <a:rPr lang="en-IN" smtClean="0"/>
              <a:t>6</a:t>
            </a:fld>
            <a:endParaRPr lang="en-IN"/>
          </a:p>
        </p:txBody>
      </p:sp>
    </p:spTree>
    <p:extLst>
      <p:ext uri="{BB962C8B-B14F-4D97-AF65-F5344CB8AC3E}">
        <p14:creationId xmlns:p14="http://schemas.microsoft.com/office/powerpoint/2010/main" val="39314776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54C5EF1-11E9-4CE9-98CC-3F3BB12C0550}" type="slidenum">
              <a:rPr lang="en-IN" smtClean="0"/>
              <a:t>7</a:t>
            </a:fld>
            <a:endParaRPr lang="en-IN"/>
          </a:p>
        </p:txBody>
      </p:sp>
    </p:spTree>
    <p:extLst>
      <p:ext uri="{BB962C8B-B14F-4D97-AF65-F5344CB8AC3E}">
        <p14:creationId xmlns:p14="http://schemas.microsoft.com/office/powerpoint/2010/main" val="39613257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54C5EF1-11E9-4CE9-98CC-3F3BB12C0550}" type="slidenum">
              <a:rPr lang="en-IN" smtClean="0"/>
              <a:t>8</a:t>
            </a:fld>
            <a:endParaRPr lang="en-IN"/>
          </a:p>
        </p:txBody>
      </p:sp>
    </p:spTree>
    <p:extLst>
      <p:ext uri="{BB962C8B-B14F-4D97-AF65-F5344CB8AC3E}">
        <p14:creationId xmlns:p14="http://schemas.microsoft.com/office/powerpoint/2010/main" val="282429783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54C5EF1-11E9-4CE9-98CC-3F3BB12C0550}" type="slidenum">
              <a:rPr lang="en-IN" smtClean="0"/>
              <a:t>9</a:t>
            </a:fld>
            <a:endParaRPr lang="en-IN"/>
          </a:p>
        </p:txBody>
      </p:sp>
    </p:spTree>
    <p:extLst>
      <p:ext uri="{BB962C8B-B14F-4D97-AF65-F5344CB8AC3E}">
        <p14:creationId xmlns:p14="http://schemas.microsoft.com/office/powerpoint/2010/main" val="30816194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54C5EF1-11E9-4CE9-98CC-3F3BB12C0550}" type="slidenum">
              <a:rPr lang="en-IN" smtClean="0"/>
              <a:t>10</a:t>
            </a:fld>
            <a:endParaRPr lang="en-IN"/>
          </a:p>
        </p:txBody>
      </p:sp>
    </p:spTree>
    <p:extLst>
      <p:ext uri="{BB962C8B-B14F-4D97-AF65-F5344CB8AC3E}">
        <p14:creationId xmlns:p14="http://schemas.microsoft.com/office/powerpoint/2010/main" val="198251656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54C5EF1-11E9-4CE9-98CC-3F3BB12C0550}" type="slidenum">
              <a:rPr lang="en-IN" smtClean="0"/>
              <a:t>11</a:t>
            </a:fld>
            <a:endParaRPr lang="en-IN"/>
          </a:p>
        </p:txBody>
      </p:sp>
    </p:spTree>
    <p:extLst>
      <p:ext uri="{BB962C8B-B14F-4D97-AF65-F5344CB8AC3E}">
        <p14:creationId xmlns:p14="http://schemas.microsoft.com/office/powerpoint/2010/main" val="206652664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54C5EF1-11E9-4CE9-98CC-3F3BB12C0550}" type="slidenum">
              <a:rPr lang="en-IN" smtClean="0"/>
              <a:t>12</a:t>
            </a:fld>
            <a:endParaRPr lang="en-IN"/>
          </a:p>
        </p:txBody>
      </p:sp>
    </p:spTree>
    <p:extLst>
      <p:ext uri="{BB962C8B-B14F-4D97-AF65-F5344CB8AC3E}">
        <p14:creationId xmlns:p14="http://schemas.microsoft.com/office/powerpoint/2010/main" val="95307194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54C5EF1-11E9-4CE9-98CC-3F3BB12C0550}" type="slidenum">
              <a:rPr lang="en-IN" smtClean="0"/>
              <a:t>13</a:t>
            </a:fld>
            <a:endParaRPr lang="en-IN"/>
          </a:p>
        </p:txBody>
      </p:sp>
    </p:spTree>
    <p:extLst>
      <p:ext uri="{BB962C8B-B14F-4D97-AF65-F5344CB8AC3E}">
        <p14:creationId xmlns:p14="http://schemas.microsoft.com/office/powerpoint/2010/main" val="354880286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54C5EF1-11E9-4CE9-98CC-3F3BB12C0550}" type="slidenum">
              <a:rPr lang="en-IN" smtClean="0"/>
              <a:t>14</a:t>
            </a:fld>
            <a:endParaRPr lang="en-IN"/>
          </a:p>
        </p:txBody>
      </p:sp>
    </p:spTree>
    <p:extLst>
      <p:ext uri="{BB962C8B-B14F-4D97-AF65-F5344CB8AC3E}">
        <p14:creationId xmlns:p14="http://schemas.microsoft.com/office/powerpoint/2010/main" val="126378528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54C5EF1-11E9-4CE9-98CC-3F3BB12C0550}" type="slidenum">
              <a:rPr lang="en-IN" smtClean="0"/>
              <a:t>15</a:t>
            </a:fld>
            <a:endParaRPr lang="en-IN"/>
          </a:p>
        </p:txBody>
      </p:sp>
    </p:spTree>
    <p:extLst>
      <p:ext uri="{BB962C8B-B14F-4D97-AF65-F5344CB8AC3E}">
        <p14:creationId xmlns:p14="http://schemas.microsoft.com/office/powerpoint/2010/main" val="30408621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3600" b="1" i="0">
                <a:solidFill>
                  <a:srgbClr val="C00000"/>
                </a:solidFill>
                <a:latin typeface="Cambria"/>
                <a:cs typeface="Cambria"/>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18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8/22/2026</a:t>
            </a:fld>
            <a:endParaRPr lang="en-US"/>
          </a:p>
        </p:txBody>
      </p:sp>
      <p:sp>
        <p:nvSpPr>
          <p:cNvPr id="6" name="Holder 6"/>
          <p:cNvSpPr>
            <a:spLocks noGrp="1"/>
          </p:cNvSpPr>
          <p:nvPr>
            <p:ph type="sldNum" sz="quarter" idx="7"/>
          </p:nvPr>
        </p:nvSpPr>
        <p:spPr/>
        <p:txBody>
          <a:bodyPr lIns="0" tIns="0" rIns="0" bIns="0"/>
          <a:lstStyle>
            <a:lvl1pPr>
              <a:defRPr sz="1800" b="1" i="0">
                <a:solidFill>
                  <a:srgbClr val="2D5395"/>
                </a:solidFill>
                <a:latin typeface="Cambria"/>
                <a:cs typeface="Cambria"/>
              </a:defRPr>
            </a:lvl1pPr>
          </a:lstStyle>
          <a:p>
            <a:pPr marL="351790">
              <a:lnSpc>
                <a:spcPct val="100000"/>
              </a:lnSpc>
              <a:spcBef>
                <a:spcPts val="10"/>
              </a:spcBef>
            </a:pPr>
            <a:fld id="{81D60167-4931-47E6-BA6A-407CBD079E47}" type="slidenum">
              <a:rPr spc="-50" dirty="0"/>
              <a:t>‹#›</a:t>
            </a:fld>
            <a:endParaRPr spc="-50"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a:solidFill>
                  <a:srgbClr val="C00000"/>
                </a:solidFill>
                <a:latin typeface="Cambria"/>
                <a:cs typeface="Cambria"/>
              </a:defRPr>
            </a:lvl1pPr>
          </a:lstStyle>
          <a:p>
            <a:endParaRPr/>
          </a:p>
        </p:txBody>
      </p:sp>
      <p:sp>
        <p:nvSpPr>
          <p:cNvPr id="3" name="Holder 3"/>
          <p:cNvSpPr>
            <a:spLocks noGrp="1"/>
          </p:cNvSpPr>
          <p:nvPr>
            <p:ph type="body" idx="1"/>
          </p:nvPr>
        </p:nvSpPr>
        <p:spPr/>
        <p:txBody>
          <a:bodyPr lIns="0" tIns="0" rIns="0" bIns="0"/>
          <a:lstStyle>
            <a:lvl1pPr>
              <a:defRPr sz="18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8/22/2026</a:t>
            </a:fld>
            <a:endParaRPr lang="en-US"/>
          </a:p>
        </p:txBody>
      </p:sp>
      <p:sp>
        <p:nvSpPr>
          <p:cNvPr id="6" name="Holder 6"/>
          <p:cNvSpPr>
            <a:spLocks noGrp="1"/>
          </p:cNvSpPr>
          <p:nvPr>
            <p:ph type="sldNum" sz="quarter" idx="7"/>
          </p:nvPr>
        </p:nvSpPr>
        <p:spPr/>
        <p:txBody>
          <a:bodyPr lIns="0" tIns="0" rIns="0" bIns="0"/>
          <a:lstStyle>
            <a:lvl1pPr>
              <a:defRPr sz="1800" b="1" i="0">
                <a:solidFill>
                  <a:srgbClr val="2D5395"/>
                </a:solidFill>
                <a:latin typeface="Cambria"/>
                <a:cs typeface="Cambria"/>
              </a:defRPr>
            </a:lvl1pPr>
          </a:lstStyle>
          <a:p>
            <a:pPr marL="351790">
              <a:lnSpc>
                <a:spcPct val="100000"/>
              </a:lnSpc>
              <a:spcBef>
                <a:spcPts val="10"/>
              </a:spcBef>
            </a:pPr>
            <a:fld id="{81D60167-4931-47E6-BA6A-407CBD079E47}" type="slidenum">
              <a:rPr spc="-50" dirty="0"/>
              <a:t>‹#›</a:t>
            </a:fld>
            <a:endParaRPr spc="-5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a:solidFill>
                  <a:srgbClr val="C00000"/>
                </a:solidFill>
                <a:latin typeface="Cambria"/>
                <a:cs typeface="Cambria"/>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8/22/2026</a:t>
            </a:fld>
            <a:endParaRPr lang="en-US"/>
          </a:p>
        </p:txBody>
      </p:sp>
      <p:sp>
        <p:nvSpPr>
          <p:cNvPr id="7" name="Holder 7"/>
          <p:cNvSpPr>
            <a:spLocks noGrp="1"/>
          </p:cNvSpPr>
          <p:nvPr>
            <p:ph type="sldNum" sz="quarter" idx="7"/>
          </p:nvPr>
        </p:nvSpPr>
        <p:spPr/>
        <p:txBody>
          <a:bodyPr lIns="0" tIns="0" rIns="0" bIns="0"/>
          <a:lstStyle>
            <a:lvl1pPr>
              <a:defRPr sz="1800" b="1" i="0">
                <a:solidFill>
                  <a:srgbClr val="2D5395"/>
                </a:solidFill>
                <a:latin typeface="Cambria"/>
                <a:cs typeface="Cambria"/>
              </a:defRPr>
            </a:lvl1pPr>
          </a:lstStyle>
          <a:p>
            <a:pPr marL="351790">
              <a:lnSpc>
                <a:spcPct val="100000"/>
              </a:lnSpc>
              <a:spcBef>
                <a:spcPts val="10"/>
              </a:spcBef>
            </a:pPr>
            <a:fld id="{81D60167-4931-47E6-BA6A-407CBD079E47}" type="slidenum">
              <a:rPr spc="-50" dirty="0"/>
              <a:t>‹#›</a:t>
            </a:fld>
            <a:endParaRPr spc="-5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a:solidFill>
                  <a:srgbClr val="C00000"/>
                </a:solidFill>
                <a:latin typeface="Cambria"/>
                <a:cs typeface="Cambria"/>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8/22/2026</a:t>
            </a:fld>
            <a:endParaRPr lang="en-US"/>
          </a:p>
        </p:txBody>
      </p:sp>
      <p:sp>
        <p:nvSpPr>
          <p:cNvPr id="5" name="Holder 5"/>
          <p:cNvSpPr>
            <a:spLocks noGrp="1"/>
          </p:cNvSpPr>
          <p:nvPr>
            <p:ph type="sldNum" sz="quarter" idx="7"/>
          </p:nvPr>
        </p:nvSpPr>
        <p:spPr/>
        <p:txBody>
          <a:bodyPr lIns="0" tIns="0" rIns="0" bIns="0"/>
          <a:lstStyle>
            <a:lvl1pPr>
              <a:defRPr sz="1800" b="1" i="0">
                <a:solidFill>
                  <a:srgbClr val="2D5395"/>
                </a:solidFill>
                <a:latin typeface="Cambria"/>
                <a:cs typeface="Cambria"/>
              </a:defRPr>
            </a:lvl1pPr>
          </a:lstStyle>
          <a:p>
            <a:pPr marL="351790">
              <a:lnSpc>
                <a:spcPct val="100000"/>
              </a:lnSpc>
              <a:spcBef>
                <a:spcPts val="10"/>
              </a:spcBef>
            </a:pPr>
            <a:fld id="{81D60167-4931-47E6-BA6A-407CBD079E47}" type="slidenum">
              <a:rPr spc="-50" dirty="0"/>
              <a:t>‹#›</a:t>
            </a:fld>
            <a:endParaRPr spc="-5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8/22/2026</a:t>
            </a:fld>
            <a:endParaRPr lang="en-US"/>
          </a:p>
        </p:txBody>
      </p:sp>
      <p:sp>
        <p:nvSpPr>
          <p:cNvPr id="4" name="Holder 4"/>
          <p:cNvSpPr>
            <a:spLocks noGrp="1"/>
          </p:cNvSpPr>
          <p:nvPr>
            <p:ph type="sldNum" sz="quarter" idx="7"/>
          </p:nvPr>
        </p:nvSpPr>
        <p:spPr/>
        <p:txBody>
          <a:bodyPr lIns="0" tIns="0" rIns="0" bIns="0"/>
          <a:lstStyle>
            <a:lvl1pPr>
              <a:defRPr sz="1800" b="1" i="0">
                <a:solidFill>
                  <a:srgbClr val="2D5395"/>
                </a:solidFill>
                <a:latin typeface="Cambria"/>
                <a:cs typeface="Cambria"/>
              </a:defRPr>
            </a:lvl1pPr>
          </a:lstStyle>
          <a:p>
            <a:pPr marL="351790">
              <a:lnSpc>
                <a:spcPct val="100000"/>
              </a:lnSpc>
              <a:spcBef>
                <a:spcPts val="10"/>
              </a:spcBef>
            </a:pPr>
            <a:fld id="{81D60167-4931-47E6-BA6A-407CBD079E47}" type="slidenum">
              <a:rPr spc="-50" dirty="0"/>
              <a:t>‹#›</a:t>
            </a:fld>
            <a:endParaRPr spc="-5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179070" y="151637"/>
            <a:ext cx="11780520" cy="6560820"/>
          </a:xfrm>
          <a:custGeom>
            <a:avLst/>
            <a:gdLst/>
            <a:ahLst/>
            <a:cxnLst/>
            <a:rect l="l" t="t" r="r" b="b"/>
            <a:pathLst>
              <a:path w="11780520" h="6560820">
                <a:moveTo>
                  <a:pt x="0" y="6560820"/>
                </a:moveTo>
                <a:lnTo>
                  <a:pt x="11780520" y="6560820"/>
                </a:lnTo>
                <a:lnTo>
                  <a:pt x="11780520" y="0"/>
                </a:lnTo>
                <a:lnTo>
                  <a:pt x="0" y="0"/>
                </a:lnTo>
                <a:lnTo>
                  <a:pt x="0" y="6560820"/>
                </a:lnTo>
                <a:close/>
              </a:path>
            </a:pathLst>
          </a:custGeom>
          <a:ln w="28575">
            <a:solidFill>
              <a:srgbClr val="2D5395"/>
            </a:solidFill>
          </a:ln>
        </p:spPr>
        <p:txBody>
          <a:bodyPr wrap="square" lIns="0" tIns="0" rIns="0" bIns="0" rtlCol="0"/>
          <a:lstStyle/>
          <a:p>
            <a:endParaRPr/>
          </a:p>
        </p:txBody>
      </p:sp>
      <p:sp>
        <p:nvSpPr>
          <p:cNvPr id="2" name="Holder 2"/>
          <p:cNvSpPr>
            <a:spLocks noGrp="1"/>
          </p:cNvSpPr>
          <p:nvPr>
            <p:ph type="title"/>
          </p:nvPr>
        </p:nvSpPr>
        <p:spPr>
          <a:xfrm>
            <a:off x="2418969" y="176236"/>
            <a:ext cx="7928609" cy="1075690"/>
          </a:xfrm>
          <a:prstGeom prst="rect">
            <a:avLst/>
          </a:prstGeom>
        </p:spPr>
        <p:txBody>
          <a:bodyPr wrap="square" lIns="0" tIns="0" rIns="0" bIns="0">
            <a:spAutoFit/>
          </a:bodyPr>
          <a:lstStyle>
            <a:lvl1pPr>
              <a:defRPr sz="3600" b="1" i="0">
                <a:solidFill>
                  <a:srgbClr val="C00000"/>
                </a:solidFill>
                <a:latin typeface="Cambria"/>
                <a:cs typeface="Cambria"/>
              </a:defRPr>
            </a:lvl1pPr>
          </a:lstStyle>
          <a:p>
            <a:endParaRPr/>
          </a:p>
        </p:txBody>
      </p:sp>
      <p:sp>
        <p:nvSpPr>
          <p:cNvPr id="3" name="Holder 3"/>
          <p:cNvSpPr>
            <a:spLocks noGrp="1"/>
          </p:cNvSpPr>
          <p:nvPr>
            <p:ph type="body" idx="1"/>
          </p:nvPr>
        </p:nvSpPr>
        <p:spPr>
          <a:xfrm>
            <a:off x="607872" y="1882267"/>
            <a:ext cx="10605770" cy="4140835"/>
          </a:xfrm>
          <a:prstGeom prst="rect">
            <a:avLst/>
          </a:prstGeom>
        </p:spPr>
        <p:txBody>
          <a:bodyPr wrap="square" lIns="0" tIns="0" rIns="0" bIns="0">
            <a:spAutoFit/>
          </a:bodyPr>
          <a:lstStyle>
            <a:lvl1pPr>
              <a:defRPr sz="18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8/22/2026</a:t>
            </a:fld>
            <a:endParaRPr lang="en-US"/>
          </a:p>
        </p:txBody>
      </p:sp>
      <p:sp>
        <p:nvSpPr>
          <p:cNvPr id="6" name="Holder 6"/>
          <p:cNvSpPr>
            <a:spLocks noGrp="1"/>
          </p:cNvSpPr>
          <p:nvPr>
            <p:ph type="sldNum" sz="quarter" idx="7"/>
          </p:nvPr>
        </p:nvSpPr>
        <p:spPr>
          <a:xfrm>
            <a:off x="11436095" y="6359861"/>
            <a:ext cx="538734" cy="366547"/>
          </a:xfrm>
          <a:prstGeom prst="rect">
            <a:avLst/>
          </a:prstGeom>
        </p:spPr>
        <p:txBody>
          <a:bodyPr wrap="square" lIns="0" tIns="0" rIns="0" bIns="0">
            <a:spAutoFit/>
          </a:bodyPr>
          <a:lstStyle>
            <a:lvl1pPr>
              <a:defRPr sz="1800" b="1" i="0">
                <a:solidFill>
                  <a:srgbClr val="2D5395"/>
                </a:solidFill>
                <a:latin typeface="Cambria"/>
                <a:cs typeface="Cambria"/>
              </a:defRPr>
            </a:lvl1pPr>
          </a:lstStyle>
          <a:p>
            <a:pPr marL="351790">
              <a:lnSpc>
                <a:spcPct val="100000"/>
              </a:lnSpc>
              <a:spcBef>
                <a:spcPts val="10"/>
              </a:spcBef>
            </a:pPr>
            <a:fld id="{81D60167-4931-47E6-BA6A-407CBD079E47}" type="slidenum">
              <a:rPr spc="-50" dirty="0"/>
              <a:t>‹#›</a:t>
            </a:fld>
            <a:endParaRPr spc="-50"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jp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94310" y="137921"/>
            <a:ext cx="11878310" cy="6583680"/>
          </a:xfrm>
          <a:custGeom>
            <a:avLst/>
            <a:gdLst/>
            <a:ahLst/>
            <a:cxnLst/>
            <a:rect l="l" t="t" r="r" b="b"/>
            <a:pathLst>
              <a:path w="11878310" h="6583680">
                <a:moveTo>
                  <a:pt x="0" y="6583680"/>
                </a:moveTo>
                <a:lnTo>
                  <a:pt x="11878056" y="6583680"/>
                </a:lnTo>
                <a:lnTo>
                  <a:pt x="11878056" y="0"/>
                </a:lnTo>
                <a:lnTo>
                  <a:pt x="0" y="0"/>
                </a:lnTo>
                <a:lnTo>
                  <a:pt x="0" y="6583680"/>
                </a:lnTo>
                <a:close/>
              </a:path>
            </a:pathLst>
          </a:custGeom>
          <a:ln w="28575">
            <a:solidFill>
              <a:srgbClr val="2D528F"/>
            </a:solidFill>
          </a:ln>
        </p:spPr>
        <p:txBody>
          <a:bodyPr wrap="square" lIns="0" tIns="0" rIns="0" bIns="0" rtlCol="0"/>
          <a:lstStyle/>
          <a:p>
            <a:endParaRPr/>
          </a:p>
        </p:txBody>
      </p:sp>
      <p:sp>
        <p:nvSpPr>
          <p:cNvPr id="3" name="object 3"/>
          <p:cNvSpPr txBox="1">
            <a:spLocks noGrp="1"/>
          </p:cNvSpPr>
          <p:nvPr>
            <p:ph type="title"/>
          </p:nvPr>
        </p:nvSpPr>
        <p:spPr>
          <a:prstGeom prst="rect">
            <a:avLst/>
          </a:prstGeom>
        </p:spPr>
        <p:txBody>
          <a:bodyPr vert="horz" wrap="square" lIns="0" tIns="172720" rIns="0" bIns="0" rtlCol="0">
            <a:spAutoFit/>
          </a:bodyPr>
          <a:lstStyle/>
          <a:p>
            <a:pPr marL="167640">
              <a:lnSpc>
                <a:spcPct val="100000"/>
              </a:lnSpc>
              <a:spcBef>
                <a:spcPts val="1360"/>
              </a:spcBef>
            </a:pPr>
            <a:r>
              <a:rPr sz="3500" dirty="0">
                <a:latin typeface="Times New Roman"/>
                <a:cs typeface="Times New Roman"/>
              </a:rPr>
              <a:t>K</a:t>
            </a:r>
            <a:r>
              <a:rPr sz="3500" spc="-10" dirty="0">
                <a:latin typeface="Times New Roman"/>
                <a:cs typeface="Times New Roman"/>
              </a:rPr>
              <a:t> </a:t>
            </a:r>
            <a:r>
              <a:rPr sz="3500" dirty="0">
                <a:latin typeface="Times New Roman"/>
                <a:cs typeface="Times New Roman"/>
              </a:rPr>
              <a:t>S</a:t>
            </a:r>
            <a:r>
              <a:rPr sz="3500" spc="-10" dirty="0">
                <a:latin typeface="Times New Roman"/>
                <a:cs typeface="Times New Roman"/>
              </a:rPr>
              <a:t> </a:t>
            </a:r>
            <a:r>
              <a:rPr sz="3500" dirty="0">
                <a:latin typeface="Times New Roman"/>
                <a:cs typeface="Times New Roman"/>
              </a:rPr>
              <a:t>INSTITUTE</a:t>
            </a:r>
            <a:r>
              <a:rPr sz="3500" spc="-20" dirty="0">
                <a:latin typeface="Times New Roman"/>
                <a:cs typeface="Times New Roman"/>
              </a:rPr>
              <a:t> </a:t>
            </a:r>
            <a:r>
              <a:rPr sz="3500" dirty="0">
                <a:latin typeface="Times New Roman"/>
                <a:cs typeface="Times New Roman"/>
              </a:rPr>
              <a:t>OF</a:t>
            </a:r>
            <a:r>
              <a:rPr sz="3500" spc="-204" dirty="0">
                <a:latin typeface="Times New Roman"/>
                <a:cs typeface="Times New Roman"/>
              </a:rPr>
              <a:t> </a:t>
            </a:r>
            <a:r>
              <a:rPr sz="3500" spc="-10" dirty="0">
                <a:latin typeface="Times New Roman"/>
                <a:cs typeface="Times New Roman"/>
              </a:rPr>
              <a:t>TECHNOLOGY</a:t>
            </a:r>
            <a:endParaRPr sz="3500">
              <a:latin typeface="Times New Roman"/>
              <a:cs typeface="Times New Roman"/>
            </a:endParaRPr>
          </a:p>
          <a:p>
            <a:pPr marL="12700">
              <a:lnSpc>
                <a:spcPct val="100000"/>
              </a:lnSpc>
              <a:spcBef>
                <a:spcPts val="645"/>
              </a:spcBef>
            </a:pPr>
            <a:r>
              <a:rPr sz="1800" spc="-25" dirty="0">
                <a:solidFill>
                  <a:srgbClr val="81034D"/>
                </a:solidFill>
                <a:latin typeface="Times New Roman"/>
                <a:cs typeface="Times New Roman"/>
              </a:rPr>
              <a:t>DEPARTMENT</a:t>
            </a:r>
            <a:r>
              <a:rPr sz="1800" spc="-65" dirty="0">
                <a:solidFill>
                  <a:srgbClr val="81034D"/>
                </a:solidFill>
                <a:latin typeface="Times New Roman"/>
                <a:cs typeface="Times New Roman"/>
              </a:rPr>
              <a:t> </a:t>
            </a:r>
            <a:r>
              <a:rPr sz="1800" spc="-20" dirty="0">
                <a:solidFill>
                  <a:srgbClr val="81034D"/>
                </a:solidFill>
                <a:latin typeface="Times New Roman"/>
                <a:cs typeface="Times New Roman"/>
              </a:rPr>
              <a:t>OF</a:t>
            </a:r>
            <a:r>
              <a:rPr sz="1800" spc="-170" dirty="0">
                <a:solidFill>
                  <a:srgbClr val="81034D"/>
                </a:solidFill>
                <a:latin typeface="Times New Roman"/>
                <a:cs typeface="Times New Roman"/>
              </a:rPr>
              <a:t> </a:t>
            </a:r>
            <a:r>
              <a:rPr sz="1800" spc="-10" dirty="0">
                <a:solidFill>
                  <a:srgbClr val="81034D"/>
                </a:solidFill>
                <a:latin typeface="Times New Roman"/>
                <a:cs typeface="Times New Roman"/>
              </a:rPr>
              <a:t>ARTIFICIAL</a:t>
            </a:r>
            <a:r>
              <a:rPr sz="1800" spc="-95" dirty="0">
                <a:solidFill>
                  <a:srgbClr val="81034D"/>
                </a:solidFill>
                <a:latin typeface="Times New Roman"/>
                <a:cs typeface="Times New Roman"/>
              </a:rPr>
              <a:t> </a:t>
            </a:r>
            <a:r>
              <a:rPr sz="1800" dirty="0">
                <a:solidFill>
                  <a:srgbClr val="81034D"/>
                </a:solidFill>
                <a:latin typeface="Times New Roman"/>
                <a:cs typeface="Times New Roman"/>
              </a:rPr>
              <a:t>INTELLIGENCE</a:t>
            </a:r>
            <a:r>
              <a:rPr sz="1800" spc="-10" dirty="0">
                <a:solidFill>
                  <a:srgbClr val="81034D"/>
                </a:solidFill>
                <a:latin typeface="Times New Roman"/>
                <a:cs typeface="Times New Roman"/>
              </a:rPr>
              <a:t> </a:t>
            </a:r>
            <a:r>
              <a:rPr sz="1800" dirty="0">
                <a:solidFill>
                  <a:srgbClr val="81034D"/>
                </a:solidFill>
                <a:latin typeface="Times New Roman"/>
                <a:cs typeface="Times New Roman"/>
              </a:rPr>
              <a:t>&amp;</a:t>
            </a:r>
            <a:r>
              <a:rPr sz="1800" spc="-10" dirty="0">
                <a:solidFill>
                  <a:srgbClr val="81034D"/>
                </a:solidFill>
                <a:latin typeface="Times New Roman"/>
                <a:cs typeface="Times New Roman"/>
              </a:rPr>
              <a:t> </a:t>
            </a:r>
            <a:r>
              <a:rPr sz="1800" dirty="0">
                <a:solidFill>
                  <a:srgbClr val="81034D"/>
                </a:solidFill>
                <a:latin typeface="Times New Roman"/>
                <a:cs typeface="Times New Roman"/>
              </a:rPr>
              <a:t>MACHINE</a:t>
            </a:r>
            <a:r>
              <a:rPr sz="1800" spc="-15" dirty="0">
                <a:solidFill>
                  <a:srgbClr val="81034D"/>
                </a:solidFill>
                <a:latin typeface="Times New Roman"/>
                <a:cs typeface="Times New Roman"/>
              </a:rPr>
              <a:t> </a:t>
            </a:r>
            <a:r>
              <a:rPr sz="1800" spc="-10" dirty="0">
                <a:solidFill>
                  <a:srgbClr val="81034D"/>
                </a:solidFill>
                <a:latin typeface="Times New Roman"/>
                <a:cs typeface="Times New Roman"/>
              </a:rPr>
              <a:t>LEARNING</a:t>
            </a:r>
            <a:endParaRPr sz="1800">
              <a:latin typeface="Times New Roman"/>
              <a:cs typeface="Times New Roman"/>
            </a:endParaRPr>
          </a:p>
        </p:txBody>
      </p:sp>
      <p:sp>
        <p:nvSpPr>
          <p:cNvPr id="4" name="object 4"/>
          <p:cNvSpPr txBox="1"/>
          <p:nvPr/>
        </p:nvSpPr>
        <p:spPr>
          <a:xfrm>
            <a:off x="1591436" y="1371349"/>
            <a:ext cx="9269730" cy="1863972"/>
          </a:xfrm>
          <a:prstGeom prst="rect">
            <a:avLst/>
          </a:prstGeom>
        </p:spPr>
        <p:txBody>
          <a:bodyPr vert="horz" wrap="square" lIns="0" tIns="159385" rIns="0" bIns="0" rtlCol="0">
            <a:spAutoFit/>
          </a:bodyPr>
          <a:lstStyle/>
          <a:p>
            <a:pPr algn="ctr">
              <a:lnSpc>
                <a:spcPct val="100000"/>
              </a:lnSpc>
              <a:spcBef>
                <a:spcPts val="1255"/>
              </a:spcBef>
            </a:pPr>
            <a:r>
              <a:rPr sz="2800" b="1" dirty="0">
                <a:solidFill>
                  <a:srgbClr val="6F2F9F"/>
                </a:solidFill>
                <a:latin typeface="Times New Roman"/>
                <a:cs typeface="Times New Roman"/>
              </a:rPr>
              <a:t>PROJECT</a:t>
            </a:r>
            <a:r>
              <a:rPr sz="2800" b="1" spc="-120" dirty="0">
                <a:solidFill>
                  <a:srgbClr val="6F2F9F"/>
                </a:solidFill>
                <a:latin typeface="Times New Roman"/>
                <a:cs typeface="Times New Roman"/>
              </a:rPr>
              <a:t> </a:t>
            </a:r>
            <a:r>
              <a:rPr lang="en-IN" sz="2800" b="1" spc="-120" dirty="0">
                <a:solidFill>
                  <a:srgbClr val="6F2F9F"/>
                </a:solidFill>
                <a:latin typeface="Times New Roman"/>
                <a:cs typeface="Times New Roman"/>
              </a:rPr>
              <a:t> PHASE -2 REVIEW 1- BAI786</a:t>
            </a:r>
            <a:endParaRPr sz="2800" dirty="0">
              <a:latin typeface="Times New Roman"/>
              <a:cs typeface="Times New Roman"/>
            </a:endParaRPr>
          </a:p>
          <a:p>
            <a:pPr marL="236854" algn="ctr">
              <a:lnSpc>
                <a:spcPct val="100000"/>
              </a:lnSpc>
              <a:spcBef>
                <a:spcPts val="1000"/>
              </a:spcBef>
            </a:pPr>
            <a:r>
              <a:rPr lang="en-IN" b="1" spc="-10" dirty="0">
                <a:solidFill>
                  <a:srgbClr val="FF0000"/>
                </a:solidFill>
                <a:latin typeface="Times New Roman"/>
                <a:cs typeface="Times New Roman"/>
              </a:rPr>
              <a:t>PRESENTATION ON</a:t>
            </a:r>
          </a:p>
          <a:p>
            <a:pPr marL="236854" algn="ctr">
              <a:lnSpc>
                <a:spcPct val="100000"/>
              </a:lnSpc>
              <a:spcBef>
                <a:spcPts val="1000"/>
              </a:spcBef>
            </a:pPr>
            <a:r>
              <a:rPr lang="en-US" sz="2400" dirty="0">
                <a:solidFill>
                  <a:srgbClr val="FF0000"/>
                </a:solidFill>
                <a:latin typeface="Times New Roman"/>
                <a:cs typeface="Times New Roman"/>
              </a:rPr>
              <a:t>AI-BASED AUTOMATED E-WASTE CLASSIFICATION AND SORTING SYSTEM</a:t>
            </a:r>
            <a:endParaRPr sz="2400" dirty="0">
              <a:solidFill>
                <a:srgbClr val="FF0000"/>
              </a:solidFill>
              <a:latin typeface="Times New Roman"/>
              <a:cs typeface="Times New Roman"/>
            </a:endParaRPr>
          </a:p>
        </p:txBody>
      </p:sp>
      <p:grpSp>
        <p:nvGrpSpPr>
          <p:cNvPr id="5" name="object 5"/>
          <p:cNvGrpSpPr/>
          <p:nvPr/>
        </p:nvGrpSpPr>
        <p:grpSpPr>
          <a:xfrm>
            <a:off x="7318629" y="4470949"/>
            <a:ext cx="3498356" cy="202104"/>
            <a:chOff x="7327382" y="4794410"/>
            <a:chExt cx="3498356" cy="202104"/>
          </a:xfrm>
        </p:grpSpPr>
        <p:pic>
          <p:nvPicPr>
            <p:cNvPr id="6" name="object 6"/>
            <p:cNvPicPr/>
            <p:nvPr/>
          </p:nvPicPr>
          <p:blipFill>
            <a:blip r:embed="rId3" cstate="print"/>
            <a:stretch>
              <a:fillRect/>
            </a:stretch>
          </p:blipFill>
          <p:spPr>
            <a:xfrm>
              <a:off x="7327382" y="4794410"/>
              <a:ext cx="3498356" cy="202104"/>
            </a:xfrm>
            <a:prstGeom prst="rect">
              <a:avLst/>
            </a:prstGeom>
          </p:spPr>
        </p:pic>
        <p:pic>
          <p:nvPicPr>
            <p:cNvPr id="7" name="object 7"/>
            <p:cNvPicPr/>
            <p:nvPr/>
          </p:nvPicPr>
          <p:blipFill>
            <a:blip r:embed="rId4" cstate="print"/>
            <a:stretch>
              <a:fillRect/>
            </a:stretch>
          </p:blipFill>
          <p:spPr>
            <a:xfrm>
              <a:off x="7336409" y="4797424"/>
              <a:ext cx="3478530" cy="176530"/>
            </a:xfrm>
            <a:prstGeom prst="rect">
              <a:avLst/>
            </a:prstGeom>
          </p:spPr>
        </p:pic>
      </p:grpSp>
      <p:sp>
        <p:nvSpPr>
          <p:cNvPr id="9" name="object 9"/>
          <p:cNvSpPr txBox="1"/>
          <p:nvPr/>
        </p:nvSpPr>
        <p:spPr>
          <a:xfrm>
            <a:off x="7318629" y="4752793"/>
            <a:ext cx="4039642" cy="1603644"/>
          </a:xfrm>
          <a:prstGeom prst="rect">
            <a:avLst/>
          </a:prstGeom>
        </p:spPr>
        <p:txBody>
          <a:bodyPr vert="horz" wrap="square" lIns="0" tIns="13335" rIns="0" bIns="0" rtlCol="0">
            <a:spAutoFit/>
          </a:bodyPr>
          <a:lstStyle/>
          <a:p>
            <a:pPr marL="12700">
              <a:lnSpc>
                <a:spcPct val="100000"/>
              </a:lnSpc>
              <a:spcBef>
                <a:spcPts val="105"/>
              </a:spcBef>
            </a:pPr>
            <a:r>
              <a:rPr lang="en-US" sz="2000" b="1" spc="-10" dirty="0">
                <a:solidFill>
                  <a:srgbClr val="001F5F"/>
                </a:solidFill>
                <a:latin typeface="Times New Roman"/>
                <a:cs typeface="Times New Roman"/>
              </a:rPr>
              <a:t>Assistant Professor - DEEPA.R</a:t>
            </a:r>
          </a:p>
          <a:p>
            <a:pPr marL="12700">
              <a:lnSpc>
                <a:spcPct val="100000"/>
              </a:lnSpc>
              <a:spcBef>
                <a:spcPts val="105"/>
              </a:spcBef>
            </a:pPr>
            <a:r>
              <a:rPr lang="en-US" sz="2000" b="1" spc="-10" dirty="0">
                <a:solidFill>
                  <a:srgbClr val="001F5F"/>
                </a:solidFill>
                <a:latin typeface="Times New Roman"/>
                <a:cs typeface="Times New Roman"/>
              </a:rPr>
              <a:t>Department of AIML</a:t>
            </a:r>
          </a:p>
          <a:p>
            <a:pPr marL="12700">
              <a:lnSpc>
                <a:spcPct val="100000"/>
              </a:lnSpc>
              <a:spcBef>
                <a:spcPts val="105"/>
              </a:spcBef>
            </a:pPr>
            <a:r>
              <a:rPr lang="en-US" sz="2000" b="1" spc="-10" dirty="0">
                <a:solidFill>
                  <a:srgbClr val="001F5F"/>
                </a:solidFill>
                <a:latin typeface="Times New Roman"/>
                <a:cs typeface="Times New Roman"/>
              </a:rPr>
              <a:t>K.S.I.T</a:t>
            </a:r>
          </a:p>
          <a:p>
            <a:pPr marL="12700">
              <a:lnSpc>
                <a:spcPct val="100000"/>
              </a:lnSpc>
              <a:spcBef>
                <a:spcPts val="105"/>
              </a:spcBef>
            </a:pPr>
            <a:endParaRPr lang="en-US" sz="2000" b="1" spc="-10" dirty="0">
              <a:solidFill>
                <a:srgbClr val="001F5F"/>
              </a:solidFill>
              <a:latin typeface="Times New Roman"/>
              <a:cs typeface="Times New Roman"/>
            </a:endParaRPr>
          </a:p>
          <a:p>
            <a:pPr marL="12700">
              <a:lnSpc>
                <a:spcPct val="100000"/>
              </a:lnSpc>
              <a:spcBef>
                <a:spcPts val="105"/>
              </a:spcBef>
            </a:pPr>
            <a:r>
              <a:rPr lang="en-US" sz="2000" b="1" spc="-10" dirty="0">
                <a:solidFill>
                  <a:srgbClr val="001F5F"/>
                </a:solidFill>
                <a:latin typeface="Times New Roman"/>
                <a:cs typeface="Times New Roman"/>
              </a:rPr>
              <a:t> </a:t>
            </a:r>
            <a:endParaRPr sz="2000" dirty="0">
              <a:latin typeface="Times New Roman"/>
              <a:cs typeface="Times New Roman"/>
            </a:endParaRPr>
          </a:p>
        </p:txBody>
      </p:sp>
      <p:pic>
        <p:nvPicPr>
          <p:cNvPr id="10" name="object 10"/>
          <p:cNvPicPr/>
          <p:nvPr/>
        </p:nvPicPr>
        <p:blipFill>
          <a:blip r:embed="rId5" cstate="print"/>
          <a:stretch>
            <a:fillRect/>
          </a:stretch>
        </p:blipFill>
        <p:spPr>
          <a:xfrm>
            <a:off x="833729" y="4470949"/>
            <a:ext cx="1774583" cy="177252"/>
          </a:xfrm>
          <a:prstGeom prst="rect">
            <a:avLst/>
          </a:prstGeom>
        </p:spPr>
      </p:pic>
      <p:sp>
        <p:nvSpPr>
          <p:cNvPr id="11" name="object 11"/>
          <p:cNvSpPr txBox="1"/>
          <p:nvPr/>
        </p:nvSpPr>
        <p:spPr>
          <a:xfrm>
            <a:off x="833728" y="4825451"/>
            <a:ext cx="4576471" cy="1263166"/>
          </a:xfrm>
          <a:prstGeom prst="rect">
            <a:avLst/>
          </a:prstGeom>
        </p:spPr>
        <p:txBody>
          <a:bodyPr vert="horz" wrap="square" lIns="0" tIns="39370" rIns="0" bIns="0" rtlCol="0">
            <a:spAutoFit/>
          </a:bodyPr>
          <a:lstStyle/>
          <a:p>
            <a:pPr marL="12700">
              <a:spcBef>
                <a:spcPts val="310"/>
              </a:spcBef>
              <a:tabLst>
                <a:tab pos="354965" algn="l"/>
              </a:tabLst>
            </a:pPr>
            <a:r>
              <a:rPr lang="en-US" sz="1800" b="1" dirty="0">
                <a:latin typeface="Times New Roman"/>
                <a:cs typeface="Times New Roman"/>
              </a:rPr>
              <a:t>1.  </a:t>
            </a:r>
            <a:r>
              <a:rPr lang="en-US" b="1" dirty="0">
                <a:solidFill>
                  <a:schemeClr val="tx2">
                    <a:lumMod val="75000"/>
                  </a:schemeClr>
                </a:solidFill>
                <a:latin typeface="Times New Roman"/>
                <a:cs typeface="Times New Roman"/>
              </a:rPr>
              <a:t>CHIRAG GOWDA A S</a:t>
            </a:r>
            <a:r>
              <a:rPr lang="en-US" sz="1800" dirty="0">
                <a:solidFill>
                  <a:schemeClr val="tx2">
                    <a:lumMod val="75000"/>
                  </a:schemeClr>
                </a:solidFill>
                <a:latin typeface="Times New Roman"/>
                <a:cs typeface="Times New Roman"/>
              </a:rPr>
              <a:t>  </a:t>
            </a:r>
            <a:endParaRPr lang="en-IN" sz="1800" dirty="0">
              <a:solidFill>
                <a:schemeClr val="tx2">
                  <a:lumMod val="75000"/>
                </a:schemeClr>
              </a:solidFill>
              <a:latin typeface="Times New Roman"/>
              <a:cs typeface="Times New Roman"/>
            </a:endParaRPr>
          </a:p>
          <a:p>
            <a:pPr marL="12700" algn="just">
              <a:spcBef>
                <a:spcPts val="310"/>
              </a:spcBef>
              <a:tabLst>
                <a:tab pos="354965" algn="l"/>
              </a:tabLst>
            </a:pPr>
            <a:r>
              <a:rPr lang="en-IN" sz="1800" b="1" spc="-10" dirty="0">
                <a:solidFill>
                  <a:srgbClr val="001F5F"/>
                </a:solidFill>
                <a:latin typeface="Times New Roman"/>
                <a:cs typeface="Times New Roman"/>
              </a:rPr>
              <a:t> 2. LIKHITHA M                   (1KS23AI025) </a:t>
            </a:r>
          </a:p>
          <a:p>
            <a:pPr marL="12700" algn="just">
              <a:spcBef>
                <a:spcPts val="310"/>
              </a:spcBef>
              <a:tabLst>
                <a:tab pos="354965" algn="l"/>
              </a:tabLst>
            </a:pPr>
            <a:r>
              <a:rPr lang="en-IN" b="1" spc="-10" dirty="0">
                <a:solidFill>
                  <a:srgbClr val="001F5F"/>
                </a:solidFill>
                <a:latin typeface="Times New Roman"/>
                <a:cs typeface="Times New Roman"/>
              </a:rPr>
              <a:t>3.  PRATIKSHA                     </a:t>
            </a:r>
            <a:r>
              <a:rPr lang="en-IN" sz="1800" b="1" spc="-10" dirty="0">
                <a:solidFill>
                  <a:srgbClr val="001F5F"/>
                </a:solidFill>
                <a:latin typeface="Times New Roman"/>
                <a:cs typeface="Times New Roman"/>
              </a:rPr>
              <a:t>(1KS23AI064) </a:t>
            </a:r>
            <a:r>
              <a:rPr lang="en-IN" b="1" spc="-10" dirty="0">
                <a:solidFill>
                  <a:srgbClr val="001F5F"/>
                </a:solidFill>
                <a:latin typeface="Times New Roman"/>
                <a:cs typeface="Times New Roman"/>
              </a:rPr>
              <a:t> </a:t>
            </a:r>
          </a:p>
          <a:p>
            <a:pPr marL="12700" algn="just">
              <a:spcBef>
                <a:spcPts val="310"/>
              </a:spcBef>
              <a:tabLst>
                <a:tab pos="354965" algn="l"/>
              </a:tabLst>
            </a:pPr>
            <a:r>
              <a:rPr lang="en-IN" sz="1800" b="1" spc="-10" dirty="0">
                <a:solidFill>
                  <a:srgbClr val="001F5F"/>
                </a:solidFill>
                <a:latin typeface="Times New Roman"/>
                <a:cs typeface="Times New Roman"/>
              </a:rPr>
              <a:t>4.  MOHAN YADAV G S      (1KS24AI402) </a:t>
            </a:r>
            <a:endParaRPr lang="en-IN" sz="1800" dirty="0">
              <a:latin typeface="Times New Roman"/>
              <a:cs typeface="Times New Roman"/>
            </a:endParaRPr>
          </a:p>
        </p:txBody>
      </p:sp>
      <p:sp>
        <p:nvSpPr>
          <p:cNvPr id="12" name="object 12"/>
          <p:cNvSpPr txBox="1"/>
          <p:nvPr/>
        </p:nvSpPr>
        <p:spPr>
          <a:xfrm>
            <a:off x="3576929" y="4841777"/>
            <a:ext cx="1422400" cy="295466"/>
          </a:xfrm>
          <a:prstGeom prst="rect">
            <a:avLst/>
          </a:prstGeom>
        </p:spPr>
        <p:txBody>
          <a:bodyPr vert="horz" wrap="square" lIns="0" tIns="12700" rIns="0" bIns="0" rtlCol="0">
            <a:spAutoFit/>
          </a:bodyPr>
          <a:lstStyle/>
          <a:p>
            <a:pPr marL="12700" marR="5080" algn="just">
              <a:lnSpc>
                <a:spcPct val="110100"/>
              </a:lnSpc>
              <a:spcBef>
                <a:spcPts val="100"/>
              </a:spcBef>
            </a:pPr>
            <a:r>
              <a:rPr sz="1800" b="1" spc="-10" dirty="0">
                <a:solidFill>
                  <a:srgbClr val="001F5F"/>
                </a:solidFill>
                <a:latin typeface="Times New Roman"/>
                <a:cs typeface="Times New Roman"/>
              </a:rPr>
              <a:t>(1KS2</a:t>
            </a:r>
            <a:r>
              <a:rPr lang="en-US" sz="1800" b="1" spc="-10" dirty="0">
                <a:solidFill>
                  <a:srgbClr val="001F5F"/>
                </a:solidFill>
                <a:latin typeface="Times New Roman"/>
                <a:cs typeface="Times New Roman"/>
              </a:rPr>
              <a:t>3AI009</a:t>
            </a:r>
            <a:r>
              <a:rPr sz="1800" b="1" spc="-10" dirty="0">
                <a:solidFill>
                  <a:srgbClr val="001F5F"/>
                </a:solidFill>
                <a:latin typeface="Times New Roman"/>
                <a:cs typeface="Times New Roman"/>
              </a:rPr>
              <a:t>) </a:t>
            </a:r>
            <a:endParaRPr sz="1800" dirty="0">
              <a:latin typeface="Times New Roman"/>
              <a:cs typeface="Times New Roman"/>
            </a:endParaRPr>
          </a:p>
        </p:txBody>
      </p:sp>
      <p:pic>
        <p:nvPicPr>
          <p:cNvPr id="13" name="object 13"/>
          <p:cNvPicPr/>
          <p:nvPr/>
        </p:nvPicPr>
        <p:blipFill>
          <a:blip r:embed="rId6" cstate="print"/>
          <a:stretch>
            <a:fillRect/>
          </a:stretch>
        </p:blipFill>
        <p:spPr>
          <a:xfrm>
            <a:off x="482168" y="371983"/>
            <a:ext cx="1186243" cy="1479931"/>
          </a:xfrm>
          <a:prstGeom prst="rect">
            <a:avLst/>
          </a:prstGeom>
        </p:spPr>
      </p:pic>
      <p:sp>
        <p:nvSpPr>
          <p:cNvPr id="14" name="object 14"/>
          <p:cNvSpPr txBox="1">
            <a:spLocks noGrp="1"/>
          </p:cNvSpPr>
          <p:nvPr>
            <p:ph type="sldNum" sz="quarter" idx="7"/>
          </p:nvPr>
        </p:nvSpPr>
        <p:spPr>
          <a:prstGeom prst="rect">
            <a:avLst/>
          </a:prstGeom>
        </p:spPr>
        <p:txBody>
          <a:bodyPr vert="horz" wrap="square" lIns="0" tIns="59791" rIns="0" bIns="0" rtlCol="0">
            <a:spAutoFit/>
          </a:bodyPr>
          <a:lstStyle/>
          <a:p>
            <a:pPr marL="351790">
              <a:lnSpc>
                <a:spcPct val="100000"/>
              </a:lnSpc>
              <a:spcBef>
                <a:spcPts val="10"/>
              </a:spcBef>
            </a:pPr>
            <a:fld id="{81D60167-4931-47E6-BA6A-407CBD079E47}" type="slidenum">
              <a:rPr spc="-50" dirty="0"/>
              <a:t>1</a:t>
            </a:fld>
            <a:endParaRPr spc="-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55241" y="188213"/>
            <a:ext cx="9359265" cy="700192"/>
          </a:xfrm>
          <a:prstGeom prst="rect">
            <a:avLst/>
          </a:prstGeom>
          <a:ln w="28575">
            <a:solidFill>
              <a:srgbClr val="2D528F"/>
            </a:solidFill>
          </a:ln>
        </p:spPr>
        <p:txBody>
          <a:bodyPr vert="horz" wrap="square" lIns="0" tIns="144780" rIns="0" bIns="0" rtlCol="0">
            <a:spAutoFit/>
          </a:bodyPr>
          <a:lstStyle/>
          <a:p>
            <a:pPr marR="59055" algn="ctr">
              <a:lnSpc>
                <a:spcPct val="100000"/>
              </a:lnSpc>
              <a:spcBef>
                <a:spcPts val="1140"/>
              </a:spcBef>
            </a:pPr>
            <a:r>
              <a:rPr lang="en-IN" spc="265" dirty="0"/>
              <a:t>CONTENT</a:t>
            </a:r>
            <a:endParaRPr spc="225" dirty="0"/>
          </a:p>
        </p:txBody>
      </p:sp>
      <p:grpSp>
        <p:nvGrpSpPr>
          <p:cNvPr id="3" name="object 3"/>
          <p:cNvGrpSpPr/>
          <p:nvPr/>
        </p:nvGrpSpPr>
        <p:grpSpPr>
          <a:xfrm>
            <a:off x="106869" y="76389"/>
            <a:ext cx="11971020" cy="6706870"/>
            <a:chOff x="106869" y="76389"/>
            <a:chExt cx="11971020" cy="6706870"/>
          </a:xfrm>
        </p:grpSpPr>
        <p:sp>
          <p:nvSpPr>
            <p:cNvPr id="4" name="object 4"/>
            <p:cNvSpPr/>
            <p:nvPr/>
          </p:nvSpPr>
          <p:spPr>
            <a:xfrm>
              <a:off x="121156" y="90676"/>
              <a:ext cx="11942445" cy="6678295"/>
            </a:xfrm>
            <a:custGeom>
              <a:avLst/>
              <a:gdLst/>
              <a:ahLst/>
              <a:cxnLst/>
              <a:rect l="l" t="t" r="r" b="b"/>
              <a:pathLst>
                <a:path w="11942445" h="6678295">
                  <a:moveTo>
                    <a:pt x="0" y="6678168"/>
                  </a:moveTo>
                  <a:lnTo>
                    <a:pt x="11942064" y="6678168"/>
                  </a:lnTo>
                  <a:lnTo>
                    <a:pt x="11942064" y="0"/>
                  </a:lnTo>
                  <a:lnTo>
                    <a:pt x="0" y="0"/>
                  </a:lnTo>
                  <a:lnTo>
                    <a:pt x="0" y="6678168"/>
                  </a:lnTo>
                  <a:close/>
                </a:path>
              </a:pathLst>
            </a:custGeom>
            <a:ln w="28575">
              <a:solidFill>
                <a:srgbClr val="2D528F"/>
              </a:solidFill>
            </a:ln>
          </p:spPr>
          <p:txBody>
            <a:bodyPr wrap="square" lIns="0" tIns="0" rIns="0" bIns="0" rtlCol="0"/>
            <a:lstStyle/>
            <a:p>
              <a:endParaRPr/>
            </a:p>
          </p:txBody>
        </p:sp>
        <p:pic>
          <p:nvPicPr>
            <p:cNvPr id="5" name="object 5"/>
            <p:cNvPicPr/>
            <p:nvPr/>
          </p:nvPicPr>
          <p:blipFill>
            <a:blip r:embed="rId3" cstate="print"/>
            <a:stretch>
              <a:fillRect/>
            </a:stretch>
          </p:blipFill>
          <p:spPr>
            <a:xfrm>
              <a:off x="405384" y="187452"/>
              <a:ext cx="873252" cy="1001268"/>
            </a:xfrm>
            <a:prstGeom prst="rect">
              <a:avLst/>
            </a:prstGeom>
          </p:spPr>
        </p:pic>
      </p:grpSp>
      <p:sp>
        <p:nvSpPr>
          <p:cNvPr id="7" name="object 7"/>
          <p:cNvSpPr txBox="1"/>
          <p:nvPr/>
        </p:nvSpPr>
        <p:spPr>
          <a:xfrm>
            <a:off x="11629770" y="6396132"/>
            <a:ext cx="161290" cy="278281"/>
          </a:xfrm>
          <a:prstGeom prst="rect">
            <a:avLst/>
          </a:prstGeom>
        </p:spPr>
        <p:txBody>
          <a:bodyPr vert="horz" wrap="square" lIns="0" tIns="1270" rIns="0" bIns="0" rtlCol="0">
            <a:spAutoFit/>
          </a:bodyPr>
          <a:lstStyle/>
          <a:p>
            <a:pPr marL="12700">
              <a:lnSpc>
                <a:spcPct val="100000"/>
              </a:lnSpc>
              <a:spcBef>
                <a:spcPts val="10"/>
              </a:spcBef>
            </a:pPr>
            <a:r>
              <a:rPr lang="en-US" b="1" spc="-50" dirty="0">
                <a:solidFill>
                  <a:srgbClr val="2D5395"/>
                </a:solidFill>
                <a:latin typeface="Cambria"/>
                <a:cs typeface="Cambria"/>
              </a:rPr>
              <a:t>9</a:t>
            </a:r>
            <a:endParaRPr sz="1800" dirty="0">
              <a:latin typeface="Cambria"/>
              <a:cs typeface="Cambria"/>
            </a:endParaRPr>
          </a:p>
        </p:txBody>
      </p:sp>
      <p:sp>
        <p:nvSpPr>
          <p:cNvPr id="8" name="TextBox 7">
            <a:extLst>
              <a:ext uri="{FF2B5EF4-FFF2-40B4-BE49-F238E27FC236}">
                <a16:creationId xmlns:a16="http://schemas.microsoft.com/office/drawing/2014/main" id="{2B47BA5E-E91C-4B36-AB2A-700E9AFC3C41}"/>
              </a:ext>
            </a:extLst>
          </p:cNvPr>
          <p:cNvSpPr txBox="1"/>
          <p:nvPr/>
        </p:nvSpPr>
        <p:spPr>
          <a:xfrm>
            <a:off x="1577012" y="1843529"/>
            <a:ext cx="9359265" cy="3970318"/>
          </a:xfrm>
          <a:prstGeom prst="rect">
            <a:avLst/>
          </a:prstGeom>
          <a:noFill/>
        </p:spPr>
        <p:txBody>
          <a:bodyPr wrap="square" rtlCol="0">
            <a:spAutoFit/>
          </a:bodyPr>
          <a:lstStyle/>
          <a:p>
            <a:pPr marL="28575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Problem Statement &amp; Objectives</a:t>
            </a:r>
            <a:r>
              <a:rPr lang="en-IN" dirty="0">
                <a:latin typeface="Times New Roman" panose="02020603050405020304" pitchFamily="18" charset="0"/>
                <a:cs typeface="Times New Roman" panose="02020603050405020304" pitchFamily="18" charset="0"/>
              </a:rPr>
              <a:t> </a:t>
            </a:r>
          </a:p>
          <a:p>
            <a:pPr marL="28575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Literature Survey &amp; Existing System</a:t>
            </a:r>
          </a:p>
          <a:p>
            <a:pPr marL="28575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Proposed Methodology </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System Design </a:t>
            </a:r>
          </a:p>
          <a:p>
            <a:pPr marL="28575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System </a:t>
            </a:r>
            <a:r>
              <a:rPr lang="en-US" b="1" dirty="0">
                <a:latin typeface="Times New Roman" panose="02020603050405020304" pitchFamily="18" charset="0"/>
                <a:cs typeface="Times New Roman" panose="02020603050405020304" pitchFamily="18" charset="0"/>
              </a:rPr>
              <a:t>Architecture </a:t>
            </a:r>
          </a:p>
          <a:p>
            <a:pPr marL="28575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Progress Achieved</a:t>
            </a: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Expected Results</a:t>
            </a:r>
          </a:p>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Work Plan</a:t>
            </a:r>
          </a:p>
          <a:p>
            <a:pPr marL="28575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Expected Outcomes</a:t>
            </a:r>
          </a:p>
          <a:p>
            <a:pPr marL="285750" indent="-285750">
              <a:buFont typeface="Arial" panose="020B0604020202020204" pitchFamily="34" charset="0"/>
              <a:buChar char="•"/>
            </a:pPr>
            <a:endParaRPr lang="en-US" b="1"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IN" b="1"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IN" b="1"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IN" dirty="0"/>
          </a:p>
        </p:txBody>
      </p:sp>
    </p:spTree>
    <p:extLst>
      <p:ext uri="{BB962C8B-B14F-4D97-AF65-F5344CB8AC3E}">
        <p14:creationId xmlns:p14="http://schemas.microsoft.com/office/powerpoint/2010/main" val="30121062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555241" y="188213"/>
            <a:ext cx="9359265" cy="896619"/>
          </a:xfrm>
          <a:custGeom>
            <a:avLst/>
            <a:gdLst/>
            <a:ahLst/>
            <a:cxnLst/>
            <a:rect l="l" t="t" r="r" b="b"/>
            <a:pathLst>
              <a:path w="9359265" h="896619">
                <a:moveTo>
                  <a:pt x="0" y="896112"/>
                </a:moveTo>
                <a:lnTo>
                  <a:pt x="9358884" y="896112"/>
                </a:lnTo>
                <a:lnTo>
                  <a:pt x="9358884" y="0"/>
                </a:lnTo>
                <a:lnTo>
                  <a:pt x="0" y="0"/>
                </a:lnTo>
                <a:lnTo>
                  <a:pt x="0" y="896112"/>
                </a:lnTo>
                <a:close/>
              </a:path>
            </a:pathLst>
          </a:custGeom>
          <a:ln w="28575">
            <a:solidFill>
              <a:srgbClr val="2D528F"/>
            </a:solidFill>
          </a:ln>
        </p:spPr>
        <p:txBody>
          <a:bodyPr wrap="square" lIns="0" tIns="0" rIns="0" bIns="0" rtlCol="0"/>
          <a:lstStyle/>
          <a:p>
            <a:endParaRPr/>
          </a:p>
        </p:txBody>
      </p:sp>
      <p:sp>
        <p:nvSpPr>
          <p:cNvPr id="3" name="object 3"/>
          <p:cNvSpPr txBox="1">
            <a:spLocks noGrp="1"/>
          </p:cNvSpPr>
          <p:nvPr>
            <p:ph type="title"/>
          </p:nvPr>
        </p:nvSpPr>
        <p:spPr>
          <a:prstGeom prst="rect">
            <a:avLst/>
          </a:prstGeom>
        </p:spPr>
        <p:txBody>
          <a:bodyPr vert="horz" wrap="square" lIns="0" tIns="156884" rIns="0" bIns="0" rtlCol="0">
            <a:spAutoFit/>
          </a:bodyPr>
          <a:lstStyle/>
          <a:p>
            <a:pPr marL="2489835">
              <a:lnSpc>
                <a:spcPct val="100000"/>
              </a:lnSpc>
              <a:spcBef>
                <a:spcPts val="100"/>
              </a:spcBef>
            </a:pPr>
            <a:r>
              <a:rPr spc="265" dirty="0"/>
              <a:t>CONTENT</a:t>
            </a:r>
          </a:p>
        </p:txBody>
      </p:sp>
      <p:grpSp>
        <p:nvGrpSpPr>
          <p:cNvPr id="4" name="object 4"/>
          <p:cNvGrpSpPr/>
          <p:nvPr/>
        </p:nvGrpSpPr>
        <p:grpSpPr>
          <a:xfrm>
            <a:off x="106869" y="76389"/>
            <a:ext cx="11971020" cy="6706870"/>
            <a:chOff x="106869" y="76389"/>
            <a:chExt cx="11971020" cy="6706870"/>
          </a:xfrm>
        </p:grpSpPr>
        <p:sp>
          <p:nvSpPr>
            <p:cNvPr id="5" name="object 5"/>
            <p:cNvSpPr/>
            <p:nvPr/>
          </p:nvSpPr>
          <p:spPr>
            <a:xfrm>
              <a:off x="121156" y="90676"/>
              <a:ext cx="11942445" cy="6678295"/>
            </a:xfrm>
            <a:custGeom>
              <a:avLst/>
              <a:gdLst/>
              <a:ahLst/>
              <a:cxnLst/>
              <a:rect l="l" t="t" r="r" b="b"/>
              <a:pathLst>
                <a:path w="11942445" h="6678295">
                  <a:moveTo>
                    <a:pt x="0" y="6678168"/>
                  </a:moveTo>
                  <a:lnTo>
                    <a:pt x="11942064" y="6678168"/>
                  </a:lnTo>
                  <a:lnTo>
                    <a:pt x="11942064" y="0"/>
                  </a:lnTo>
                  <a:lnTo>
                    <a:pt x="0" y="0"/>
                  </a:lnTo>
                  <a:lnTo>
                    <a:pt x="0" y="6678168"/>
                  </a:lnTo>
                  <a:close/>
                </a:path>
              </a:pathLst>
            </a:custGeom>
            <a:ln w="28575">
              <a:solidFill>
                <a:srgbClr val="2D528F"/>
              </a:solidFill>
            </a:ln>
          </p:spPr>
          <p:txBody>
            <a:bodyPr wrap="square" lIns="0" tIns="0" rIns="0" bIns="0" rtlCol="0"/>
            <a:lstStyle/>
            <a:p>
              <a:endParaRPr/>
            </a:p>
          </p:txBody>
        </p:sp>
        <p:pic>
          <p:nvPicPr>
            <p:cNvPr id="6" name="object 6"/>
            <p:cNvPicPr/>
            <p:nvPr/>
          </p:nvPicPr>
          <p:blipFill>
            <a:blip r:embed="rId3" cstate="print"/>
            <a:stretch>
              <a:fillRect/>
            </a:stretch>
          </p:blipFill>
          <p:spPr>
            <a:xfrm>
              <a:off x="405384" y="187452"/>
              <a:ext cx="873252" cy="1001268"/>
            </a:xfrm>
            <a:prstGeom prst="rect">
              <a:avLst/>
            </a:prstGeom>
          </p:spPr>
        </p:pic>
      </p:grpSp>
      <p:sp>
        <p:nvSpPr>
          <p:cNvPr id="7" name="object 7"/>
          <p:cNvSpPr txBox="1"/>
          <p:nvPr/>
        </p:nvSpPr>
        <p:spPr>
          <a:xfrm>
            <a:off x="2001773" y="1600200"/>
            <a:ext cx="8763000" cy="5137304"/>
          </a:xfrm>
          <a:prstGeom prst="rect">
            <a:avLst/>
          </a:prstGeom>
        </p:spPr>
        <p:txBody>
          <a:bodyPr vert="horz" wrap="square" lIns="0" tIns="165100" rIns="0" bIns="0" rtlCol="0">
            <a:spAutoFit/>
          </a:bodyPr>
          <a:lstStyle/>
          <a:p>
            <a:pPr lvl="0"/>
            <a:r>
              <a:rPr lang="en-IN" sz="1600" b="1" dirty="0">
                <a:latin typeface="Times New Roman" panose="02020603050405020304" pitchFamily="18" charset="0"/>
                <a:cs typeface="Times New Roman" panose="02020603050405020304" pitchFamily="18" charset="0"/>
              </a:rPr>
              <a:t>Problem Statement &amp; Objectives</a:t>
            </a:r>
            <a:r>
              <a:rPr lang="en-IN" sz="1600" dirty="0">
                <a:latin typeface="Times New Roman" panose="02020603050405020304" pitchFamily="18" charset="0"/>
                <a:cs typeface="Times New Roman" panose="02020603050405020304" pitchFamily="18" charset="0"/>
              </a:rPr>
              <a:t> </a:t>
            </a:r>
          </a:p>
          <a:p>
            <a:pPr lvl="0"/>
            <a:endParaRPr lang="en-IN" sz="700" dirty="0">
              <a:latin typeface="Times New Roman" panose="02020603050405020304" pitchFamily="18" charset="0"/>
              <a:cs typeface="Times New Roman" panose="02020603050405020304" pitchFamily="18" charset="0"/>
            </a:endParaRPr>
          </a:p>
          <a:p>
            <a:pPr algn="just">
              <a:lnSpc>
                <a:spcPct val="150000"/>
              </a:lnSpc>
            </a:pPr>
            <a:r>
              <a:rPr lang="en-US" sz="1400" dirty="0">
                <a:latin typeface="Times New Roman" panose="02020603050405020304" pitchFamily="18" charset="0"/>
                <a:cs typeface="Times New Roman" panose="02020603050405020304" pitchFamily="18" charset="0"/>
              </a:rPr>
              <a:t>E-waste such as batteries, PCBs, wires, and plastic parts is increasing rapidly. Manual sorting of these materials is slow, difficult, and prone to errors. Improper sorting can also cause environmental pollution and make recycling difficult.</a:t>
            </a:r>
          </a:p>
          <a:p>
            <a:pPr algn="just">
              <a:lnSpc>
                <a:spcPct val="150000"/>
              </a:lnSpc>
            </a:pPr>
            <a:r>
              <a:rPr lang="en-US" sz="1400" dirty="0">
                <a:latin typeface="Times New Roman" panose="02020603050405020304" pitchFamily="18" charset="0"/>
                <a:cs typeface="Times New Roman" panose="02020603050405020304" pitchFamily="18" charset="0"/>
              </a:rPr>
              <a:t>Therefore, this project aims to develop an AI-based automated system that can identify different types of E-waste using a camera and automatically sort them into the correct bins using a conveyor and servo mechanism.</a:t>
            </a:r>
          </a:p>
          <a:p>
            <a:pPr algn="just"/>
            <a:endParaRPr lang="en-US" sz="1200" dirty="0">
              <a:latin typeface="Times New Roman" panose="02020603050405020304" pitchFamily="18" charset="0"/>
              <a:cs typeface="Times New Roman" panose="02020603050405020304" pitchFamily="18" charset="0"/>
            </a:endParaRPr>
          </a:p>
          <a:p>
            <a:pPr algn="just"/>
            <a:endParaRPr lang="en-US" sz="1200" dirty="0">
              <a:latin typeface="Times New Roman" panose="02020603050405020304" pitchFamily="18" charset="0"/>
              <a:cs typeface="Times New Roman" panose="02020603050405020304" pitchFamily="18" charset="0"/>
            </a:endParaRPr>
          </a:p>
          <a:p>
            <a:r>
              <a:rPr lang="en-US" sz="1600" b="1" dirty="0">
                <a:latin typeface="Times New Roman" panose="02020603050405020304" pitchFamily="18" charset="0"/>
                <a:cs typeface="Times New Roman" panose="02020603050405020304" pitchFamily="18" charset="0"/>
              </a:rPr>
              <a:t>Objectives</a:t>
            </a:r>
          </a:p>
          <a:p>
            <a:endParaRPr lang="en-US" sz="700" b="1" dirty="0">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lang="en-US" sz="1400" b="1" dirty="0">
                <a:latin typeface="Times New Roman" panose="02020603050405020304" pitchFamily="18" charset="0"/>
                <a:cs typeface="Times New Roman" panose="02020603050405020304" pitchFamily="18" charset="0"/>
              </a:rPr>
              <a:t>AI-Based Classification</a:t>
            </a:r>
            <a:br>
              <a:rPr lang="en-US" sz="1200" dirty="0">
                <a:latin typeface="Times New Roman" panose="02020603050405020304" pitchFamily="18" charset="0"/>
                <a:cs typeface="Times New Roman" panose="02020603050405020304" pitchFamily="18" charset="0"/>
              </a:rPr>
            </a:br>
            <a:r>
              <a:rPr lang="en-US" sz="1400" dirty="0">
                <a:latin typeface="Times New Roman" panose="02020603050405020304" pitchFamily="18" charset="0"/>
                <a:cs typeface="Times New Roman" panose="02020603050405020304" pitchFamily="18" charset="0"/>
              </a:rPr>
              <a:t>Use a camera and ML model to identify different types of E-waste. </a:t>
            </a:r>
          </a:p>
          <a:p>
            <a:pPr marL="285750" indent="-285750">
              <a:lnSpc>
                <a:spcPct val="150000"/>
              </a:lnSpc>
              <a:buFont typeface="Arial" panose="020B0604020202020204" pitchFamily="34" charset="0"/>
              <a:buChar char="•"/>
            </a:pPr>
            <a:r>
              <a:rPr lang="en-US" sz="1400" b="1" dirty="0">
                <a:latin typeface="Times New Roman" panose="02020603050405020304" pitchFamily="18" charset="0"/>
                <a:cs typeface="Times New Roman" panose="02020603050405020304" pitchFamily="18" charset="0"/>
              </a:rPr>
              <a:t>Automatic Sorting</a:t>
            </a:r>
            <a:br>
              <a:rPr lang="en-US" sz="1200" dirty="0">
                <a:latin typeface="Times New Roman" panose="02020603050405020304" pitchFamily="18" charset="0"/>
                <a:cs typeface="Times New Roman" panose="02020603050405020304" pitchFamily="18" charset="0"/>
              </a:rPr>
            </a:br>
            <a:r>
              <a:rPr lang="en-US" sz="1400" dirty="0">
                <a:latin typeface="Times New Roman" panose="02020603050405020304" pitchFamily="18" charset="0"/>
                <a:cs typeface="Times New Roman" panose="02020603050405020304" pitchFamily="18" charset="0"/>
              </a:rPr>
              <a:t>Use a conveyor, sensors, and servo motor to move each item into the correct bin. </a:t>
            </a:r>
          </a:p>
          <a:p>
            <a:pPr marL="285750" indent="-285750">
              <a:lnSpc>
                <a:spcPct val="150000"/>
              </a:lnSpc>
              <a:buFont typeface="Arial" panose="020B0604020202020204" pitchFamily="34" charset="0"/>
              <a:buChar char="•"/>
            </a:pPr>
            <a:r>
              <a:rPr lang="en-US" sz="1400" b="1" dirty="0">
                <a:latin typeface="Times New Roman" panose="02020603050405020304" pitchFamily="18" charset="0"/>
                <a:cs typeface="Times New Roman" panose="02020603050405020304" pitchFamily="18" charset="0"/>
              </a:rPr>
              <a:t>Simple Monitoring</a:t>
            </a:r>
            <a:br>
              <a:rPr lang="en-US" sz="1200" dirty="0">
                <a:latin typeface="Times New Roman" panose="02020603050405020304" pitchFamily="18" charset="0"/>
                <a:cs typeface="Times New Roman" panose="02020603050405020304" pitchFamily="18" charset="0"/>
              </a:rPr>
            </a:br>
            <a:r>
              <a:rPr lang="en-US" sz="1400" dirty="0">
                <a:latin typeface="Times New Roman" panose="02020603050405020304" pitchFamily="18" charset="0"/>
                <a:cs typeface="Times New Roman" panose="02020603050405020304" pitchFamily="18" charset="0"/>
              </a:rPr>
              <a:t>Record the number and type of E-waste items sorted by the system.</a:t>
            </a:r>
          </a:p>
          <a:p>
            <a:pPr algn="just"/>
            <a:endParaRPr lang="en-US" sz="1200" dirty="0">
              <a:latin typeface="Times New Roman" panose="02020603050405020304" pitchFamily="18" charset="0"/>
              <a:cs typeface="Times New Roman" panose="02020603050405020304" pitchFamily="18" charset="0"/>
            </a:endParaRPr>
          </a:p>
          <a:p>
            <a:pPr lvl="0"/>
            <a:endParaRPr lang="en-IN" dirty="0"/>
          </a:p>
          <a:p>
            <a:pPr lvl="0"/>
            <a:endParaRPr lang="en-IN" sz="1600" dirty="0"/>
          </a:p>
        </p:txBody>
      </p:sp>
      <p:sp>
        <p:nvSpPr>
          <p:cNvPr id="8" name="object 8"/>
          <p:cNvSpPr txBox="1">
            <a:spLocks noGrp="1"/>
          </p:cNvSpPr>
          <p:nvPr>
            <p:ph type="sldNum" sz="quarter" idx="7"/>
          </p:nvPr>
        </p:nvSpPr>
        <p:spPr>
          <a:prstGeom prst="rect">
            <a:avLst/>
          </a:prstGeom>
        </p:spPr>
        <p:txBody>
          <a:bodyPr vert="horz" wrap="square" lIns="0" tIns="59791" rIns="0" bIns="0" rtlCol="0">
            <a:spAutoFit/>
          </a:bodyPr>
          <a:lstStyle/>
          <a:p>
            <a:pPr marL="351790">
              <a:lnSpc>
                <a:spcPct val="100000"/>
              </a:lnSpc>
              <a:spcBef>
                <a:spcPts val="10"/>
              </a:spcBef>
            </a:pPr>
            <a:fld id="{81D60167-4931-47E6-BA6A-407CBD079E47}" type="slidenum">
              <a:rPr spc="-50" dirty="0"/>
              <a:t>3</a:t>
            </a:fld>
            <a:endParaRPr spc="-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55241" y="188213"/>
            <a:ext cx="9359265" cy="700192"/>
          </a:xfrm>
          <a:prstGeom prst="rect">
            <a:avLst/>
          </a:prstGeom>
          <a:ln w="28575">
            <a:solidFill>
              <a:srgbClr val="2D528F"/>
            </a:solidFill>
          </a:ln>
        </p:spPr>
        <p:txBody>
          <a:bodyPr vert="horz" wrap="square" lIns="0" tIns="144780" rIns="0" bIns="0" rtlCol="0">
            <a:spAutoFit/>
          </a:bodyPr>
          <a:lstStyle/>
          <a:p>
            <a:pPr marR="59055" algn="ctr">
              <a:lnSpc>
                <a:spcPct val="100000"/>
              </a:lnSpc>
              <a:spcBef>
                <a:spcPts val="1140"/>
              </a:spcBef>
            </a:pPr>
            <a:r>
              <a:rPr lang="en-IN" spc="265" dirty="0"/>
              <a:t>CONTENT</a:t>
            </a:r>
            <a:endParaRPr spc="225" dirty="0"/>
          </a:p>
        </p:txBody>
      </p:sp>
      <p:grpSp>
        <p:nvGrpSpPr>
          <p:cNvPr id="3" name="object 3"/>
          <p:cNvGrpSpPr/>
          <p:nvPr/>
        </p:nvGrpSpPr>
        <p:grpSpPr>
          <a:xfrm>
            <a:off x="106869" y="76389"/>
            <a:ext cx="11971020" cy="6706870"/>
            <a:chOff x="106869" y="76389"/>
            <a:chExt cx="11971020" cy="6706870"/>
          </a:xfrm>
        </p:grpSpPr>
        <p:sp>
          <p:nvSpPr>
            <p:cNvPr id="4" name="object 4"/>
            <p:cNvSpPr/>
            <p:nvPr/>
          </p:nvSpPr>
          <p:spPr>
            <a:xfrm>
              <a:off x="121156" y="90676"/>
              <a:ext cx="11942445" cy="6678295"/>
            </a:xfrm>
            <a:custGeom>
              <a:avLst/>
              <a:gdLst/>
              <a:ahLst/>
              <a:cxnLst/>
              <a:rect l="l" t="t" r="r" b="b"/>
              <a:pathLst>
                <a:path w="11942445" h="6678295">
                  <a:moveTo>
                    <a:pt x="0" y="6678168"/>
                  </a:moveTo>
                  <a:lnTo>
                    <a:pt x="11942064" y="6678168"/>
                  </a:lnTo>
                  <a:lnTo>
                    <a:pt x="11942064" y="0"/>
                  </a:lnTo>
                  <a:lnTo>
                    <a:pt x="0" y="0"/>
                  </a:lnTo>
                  <a:lnTo>
                    <a:pt x="0" y="6678168"/>
                  </a:lnTo>
                  <a:close/>
                </a:path>
              </a:pathLst>
            </a:custGeom>
            <a:ln w="28575">
              <a:solidFill>
                <a:srgbClr val="2D528F"/>
              </a:solidFill>
            </a:ln>
          </p:spPr>
          <p:txBody>
            <a:bodyPr wrap="square" lIns="0" tIns="0" rIns="0" bIns="0" rtlCol="0"/>
            <a:lstStyle/>
            <a:p>
              <a:endParaRPr/>
            </a:p>
          </p:txBody>
        </p:sp>
        <p:pic>
          <p:nvPicPr>
            <p:cNvPr id="5" name="object 5"/>
            <p:cNvPicPr/>
            <p:nvPr/>
          </p:nvPicPr>
          <p:blipFill>
            <a:blip r:embed="rId3" cstate="print"/>
            <a:stretch>
              <a:fillRect/>
            </a:stretch>
          </p:blipFill>
          <p:spPr>
            <a:xfrm>
              <a:off x="405384" y="187452"/>
              <a:ext cx="873252" cy="1001268"/>
            </a:xfrm>
            <a:prstGeom prst="rect">
              <a:avLst/>
            </a:prstGeom>
          </p:spPr>
        </p:pic>
      </p:grpSp>
      <p:sp>
        <p:nvSpPr>
          <p:cNvPr id="6" name="object 6"/>
          <p:cNvSpPr txBox="1"/>
          <p:nvPr/>
        </p:nvSpPr>
        <p:spPr>
          <a:xfrm>
            <a:off x="688035" y="1251404"/>
            <a:ext cx="10913110" cy="536044"/>
          </a:xfrm>
          <a:prstGeom prst="rect">
            <a:avLst/>
          </a:prstGeom>
        </p:spPr>
        <p:txBody>
          <a:bodyPr vert="horz" wrap="square" lIns="0" tIns="12700" rIns="0" bIns="0" rtlCol="0">
            <a:spAutoFit/>
          </a:bodyPr>
          <a:lstStyle/>
          <a:p>
            <a:pPr lvl="0"/>
            <a:r>
              <a:rPr lang="en-IN" sz="1600" b="1" dirty="0">
                <a:latin typeface="Times New Roman" panose="02020603050405020304" pitchFamily="18" charset="0"/>
                <a:cs typeface="Times New Roman" panose="02020603050405020304" pitchFamily="18" charset="0"/>
              </a:rPr>
              <a:t>Literature Survey &amp; Existing System</a:t>
            </a:r>
            <a:r>
              <a:rPr lang="en-IN" sz="1600" dirty="0">
                <a:latin typeface="Times New Roman" panose="02020603050405020304" pitchFamily="18" charset="0"/>
                <a:cs typeface="Times New Roman" panose="02020603050405020304" pitchFamily="18" charset="0"/>
              </a:rPr>
              <a:t> </a:t>
            </a:r>
          </a:p>
          <a:p>
            <a:pPr lvl="0"/>
            <a:r>
              <a:rPr lang="en-IN" dirty="0"/>
              <a:t> </a:t>
            </a:r>
            <a:endParaRPr lang="en-IN" sz="1600" dirty="0"/>
          </a:p>
        </p:txBody>
      </p:sp>
      <p:sp>
        <p:nvSpPr>
          <p:cNvPr id="7" name="object 7"/>
          <p:cNvSpPr txBox="1"/>
          <p:nvPr/>
        </p:nvSpPr>
        <p:spPr>
          <a:xfrm>
            <a:off x="11629770" y="6396132"/>
            <a:ext cx="161290" cy="294005"/>
          </a:xfrm>
          <a:prstGeom prst="rect">
            <a:avLst/>
          </a:prstGeom>
        </p:spPr>
        <p:txBody>
          <a:bodyPr vert="horz" wrap="square" lIns="0" tIns="1270" rIns="0" bIns="0" rtlCol="0">
            <a:spAutoFit/>
          </a:bodyPr>
          <a:lstStyle/>
          <a:p>
            <a:pPr marL="12700">
              <a:lnSpc>
                <a:spcPct val="100000"/>
              </a:lnSpc>
              <a:spcBef>
                <a:spcPts val="10"/>
              </a:spcBef>
            </a:pPr>
            <a:r>
              <a:rPr sz="1800" b="1" spc="-50" dirty="0">
                <a:solidFill>
                  <a:srgbClr val="2D5395"/>
                </a:solidFill>
                <a:latin typeface="Cambria"/>
                <a:cs typeface="Cambria"/>
              </a:rPr>
              <a:t>3</a:t>
            </a:r>
            <a:endParaRPr sz="1800">
              <a:latin typeface="Cambria"/>
              <a:cs typeface="Cambria"/>
            </a:endParaRPr>
          </a:p>
        </p:txBody>
      </p:sp>
      <p:graphicFrame>
        <p:nvGraphicFramePr>
          <p:cNvPr id="8" name="Table 8">
            <a:extLst>
              <a:ext uri="{FF2B5EF4-FFF2-40B4-BE49-F238E27FC236}">
                <a16:creationId xmlns:a16="http://schemas.microsoft.com/office/drawing/2014/main" id="{8361D36A-3E5B-439A-8934-553A0E77B618}"/>
              </a:ext>
            </a:extLst>
          </p:cNvPr>
          <p:cNvGraphicFramePr>
            <a:graphicFrameLocks noGrp="1"/>
          </p:cNvGraphicFramePr>
          <p:nvPr>
            <p:extLst>
              <p:ext uri="{D42A27DB-BD31-4B8C-83A1-F6EECF244321}">
                <p14:modId xmlns:p14="http://schemas.microsoft.com/office/powerpoint/2010/main" val="3794923432"/>
              </p:ext>
            </p:extLst>
          </p:nvPr>
        </p:nvGraphicFramePr>
        <p:xfrm>
          <a:off x="688035" y="1676400"/>
          <a:ext cx="10815930" cy="4114800"/>
        </p:xfrm>
        <a:graphic>
          <a:graphicData uri="http://schemas.openxmlformats.org/drawingml/2006/table">
            <a:tbl>
              <a:tblPr firstRow="1" bandRow="1">
                <a:tableStyleId>{5C22544A-7EE6-4342-B048-85BDC9FD1C3A}</a:tableStyleId>
              </a:tblPr>
              <a:tblGrid>
                <a:gridCol w="808220">
                  <a:extLst>
                    <a:ext uri="{9D8B030D-6E8A-4147-A177-3AD203B41FA5}">
                      <a16:colId xmlns:a16="http://schemas.microsoft.com/office/drawing/2014/main" val="677027882"/>
                    </a:ext>
                  </a:extLst>
                </a:gridCol>
                <a:gridCol w="3075745">
                  <a:extLst>
                    <a:ext uri="{9D8B030D-6E8A-4147-A177-3AD203B41FA5}">
                      <a16:colId xmlns:a16="http://schemas.microsoft.com/office/drawing/2014/main" val="805612045"/>
                    </a:ext>
                  </a:extLst>
                </a:gridCol>
                <a:gridCol w="1524000">
                  <a:extLst>
                    <a:ext uri="{9D8B030D-6E8A-4147-A177-3AD203B41FA5}">
                      <a16:colId xmlns:a16="http://schemas.microsoft.com/office/drawing/2014/main" val="1122450282"/>
                    </a:ext>
                  </a:extLst>
                </a:gridCol>
                <a:gridCol w="1802655">
                  <a:extLst>
                    <a:ext uri="{9D8B030D-6E8A-4147-A177-3AD203B41FA5}">
                      <a16:colId xmlns:a16="http://schemas.microsoft.com/office/drawing/2014/main" val="2800442823"/>
                    </a:ext>
                  </a:extLst>
                </a:gridCol>
                <a:gridCol w="1802655">
                  <a:extLst>
                    <a:ext uri="{9D8B030D-6E8A-4147-A177-3AD203B41FA5}">
                      <a16:colId xmlns:a16="http://schemas.microsoft.com/office/drawing/2014/main" val="1358715134"/>
                    </a:ext>
                  </a:extLst>
                </a:gridCol>
                <a:gridCol w="1802655">
                  <a:extLst>
                    <a:ext uri="{9D8B030D-6E8A-4147-A177-3AD203B41FA5}">
                      <a16:colId xmlns:a16="http://schemas.microsoft.com/office/drawing/2014/main" val="3223434236"/>
                    </a:ext>
                  </a:extLst>
                </a:gridCol>
              </a:tblGrid>
              <a:tr h="370840">
                <a:tc>
                  <a:txBody>
                    <a:bodyPr/>
                    <a:lstStyle/>
                    <a:p>
                      <a:r>
                        <a:rPr lang="en-US" sz="1400" dirty="0" err="1">
                          <a:latin typeface="Times New Roman" panose="02020603050405020304" pitchFamily="18" charset="0"/>
                          <a:cs typeface="Times New Roman" panose="02020603050405020304" pitchFamily="18" charset="0"/>
                        </a:rPr>
                        <a:t>S.No</a:t>
                      </a:r>
                      <a:endParaRPr lang="en-IN" sz="1400" dirty="0">
                        <a:latin typeface="Times New Roman" panose="02020603050405020304" pitchFamily="18" charset="0"/>
                        <a:cs typeface="Times New Roman" panose="02020603050405020304" pitchFamily="18" charset="0"/>
                      </a:endParaRPr>
                    </a:p>
                  </a:txBody>
                  <a:tcPr/>
                </a:tc>
                <a:tc>
                  <a:txBody>
                    <a:bodyPr/>
                    <a:lstStyle/>
                    <a:p>
                      <a:pPr algn="ctr"/>
                      <a:r>
                        <a:rPr lang="en-US" sz="1400" dirty="0">
                          <a:latin typeface="Times New Roman" panose="02020603050405020304" pitchFamily="18" charset="0"/>
                          <a:cs typeface="Times New Roman" panose="02020603050405020304" pitchFamily="18" charset="0"/>
                        </a:rPr>
                        <a:t>Title of the Paper</a:t>
                      </a:r>
                      <a:endParaRPr lang="en-IN" sz="1400" dirty="0">
                        <a:latin typeface="Times New Roman" panose="02020603050405020304" pitchFamily="18" charset="0"/>
                        <a:cs typeface="Times New Roman" panose="02020603050405020304" pitchFamily="18" charset="0"/>
                      </a:endParaRPr>
                    </a:p>
                  </a:txBody>
                  <a:tcPr/>
                </a:tc>
                <a:tc>
                  <a:txBody>
                    <a:bodyPr/>
                    <a:lstStyle/>
                    <a:p>
                      <a:pPr algn="ctr"/>
                      <a:r>
                        <a:rPr lang="en-US" sz="1400" dirty="0">
                          <a:latin typeface="Times New Roman" panose="02020603050405020304" pitchFamily="18" charset="0"/>
                          <a:cs typeface="Times New Roman" panose="02020603050405020304" pitchFamily="18" charset="0"/>
                        </a:rPr>
                        <a:t>Author</a:t>
                      </a:r>
                      <a:endParaRPr lang="en-IN" sz="1400" dirty="0">
                        <a:latin typeface="Times New Roman" panose="02020603050405020304" pitchFamily="18" charset="0"/>
                        <a:cs typeface="Times New Roman" panose="02020603050405020304" pitchFamily="18" charset="0"/>
                      </a:endParaRPr>
                    </a:p>
                  </a:txBody>
                  <a:tcPr/>
                </a:tc>
                <a:tc>
                  <a:txBody>
                    <a:bodyPr/>
                    <a:lstStyle/>
                    <a:p>
                      <a:pPr algn="ctr"/>
                      <a:r>
                        <a:rPr lang="en-US" sz="1400" dirty="0">
                          <a:latin typeface="Times New Roman" panose="02020603050405020304" pitchFamily="18" charset="0"/>
                          <a:cs typeface="Times New Roman" panose="02020603050405020304" pitchFamily="18" charset="0"/>
                        </a:rPr>
                        <a:t>Name of the Journal and Publication Year of the Paper</a:t>
                      </a:r>
                      <a:endParaRPr lang="en-IN" sz="1400" dirty="0">
                        <a:latin typeface="Times New Roman" panose="02020603050405020304" pitchFamily="18" charset="0"/>
                        <a:cs typeface="Times New Roman" panose="02020603050405020304" pitchFamily="18" charset="0"/>
                      </a:endParaRPr>
                    </a:p>
                  </a:txBody>
                  <a:tcPr/>
                </a:tc>
                <a:tc>
                  <a:txBody>
                    <a:bodyPr/>
                    <a:lstStyle/>
                    <a:p>
                      <a:pPr algn="ctr"/>
                      <a:r>
                        <a:rPr lang="en-US" sz="1400" dirty="0">
                          <a:latin typeface="Times New Roman" panose="02020603050405020304" pitchFamily="18" charset="0"/>
                          <a:cs typeface="Times New Roman" panose="02020603050405020304" pitchFamily="18" charset="0"/>
                        </a:rPr>
                        <a:t>Methodology</a:t>
                      </a:r>
                      <a:endParaRPr lang="en-IN" sz="1400" dirty="0">
                        <a:latin typeface="Times New Roman" panose="02020603050405020304" pitchFamily="18" charset="0"/>
                        <a:cs typeface="Times New Roman" panose="02020603050405020304" pitchFamily="18" charset="0"/>
                      </a:endParaRPr>
                    </a:p>
                  </a:txBody>
                  <a:tcPr/>
                </a:tc>
                <a:tc>
                  <a:txBody>
                    <a:bodyPr/>
                    <a:lstStyle/>
                    <a:p>
                      <a:pPr algn="ctr"/>
                      <a:r>
                        <a:rPr lang="en-US" sz="1400" dirty="0">
                          <a:latin typeface="Times New Roman" panose="02020603050405020304" pitchFamily="18" charset="0"/>
                          <a:cs typeface="Times New Roman" panose="02020603050405020304" pitchFamily="18" charset="0"/>
                        </a:rPr>
                        <a:t>Drawback</a:t>
                      </a:r>
                      <a:endParaRPr lang="en-IN"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278969728"/>
                  </a:ext>
                </a:extLst>
              </a:tr>
              <a:tr h="0">
                <a:tc>
                  <a:txBody>
                    <a:bodyPr/>
                    <a:lstStyle/>
                    <a:p>
                      <a:pPr algn="ctr"/>
                      <a:r>
                        <a:rPr lang="en-US" sz="1400" dirty="0">
                          <a:latin typeface="Times New Roman" panose="02020603050405020304" pitchFamily="18" charset="0"/>
                          <a:cs typeface="Times New Roman" panose="02020603050405020304" pitchFamily="18" charset="0"/>
                        </a:rPr>
                        <a:t>1</a:t>
                      </a:r>
                      <a:endParaRPr lang="en-IN" sz="1400" dirty="0">
                        <a:latin typeface="Times New Roman" panose="02020603050405020304" pitchFamily="18" charset="0"/>
                        <a:cs typeface="Times New Roman" panose="02020603050405020304" pitchFamily="18" charset="0"/>
                      </a:endParaRPr>
                    </a:p>
                  </a:txBody>
                  <a:tcPr/>
                </a:tc>
                <a:tc>
                  <a:txBody>
                    <a:bodyPr/>
                    <a:lstStyle/>
                    <a:p>
                      <a:pPr algn="ctr"/>
                      <a:r>
                        <a:rPr lang="en-US" sz="1400" dirty="0">
                          <a:latin typeface="Times New Roman" panose="02020603050405020304" pitchFamily="18" charset="0"/>
                          <a:cs typeface="Times New Roman" panose="02020603050405020304" pitchFamily="18" charset="0"/>
                        </a:rPr>
                        <a:t>E-</a:t>
                      </a:r>
                      <a:r>
                        <a:rPr lang="en-US" sz="1400" dirty="0" err="1">
                          <a:latin typeface="Times New Roman" panose="02020603050405020304" pitchFamily="18" charset="0"/>
                          <a:cs typeface="Times New Roman" panose="02020603050405020304" pitchFamily="18" charset="0"/>
                        </a:rPr>
                        <a:t>ViTNet</a:t>
                      </a:r>
                      <a:r>
                        <a:rPr lang="en-US" sz="1400" dirty="0">
                          <a:latin typeface="Times New Roman" panose="02020603050405020304" pitchFamily="18" charset="0"/>
                          <a:cs typeface="Times New Roman" panose="02020603050405020304" pitchFamily="18" charset="0"/>
                        </a:rPr>
                        <a:t>: A lightweight vision transformer with oppositional cat swarm optimization for automated E-Waste sorting</a:t>
                      </a:r>
                      <a:endParaRPr lang="en-IN" sz="1400" dirty="0">
                        <a:latin typeface="Times New Roman" panose="02020603050405020304" pitchFamily="18" charset="0"/>
                        <a:cs typeface="Times New Roman" panose="02020603050405020304" pitchFamily="18" charset="0"/>
                      </a:endParaRPr>
                    </a:p>
                  </a:txBody>
                  <a:tcPr anchor="ctr"/>
                </a:tc>
                <a:tc>
                  <a:txBody>
                    <a:bodyPr/>
                    <a:lstStyle/>
                    <a:p>
                      <a:pPr algn="ctr"/>
                      <a:r>
                        <a:rPr lang="en-IN" sz="1400" dirty="0">
                          <a:latin typeface="Times New Roman" panose="02020603050405020304" pitchFamily="18" charset="0"/>
                          <a:cs typeface="Times New Roman" panose="02020603050405020304" pitchFamily="18" charset="0"/>
                        </a:rPr>
                        <a:t>Godfrey </a:t>
                      </a:r>
                      <a:r>
                        <a:rPr lang="en-IN" sz="1400" dirty="0" err="1">
                          <a:latin typeface="Times New Roman" panose="02020603050405020304" pitchFamily="18" charset="0"/>
                          <a:cs typeface="Times New Roman" panose="02020603050405020304" pitchFamily="18" charset="0"/>
                        </a:rPr>
                        <a:t>Perfectson</a:t>
                      </a:r>
                      <a:r>
                        <a:rPr lang="en-IN" sz="1400" dirty="0">
                          <a:latin typeface="Times New Roman" panose="02020603050405020304" pitchFamily="18" charset="0"/>
                          <a:cs typeface="Times New Roman" panose="02020603050405020304" pitchFamily="18" charset="0"/>
                        </a:rPr>
                        <a:t> Oise</a:t>
                      </a:r>
                    </a:p>
                  </a:txBody>
                  <a:tcPr/>
                </a:tc>
                <a:tc>
                  <a:txBody>
                    <a:bodyPr/>
                    <a:lstStyle/>
                    <a:p>
                      <a:pPr algn="ctr"/>
                      <a:r>
                        <a:rPr lang="en-IN" sz="1400" dirty="0">
                          <a:latin typeface="Times New Roman" panose="02020603050405020304" pitchFamily="18" charset="0"/>
                          <a:cs typeface="Times New Roman" panose="02020603050405020304" pitchFamily="18" charset="0"/>
                        </a:rPr>
                        <a:t>2026</a:t>
                      </a:r>
                    </a:p>
                  </a:txBody>
                  <a:tcPr/>
                </a:tc>
                <a:tc>
                  <a:txBody>
                    <a:bodyPr/>
                    <a:lstStyle/>
                    <a:p>
                      <a:pPr algn="ctr"/>
                      <a:r>
                        <a:rPr lang="en-US" sz="1400" dirty="0">
                          <a:latin typeface="Times New Roman" panose="02020603050405020304" pitchFamily="18" charset="0"/>
                          <a:cs typeface="Times New Roman" panose="02020603050405020304" pitchFamily="18" charset="0"/>
                        </a:rPr>
                        <a:t>Uses a Vision Transformer (</a:t>
                      </a:r>
                      <a:r>
                        <a:rPr lang="en-US" sz="1400" dirty="0" err="1">
                          <a:latin typeface="Times New Roman" panose="02020603050405020304" pitchFamily="18" charset="0"/>
                          <a:cs typeface="Times New Roman" panose="02020603050405020304" pitchFamily="18" charset="0"/>
                        </a:rPr>
                        <a:t>ViT</a:t>
                      </a:r>
                      <a:r>
                        <a:rPr lang="en-US" sz="1400" dirty="0">
                          <a:latin typeface="Times New Roman" panose="02020603050405020304" pitchFamily="18" charset="0"/>
                          <a:cs typeface="Times New Roman" panose="02020603050405020304" pitchFamily="18" charset="0"/>
                        </a:rPr>
                        <a:t>) to identify different types of E-waste from images. It improves accuracy using optimization and self-learning techniques.</a:t>
                      </a:r>
                      <a:endParaRPr lang="en-IN" sz="1400" dirty="0">
                        <a:latin typeface="Times New Roman" panose="02020603050405020304" pitchFamily="18" charset="0"/>
                        <a:cs typeface="Times New Roman" panose="02020603050405020304" pitchFamily="18" charset="0"/>
                      </a:endParaRPr>
                    </a:p>
                  </a:txBody>
                  <a:tcPr/>
                </a:tc>
                <a:tc>
                  <a:txBody>
                    <a:bodyPr/>
                    <a:lstStyle/>
                    <a:p>
                      <a:pPr algn="ctr"/>
                      <a:r>
                        <a:rPr lang="en-US" sz="1400" dirty="0">
                          <a:latin typeface="Times New Roman" panose="02020603050405020304" pitchFamily="18" charset="0"/>
                          <a:cs typeface="Times New Roman" panose="02020603050405020304" pitchFamily="18" charset="0"/>
                        </a:rPr>
                        <a:t>The model is still large and needs high computing power. It may be difficult to run on small low-cost devices.</a:t>
                      </a:r>
                      <a:endParaRPr lang="en-IN"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49130473"/>
                  </a:ext>
                </a:extLst>
              </a:tr>
              <a:tr h="370840">
                <a:tc>
                  <a:txBody>
                    <a:bodyPr/>
                    <a:lstStyle/>
                    <a:p>
                      <a:pPr algn="ctr"/>
                      <a:r>
                        <a:rPr lang="en-US" sz="1400" dirty="0">
                          <a:latin typeface="Times New Roman" panose="02020603050405020304" pitchFamily="18" charset="0"/>
                          <a:cs typeface="Times New Roman" panose="02020603050405020304" pitchFamily="18" charset="0"/>
                        </a:rPr>
                        <a:t>2</a:t>
                      </a:r>
                      <a:endParaRPr lang="en-IN" sz="1400" dirty="0">
                        <a:latin typeface="Times New Roman" panose="02020603050405020304" pitchFamily="18" charset="0"/>
                        <a:cs typeface="Times New Roman" panose="02020603050405020304" pitchFamily="18" charset="0"/>
                      </a:endParaRPr>
                    </a:p>
                  </a:txBody>
                  <a:tcPr/>
                </a:tc>
                <a:tc>
                  <a:txBody>
                    <a:bodyPr/>
                    <a:lstStyle/>
                    <a:p>
                      <a:pPr algn="ctr"/>
                      <a:r>
                        <a:rPr lang="en-US" sz="1400" dirty="0">
                          <a:latin typeface="Times New Roman" panose="02020603050405020304" pitchFamily="18" charset="0"/>
                          <a:cs typeface="Times New Roman" panose="02020603050405020304" pitchFamily="18" charset="0"/>
                        </a:rPr>
                        <a:t>EW YOLO: Edge Computing IoT and YOLOv11 Setup for E-Waste</a:t>
                      </a:r>
                      <a:endParaRPr lang="en-IN" sz="1400" dirty="0">
                        <a:latin typeface="Times New Roman" panose="02020603050405020304" pitchFamily="18" charset="0"/>
                        <a:cs typeface="Times New Roman" panose="02020603050405020304" pitchFamily="18" charset="0"/>
                      </a:endParaRPr>
                    </a:p>
                  </a:txBody>
                  <a:tcPr/>
                </a:tc>
                <a:tc>
                  <a:txBody>
                    <a:bodyPr/>
                    <a:lstStyle/>
                    <a:p>
                      <a:pPr algn="ctr"/>
                      <a:r>
                        <a:rPr lang="en-IN" sz="1400" dirty="0" err="1">
                          <a:latin typeface="Times New Roman" panose="02020603050405020304" pitchFamily="18" charset="0"/>
                          <a:cs typeface="Times New Roman" panose="02020603050405020304" pitchFamily="18" charset="0"/>
                        </a:rPr>
                        <a:t>Shubhyansh</a:t>
                      </a:r>
                      <a:r>
                        <a:rPr lang="en-IN" sz="1400" dirty="0">
                          <a:latin typeface="Times New Roman" panose="02020603050405020304" pitchFamily="18" charset="0"/>
                          <a:cs typeface="Times New Roman" panose="02020603050405020304" pitchFamily="18" charset="0"/>
                        </a:rPr>
                        <a:t> Rai, Rashmi Chawla, </a:t>
                      </a:r>
                      <a:r>
                        <a:rPr lang="en-IN" sz="1400" dirty="0" err="1">
                          <a:latin typeface="Times New Roman" panose="02020603050405020304" pitchFamily="18" charset="0"/>
                          <a:cs typeface="Times New Roman" panose="02020603050405020304" pitchFamily="18" charset="0"/>
                        </a:rPr>
                        <a:t>Munish</a:t>
                      </a:r>
                      <a:r>
                        <a:rPr lang="en-IN" sz="1400" dirty="0">
                          <a:latin typeface="Times New Roman" panose="02020603050405020304" pitchFamily="18" charset="0"/>
                          <a:cs typeface="Times New Roman" panose="02020603050405020304" pitchFamily="18" charset="0"/>
                        </a:rPr>
                        <a:t> </a:t>
                      </a:r>
                      <a:r>
                        <a:rPr lang="en-IN" sz="1400" dirty="0" err="1">
                          <a:latin typeface="Times New Roman" panose="02020603050405020304" pitchFamily="18" charset="0"/>
                          <a:cs typeface="Times New Roman" panose="02020603050405020304" pitchFamily="18" charset="0"/>
                        </a:rPr>
                        <a:t>Vashishath</a:t>
                      </a:r>
                      <a:r>
                        <a:rPr lang="en-IN" sz="1400" dirty="0">
                          <a:latin typeface="Times New Roman" panose="02020603050405020304" pitchFamily="18" charset="0"/>
                          <a:cs typeface="Times New Roman" panose="02020603050405020304" pitchFamily="18" charset="0"/>
                        </a:rPr>
                        <a:t>, Giancarlo </a:t>
                      </a:r>
                      <a:r>
                        <a:rPr lang="en-IN" sz="1400" dirty="0" err="1">
                          <a:latin typeface="Times New Roman" panose="02020603050405020304" pitchFamily="18" charset="0"/>
                          <a:cs typeface="Times New Roman" panose="02020603050405020304" pitchFamily="18" charset="0"/>
                        </a:rPr>
                        <a:t>Fortino</a:t>
                      </a:r>
                      <a:endParaRPr lang="en-IN" sz="1400" dirty="0">
                        <a:latin typeface="Times New Roman" panose="02020603050405020304" pitchFamily="18" charset="0"/>
                        <a:cs typeface="Times New Roman" panose="02020603050405020304" pitchFamily="18" charset="0"/>
                      </a:endParaRPr>
                    </a:p>
                  </a:txBody>
                  <a:tcPr/>
                </a:tc>
                <a:tc>
                  <a:txBody>
                    <a:bodyPr/>
                    <a:lstStyle/>
                    <a:p>
                      <a:pPr algn="ctr"/>
                      <a:r>
                        <a:rPr lang="en-US" sz="1400" dirty="0">
                          <a:latin typeface="Times New Roman" panose="02020603050405020304" pitchFamily="18" charset="0"/>
                          <a:cs typeface="Times New Roman" panose="02020603050405020304" pitchFamily="18" charset="0"/>
                        </a:rPr>
                        <a:t>2026</a:t>
                      </a:r>
                      <a:endParaRPr lang="en-IN" sz="1400" dirty="0">
                        <a:latin typeface="Times New Roman" panose="02020603050405020304" pitchFamily="18" charset="0"/>
                        <a:cs typeface="Times New Roman" panose="02020603050405020304" pitchFamily="18" charset="0"/>
                      </a:endParaRPr>
                    </a:p>
                  </a:txBody>
                  <a:tcPr/>
                </a:tc>
                <a:tc>
                  <a:txBody>
                    <a:bodyPr/>
                    <a:lstStyle/>
                    <a:p>
                      <a:pPr algn="ctr"/>
                      <a:r>
                        <a:rPr lang="en-US" sz="1400" dirty="0">
                          <a:latin typeface="Times New Roman" panose="02020603050405020304" pitchFamily="18" charset="0"/>
                          <a:cs typeface="Times New Roman" panose="02020603050405020304" pitchFamily="18" charset="0"/>
                        </a:rPr>
                        <a:t>Uses YOLOv11 with IoT and edge computing to detect E-waste in real time. The detected waste can be identified for automatic segregation.</a:t>
                      </a:r>
                      <a:endParaRPr lang="en-IN" sz="1400" dirty="0">
                        <a:latin typeface="Times New Roman" panose="02020603050405020304" pitchFamily="18" charset="0"/>
                        <a:cs typeface="Times New Roman" panose="02020603050405020304" pitchFamily="18" charset="0"/>
                      </a:endParaRPr>
                    </a:p>
                  </a:txBody>
                  <a:tcPr/>
                </a:tc>
                <a:tc>
                  <a:txBody>
                    <a:bodyPr/>
                    <a:lstStyle/>
                    <a:p>
                      <a:pPr algn="ctr"/>
                      <a:r>
                        <a:rPr lang="en-US" sz="1400" dirty="0">
                          <a:latin typeface="Times New Roman" panose="02020603050405020304" pitchFamily="18" charset="0"/>
                          <a:cs typeface="Times New Roman" panose="02020603050405020304" pitchFamily="18" charset="0"/>
                        </a:rPr>
                        <a:t>Accuracy can reduce when objects are hidden or lighting changes. It also needs suitable hardware for smooth operation.</a:t>
                      </a:r>
                      <a:endParaRPr lang="en-IN"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230125138"/>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55241" y="188213"/>
            <a:ext cx="9359265" cy="700192"/>
          </a:xfrm>
          <a:prstGeom prst="rect">
            <a:avLst/>
          </a:prstGeom>
          <a:ln w="28575">
            <a:solidFill>
              <a:srgbClr val="2D528F"/>
            </a:solidFill>
          </a:ln>
        </p:spPr>
        <p:txBody>
          <a:bodyPr vert="horz" wrap="square" lIns="0" tIns="144780" rIns="0" bIns="0" rtlCol="0">
            <a:spAutoFit/>
          </a:bodyPr>
          <a:lstStyle/>
          <a:p>
            <a:pPr marR="59055" algn="ctr">
              <a:lnSpc>
                <a:spcPct val="100000"/>
              </a:lnSpc>
              <a:spcBef>
                <a:spcPts val="1140"/>
              </a:spcBef>
            </a:pPr>
            <a:r>
              <a:rPr lang="en-IN" spc="265" dirty="0"/>
              <a:t>CONTENT</a:t>
            </a:r>
            <a:endParaRPr spc="225" dirty="0"/>
          </a:p>
        </p:txBody>
      </p:sp>
      <p:grpSp>
        <p:nvGrpSpPr>
          <p:cNvPr id="3" name="object 3"/>
          <p:cNvGrpSpPr/>
          <p:nvPr/>
        </p:nvGrpSpPr>
        <p:grpSpPr>
          <a:xfrm>
            <a:off x="106869" y="76389"/>
            <a:ext cx="11971020" cy="6706870"/>
            <a:chOff x="106869" y="76389"/>
            <a:chExt cx="11971020" cy="6706870"/>
          </a:xfrm>
        </p:grpSpPr>
        <p:sp>
          <p:nvSpPr>
            <p:cNvPr id="4" name="object 4"/>
            <p:cNvSpPr/>
            <p:nvPr/>
          </p:nvSpPr>
          <p:spPr>
            <a:xfrm>
              <a:off x="121156" y="90676"/>
              <a:ext cx="11942445" cy="6678295"/>
            </a:xfrm>
            <a:custGeom>
              <a:avLst/>
              <a:gdLst/>
              <a:ahLst/>
              <a:cxnLst/>
              <a:rect l="l" t="t" r="r" b="b"/>
              <a:pathLst>
                <a:path w="11942445" h="6678295">
                  <a:moveTo>
                    <a:pt x="0" y="6678168"/>
                  </a:moveTo>
                  <a:lnTo>
                    <a:pt x="11942064" y="6678168"/>
                  </a:lnTo>
                  <a:lnTo>
                    <a:pt x="11942064" y="0"/>
                  </a:lnTo>
                  <a:lnTo>
                    <a:pt x="0" y="0"/>
                  </a:lnTo>
                  <a:lnTo>
                    <a:pt x="0" y="6678168"/>
                  </a:lnTo>
                  <a:close/>
                </a:path>
              </a:pathLst>
            </a:custGeom>
            <a:ln w="28575">
              <a:solidFill>
                <a:srgbClr val="2D528F"/>
              </a:solidFill>
            </a:ln>
          </p:spPr>
          <p:txBody>
            <a:bodyPr wrap="square" lIns="0" tIns="0" rIns="0" bIns="0" rtlCol="0"/>
            <a:lstStyle/>
            <a:p>
              <a:endParaRPr/>
            </a:p>
          </p:txBody>
        </p:sp>
        <p:pic>
          <p:nvPicPr>
            <p:cNvPr id="5" name="object 5"/>
            <p:cNvPicPr/>
            <p:nvPr/>
          </p:nvPicPr>
          <p:blipFill>
            <a:blip r:embed="rId3" cstate="print"/>
            <a:stretch>
              <a:fillRect/>
            </a:stretch>
          </p:blipFill>
          <p:spPr>
            <a:xfrm>
              <a:off x="405384" y="187452"/>
              <a:ext cx="873252" cy="1001268"/>
            </a:xfrm>
            <a:prstGeom prst="rect">
              <a:avLst/>
            </a:prstGeom>
          </p:spPr>
        </p:pic>
      </p:grpSp>
      <p:sp>
        <p:nvSpPr>
          <p:cNvPr id="7" name="object 7"/>
          <p:cNvSpPr txBox="1"/>
          <p:nvPr/>
        </p:nvSpPr>
        <p:spPr>
          <a:xfrm>
            <a:off x="11629770" y="6396132"/>
            <a:ext cx="161290" cy="278281"/>
          </a:xfrm>
          <a:prstGeom prst="rect">
            <a:avLst/>
          </a:prstGeom>
        </p:spPr>
        <p:txBody>
          <a:bodyPr vert="horz" wrap="square" lIns="0" tIns="1270" rIns="0" bIns="0" rtlCol="0">
            <a:spAutoFit/>
          </a:bodyPr>
          <a:lstStyle/>
          <a:p>
            <a:pPr marL="12700">
              <a:lnSpc>
                <a:spcPct val="100000"/>
              </a:lnSpc>
              <a:spcBef>
                <a:spcPts val="10"/>
              </a:spcBef>
            </a:pPr>
            <a:r>
              <a:rPr lang="en-US" b="1" spc="-50" dirty="0">
                <a:solidFill>
                  <a:srgbClr val="2D5395"/>
                </a:solidFill>
                <a:latin typeface="Cambria"/>
                <a:cs typeface="Cambria"/>
              </a:rPr>
              <a:t>4</a:t>
            </a:r>
            <a:endParaRPr sz="1800" dirty="0">
              <a:latin typeface="Cambria"/>
              <a:cs typeface="Cambria"/>
            </a:endParaRPr>
          </a:p>
        </p:txBody>
      </p:sp>
      <p:graphicFrame>
        <p:nvGraphicFramePr>
          <p:cNvPr id="8" name="Table 8">
            <a:extLst>
              <a:ext uri="{FF2B5EF4-FFF2-40B4-BE49-F238E27FC236}">
                <a16:creationId xmlns:a16="http://schemas.microsoft.com/office/drawing/2014/main" id="{8361D36A-3E5B-439A-8934-553A0E77B618}"/>
              </a:ext>
            </a:extLst>
          </p:cNvPr>
          <p:cNvGraphicFramePr>
            <a:graphicFrameLocks noGrp="1"/>
          </p:cNvGraphicFramePr>
          <p:nvPr>
            <p:extLst>
              <p:ext uri="{D42A27DB-BD31-4B8C-83A1-F6EECF244321}">
                <p14:modId xmlns:p14="http://schemas.microsoft.com/office/powerpoint/2010/main" val="3735993327"/>
              </p:ext>
            </p:extLst>
          </p:nvPr>
        </p:nvGraphicFramePr>
        <p:xfrm>
          <a:off x="805724" y="1183387"/>
          <a:ext cx="10815930" cy="5486400"/>
        </p:xfrm>
        <a:graphic>
          <a:graphicData uri="http://schemas.openxmlformats.org/drawingml/2006/table">
            <a:tbl>
              <a:tblPr firstRow="1" bandRow="1">
                <a:tableStyleId>{5C22544A-7EE6-4342-B048-85BDC9FD1C3A}</a:tableStyleId>
              </a:tblPr>
              <a:tblGrid>
                <a:gridCol w="808220">
                  <a:extLst>
                    <a:ext uri="{9D8B030D-6E8A-4147-A177-3AD203B41FA5}">
                      <a16:colId xmlns:a16="http://schemas.microsoft.com/office/drawing/2014/main" val="677027882"/>
                    </a:ext>
                  </a:extLst>
                </a:gridCol>
                <a:gridCol w="2085145">
                  <a:extLst>
                    <a:ext uri="{9D8B030D-6E8A-4147-A177-3AD203B41FA5}">
                      <a16:colId xmlns:a16="http://schemas.microsoft.com/office/drawing/2014/main" val="805612045"/>
                    </a:ext>
                  </a:extLst>
                </a:gridCol>
                <a:gridCol w="2057400">
                  <a:extLst>
                    <a:ext uri="{9D8B030D-6E8A-4147-A177-3AD203B41FA5}">
                      <a16:colId xmlns:a16="http://schemas.microsoft.com/office/drawing/2014/main" val="1122450282"/>
                    </a:ext>
                  </a:extLst>
                </a:gridCol>
                <a:gridCol w="1905000">
                  <a:extLst>
                    <a:ext uri="{9D8B030D-6E8A-4147-A177-3AD203B41FA5}">
                      <a16:colId xmlns:a16="http://schemas.microsoft.com/office/drawing/2014/main" val="2800442823"/>
                    </a:ext>
                  </a:extLst>
                </a:gridCol>
                <a:gridCol w="2157510">
                  <a:extLst>
                    <a:ext uri="{9D8B030D-6E8A-4147-A177-3AD203B41FA5}">
                      <a16:colId xmlns:a16="http://schemas.microsoft.com/office/drawing/2014/main" val="1358715134"/>
                    </a:ext>
                  </a:extLst>
                </a:gridCol>
                <a:gridCol w="1802655">
                  <a:extLst>
                    <a:ext uri="{9D8B030D-6E8A-4147-A177-3AD203B41FA5}">
                      <a16:colId xmlns:a16="http://schemas.microsoft.com/office/drawing/2014/main" val="3223434236"/>
                    </a:ext>
                  </a:extLst>
                </a:gridCol>
              </a:tblGrid>
              <a:tr h="702361">
                <a:tc>
                  <a:txBody>
                    <a:bodyPr/>
                    <a:lstStyle/>
                    <a:p>
                      <a:r>
                        <a:rPr lang="en-US" sz="1400" dirty="0" err="1">
                          <a:latin typeface="Times New Roman" panose="02020603050405020304" pitchFamily="18" charset="0"/>
                          <a:cs typeface="Times New Roman" panose="02020603050405020304" pitchFamily="18" charset="0"/>
                        </a:rPr>
                        <a:t>S.No</a:t>
                      </a:r>
                      <a:endParaRPr lang="en-IN" sz="1400" dirty="0">
                        <a:latin typeface="Times New Roman" panose="02020603050405020304" pitchFamily="18" charset="0"/>
                        <a:cs typeface="Times New Roman" panose="02020603050405020304" pitchFamily="18" charset="0"/>
                      </a:endParaRPr>
                    </a:p>
                  </a:txBody>
                  <a:tcPr/>
                </a:tc>
                <a:tc>
                  <a:txBody>
                    <a:bodyPr/>
                    <a:lstStyle/>
                    <a:p>
                      <a:pPr algn="ctr"/>
                      <a:r>
                        <a:rPr lang="en-US" sz="1400" dirty="0">
                          <a:latin typeface="Times New Roman" panose="02020603050405020304" pitchFamily="18" charset="0"/>
                          <a:cs typeface="Times New Roman" panose="02020603050405020304" pitchFamily="18" charset="0"/>
                        </a:rPr>
                        <a:t>Title of the Paper</a:t>
                      </a:r>
                      <a:endParaRPr lang="en-IN" sz="1400" dirty="0">
                        <a:latin typeface="Times New Roman" panose="02020603050405020304" pitchFamily="18" charset="0"/>
                        <a:cs typeface="Times New Roman" panose="02020603050405020304" pitchFamily="18" charset="0"/>
                      </a:endParaRPr>
                    </a:p>
                  </a:txBody>
                  <a:tcPr/>
                </a:tc>
                <a:tc>
                  <a:txBody>
                    <a:bodyPr/>
                    <a:lstStyle/>
                    <a:p>
                      <a:pPr algn="ctr"/>
                      <a:r>
                        <a:rPr lang="en-US" sz="1400" dirty="0">
                          <a:latin typeface="Times New Roman" panose="02020603050405020304" pitchFamily="18" charset="0"/>
                          <a:cs typeface="Times New Roman" panose="02020603050405020304" pitchFamily="18" charset="0"/>
                        </a:rPr>
                        <a:t>Author</a:t>
                      </a:r>
                      <a:endParaRPr lang="en-IN" sz="1400" dirty="0">
                        <a:latin typeface="Times New Roman" panose="02020603050405020304" pitchFamily="18" charset="0"/>
                        <a:cs typeface="Times New Roman" panose="02020603050405020304" pitchFamily="18" charset="0"/>
                      </a:endParaRPr>
                    </a:p>
                  </a:txBody>
                  <a:tcPr/>
                </a:tc>
                <a:tc>
                  <a:txBody>
                    <a:bodyPr/>
                    <a:lstStyle/>
                    <a:p>
                      <a:pPr algn="ctr"/>
                      <a:r>
                        <a:rPr lang="en-US" sz="1400" dirty="0">
                          <a:latin typeface="Times New Roman" panose="02020603050405020304" pitchFamily="18" charset="0"/>
                          <a:cs typeface="Times New Roman" panose="02020603050405020304" pitchFamily="18" charset="0"/>
                        </a:rPr>
                        <a:t>Name of the Journal and Publication Year of the Paper</a:t>
                      </a:r>
                      <a:endParaRPr lang="en-IN" sz="1400" dirty="0">
                        <a:latin typeface="Times New Roman" panose="02020603050405020304" pitchFamily="18" charset="0"/>
                        <a:cs typeface="Times New Roman" panose="02020603050405020304" pitchFamily="18" charset="0"/>
                      </a:endParaRPr>
                    </a:p>
                  </a:txBody>
                  <a:tcPr/>
                </a:tc>
                <a:tc>
                  <a:txBody>
                    <a:bodyPr/>
                    <a:lstStyle/>
                    <a:p>
                      <a:pPr algn="ctr"/>
                      <a:r>
                        <a:rPr lang="en-US" sz="1400" dirty="0">
                          <a:latin typeface="Times New Roman" panose="02020603050405020304" pitchFamily="18" charset="0"/>
                          <a:cs typeface="Times New Roman" panose="02020603050405020304" pitchFamily="18" charset="0"/>
                        </a:rPr>
                        <a:t>Methodology</a:t>
                      </a:r>
                      <a:endParaRPr lang="en-IN" sz="1400" dirty="0">
                        <a:latin typeface="Times New Roman" panose="02020603050405020304" pitchFamily="18" charset="0"/>
                        <a:cs typeface="Times New Roman" panose="02020603050405020304" pitchFamily="18" charset="0"/>
                      </a:endParaRPr>
                    </a:p>
                  </a:txBody>
                  <a:tcPr/>
                </a:tc>
                <a:tc>
                  <a:txBody>
                    <a:bodyPr/>
                    <a:lstStyle/>
                    <a:p>
                      <a:pPr algn="ctr"/>
                      <a:r>
                        <a:rPr lang="en-US" sz="1400" dirty="0">
                          <a:latin typeface="Times New Roman" panose="02020603050405020304" pitchFamily="18" charset="0"/>
                          <a:cs typeface="Times New Roman" panose="02020603050405020304" pitchFamily="18" charset="0"/>
                        </a:rPr>
                        <a:t>Drawback</a:t>
                      </a:r>
                      <a:endParaRPr lang="en-IN"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278969728"/>
                  </a:ext>
                </a:extLst>
              </a:tr>
              <a:tr h="1316926">
                <a:tc>
                  <a:txBody>
                    <a:bodyPr/>
                    <a:lstStyle/>
                    <a:p>
                      <a:pPr algn="ctr"/>
                      <a:r>
                        <a:rPr lang="en-US" sz="1400" dirty="0">
                          <a:latin typeface="Times New Roman" panose="02020603050405020304" pitchFamily="18" charset="0"/>
                          <a:cs typeface="Times New Roman" panose="02020603050405020304" pitchFamily="18" charset="0"/>
                        </a:rPr>
                        <a:t>3</a:t>
                      </a:r>
                      <a:endParaRPr lang="en-IN" sz="1400" dirty="0">
                        <a:latin typeface="Times New Roman" panose="02020603050405020304" pitchFamily="18" charset="0"/>
                        <a:cs typeface="Times New Roman" panose="02020603050405020304" pitchFamily="18" charset="0"/>
                      </a:endParaRPr>
                    </a:p>
                  </a:txBody>
                  <a:tcPr/>
                </a:tc>
                <a:tc>
                  <a:txBody>
                    <a:bodyPr/>
                    <a:lstStyle/>
                    <a:p>
                      <a:pPr algn="ctr"/>
                      <a:r>
                        <a:rPr lang="en-US" sz="1400" dirty="0">
                          <a:latin typeface="Times New Roman" panose="02020603050405020304" pitchFamily="18" charset="0"/>
                          <a:cs typeface="Times New Roman" panose="02020603050405020304" pitchFamily="18" charset="0"/>
                        </a:rPr>
                        <a:t>YOLO11 for High Accuracy Real-Time Detection and Classification of Diverse E-Waste Categories</a:t>
                      </a:r>
                      <a:endParaRPr lang="en-IN" sz="1400" dirty="0">
                        <a:latin typeface="Times New Roman" panose="02020603050405020304" pitchFamily="18" charset="0"/>
                        <a:cs typeface="Times New Roman" panose="02020603050405020304" pitchFamily="18" charset="0"/>
                      </a:endParaRPr>
                    </a:p>
                  </a:txBody>
                  <a:tcPr anchor="ctr"/>
                </a:tc>
                <a:tc>
                  <a:txBody>
                    <a:bodyPr/>
                    <a:lstStyle/>
                    <a:p>
                      <a:pPr algn="ctr"/>
                      <a:r>
                        <a:rPr lang="en-IN" sz="1400" dirty="0" err="1">
                          <a:latin typeface="Times New Roman" panose="02020603050405020304" pitchFamily="18" charset="0"/>
                          <a:cs typeface="Times New Roman" panose="02020603050405020304" pitchFamily="18" charset="0"/>
                        </a:rPr>
                        <a:t>Priyankar</a:t>
                      </a:r>
                      <a:r>
                        <a:rPr lang="en-IN" sz="1400" dirty="0">
                          <a:latin typeface="Times New Roman" panose="02020603050405020304" pitchFamily="18" charset="0"/>
                          <a:cs typeface="Times New Roman" panose="02020603050405020304" pitchFamily="18" charset="0"/>
                        </a:rPr>
                        <a:t> Biswas, </a:t>
                      </a:r>
                      <a:r>
                        <a:rPr lang="en-IN" sz="1400" dirty="0" err="1">
                          <a:latin typeface="Times New Roman" panose="02020603050405020304" pitchFamily="18" charset="0"/>
                          <a:cs typeface="Times New Roman" panose="02020603050405020304" pitchFamily="18" charset="0"/>
                        </a:rPr>
                        <a:t>Utshob</a:t>
                      </a:r>
                      <a:r>
                        <a:rPr lang="en-IN" sz="1400" dirty="0">
                          <a:latin typeface="Times New Roman" panose="02020603050405020304" pitchFamily="18" charset="0"/>
                          <a:cs typeface="Times New Roman" panose="02020603050405020304" pitchFamily="18" charset="0"/>
                        </a:rPr>
                        <a:t> </a:t>
                      </a:r>
                      <a:r>
                        <a:rPr lang="en-IN" sz="1400" dirty="0" err="1">
                          <a:latin typeface="Times New Roman" panose="02020603050405020304" pitchFamily="18" charset="0"/>
                          <a:cs typeface="Times New Roman" panose="02020603050405020304" pitchFamily="18" charset="0"/>
                        </a:rPr>
                        <a:t>Sutradhar</a:t>
                      </a:r>
                      <a:r>
                        <a:rPr lang="en-IN" sz="1400" dirty="0">
                          <a:latin typeface="Times New Roman" panose="02020603050405020304" pitchFamily="18" charset="0"/>
                          <a:cs typeface="Times New Roman" panose="02020603050405020304" pitchFamily="18" charset="0"/>
                        </a:rPr>
                        <a:t>, Md. Roni Khan, Sourav Sana, Saiful Islam, Subrata Paul</a:t>
                      </a:r>
                    </a:p>
                  </a:txBody>
                  <a:tcPr/>
                </a:tc>
                <a:tc>
                  <a:txBody>
                    <a:bodyPr/>
                    <a:lstStyle/>
                    <a:p>
                      <a:pPr algn="ctr"/>
                      <a:r>
                        <a:rPr lang="en-US" sz="1400" dirty="0">
                          <a:latin typeface="Times New Roman" panose="02020603050405020304" pitchFamily="18" charset="0"/>
                          <a:cs typeface="Times New Roman" panose="02020603050405020304" pitchFamily="18" charset="0"/>
                        </a:rPr>
                        <a:t>2025</a:t>
                      </a:r>
                      <a:endParaRPr lang="en-IN" sz="1400" dirty="0">
                        <a:latin typeface="Times New Roman" panose="02020603050405020304" pitchFamily="18" charset="0"/>
                        <a:cs typeface="Times New Roman" panose="02020603050405020304" pitchFamily="18" charset="0"/>
                      </a:endParaRPr>
                    </a:p>
                  </a:txBody>
                  <a:tcPr/>
                </a:tc>
                <a:tc>
                  <a:txBody>
                    <a:bodyPr/>
                    <a:lstStyle/>
                    <a:p>
                      <a:pPr algn="ctr"/>
                      <a:r>
                        <a:rPr lang="en-US" sz="1400" dirty="0">
                          <a:latin typeface="Times New Roman" panose="02020603050405020304" pitchFamily="18" charset="0"/>
                          <a:cs typeface="Times New Roman" panose="02020603050405020304" pitchFamily="18" charset="0"/>
                        </a:rPr>
                        <a:t>Uses YOLO11 to detect and classify different E-waste items from images. It is designed for fast and accurate real-time detection.</a:t>
                      </a:r>
                      <a:endParaRPr lang="en-IN" sz="1400" dirty="0">
                        <a:latin typeface="Times New Roman" panose="02020603050405020304" pitchFamily="18" charset="0"/>
                        <a:cs typeface="Times New Roman" panose="02020603050405020304" pitchFamily="18" charset="0"/>
                      </a:endParaRPr>
                    </a:p>
                  </a:txBody>
                  <a:tcPr/>
                </a:tc>
                <a:tc>
                  <a:txBody>
                    <a:bodyPr/>
                    <a:lstStyle/>
                    <a:p>
                      <a:pPr algn="ctr"/>
                      <a:r>
                        <a:rPr lang="en-US" sz="1400" dirty="0">
                          <a:latin typeface="Times New Roman" panose="02020603050405020304" pitchFamily="18" charset="0"/>
                          <a:cs typeface="Times New Roman" panose="02020603050405020304" pitchFamily="18" charset="0"/>
                        </a:rPr>
                        <a:t>It mainly focuses on detection and classification. Physical sorting using a conveyor is not fully implemented.</a:t>
                      </a:r>
                      <a:endParaRPr lang="en-IN"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49130473"/>
                  </a:ext>
                </a:extLst>
              </a:tr>
              <a:tr h="1726636">
                <a:tc>
                  <a:txBody>
                    <a:bodyPr/>
                    <a:lstStyle/>
                    <a:p>
                      <a:pPr algn="ctr"/>
                      <a:r>
                        <a:rPr lang="en-US" sz="1400" dirty="0">
                          <a:latin typeface="Times New Roman" panose="02020603050405020304" pitchFamily="18" charset="0"/>
                          <a:cs typeface="Times New Roman" panose="02020603050405020304" pitchFamily="18" charset="0"/>
                        </a:rPr>
                        <a:t>4</a:t>
                      </a:r>
                      <a:endParaRPr lang="en-IN" sz="1400" dirty="0">
                        <a:latin typeface="Times New Roman" panose="02020603050405020304" pitchFamily="18" charset="0"/>
                        <a:cs typeface="Times New Roman" panose="02020603050405020304" pitchFamily="18" charset="0"/>
                      </a:endParaRPr>
                    </a:p>
                  </a:txBody>
                  <a:tcPr/>
                </a:tc>
                <a:tc>
                  <a:txBody>
                    <a:bodyPr/>
                    <a:lstStyle/>
                    <a:p>
                      <a:pPr algn="ctr"/>
                      <a:r>
                        <a:rPr lang="en-US" sz="1400" dirty="0"/>
                        <a:t>Advancing E-Waste Classification with Customizable YOLO Based Deep Learning Models</a:t>
                      </a:r>
                      <a:endParaRPr lang="en-IN" sz="1400" dirty="0">
                        <a:latin typeface="Times New Roman" panose="02020603050405020304" pitchFamily="18" charset="0"/>
                        <a:cs typeface="Times New Roman" panose="02020603050405020304" pitchFamily="18" charset="0"/>
                      </a:endParaRPr>
                    </a:p>
                  </a:txBody>
                  <a:tcPr/>
                </a:tc>
                <a:tc>
                  <a:txBody>
                    <a:bodyPr/>
                    <a:lstStyle/>
                    <a:p>
                      <a:pPr algn="ctr"/>
                      <a:r>
                        <a:rPr lang="en-IN" sz="1400" dirty="0"/>
                        <a:t>P. Akhil Rajeev, Vivek </a:t>
                      </a:r>
                      <a:r>
                        <a:rPr lang="en-IN" sz="1400" dirty="0" err="1"/>
                        <a:t>Dharewa</a:t>
                      </a:r>
                      <a:r>
                        <a:rPr lang="en-IN" sz="1400" dirty="0"/>
                        <a:t>, D. Lakshmi, G. </a:t>
                      </a:r>
                      <a:r>
                        <a:rPr lang="en-IN" sz="1400" dirty="0" err="1"/>
                        <a:t>Vishnuvarthanan</a:t>
                      </a:r>
                      <a:r>
                        <a:rPr lang="en-IN" sz="1400" dirty="0"/>
                        <a:t>, Jayant </a:t>
                      </a:r>
                      <a:r>
                        <a:rPr lang="en-IN" sz="1400" dirty="0" err="1"/>
                        <a:t>Giri</a:t>
                      </a:r>
                      <a:r>
                        <a:rPr lang="en-IN" sz="1400" dirty="0"/>
                        <a:t>, T. Sathish et al.</a:t>
                      </a:r>
                      <a:endParaRPr lang="en-IN" sz="1400" dirty="0">
                        <a:latin typeface="Times New Roman" panose="02020603050405020304" pitchFamily="18" charset="0"/>
                        <a:cs typeface="Times New Roman" panose="02020603050405020304" pitchFamily="18" charset="0"/>
                      </a:endParaRPr>
                    </a:p>
                  </a:txBody>
                  <a:tcPr/>
                </a:tc>
                <a:tc>
                  <a:txBody>
                    <a:bodyPr/>
                    <a:lstStyle/>
                    <a:p>
                      <a:pPr algn="ctr"/>
                      <a:r>
                        <a:rPr lang="en-US" sz="1400" dirty="0">
                          <a:latin typeface="Times New Roman" panose="02020603050405020304" pitchFamily="18" charset="0"/>
                          <a:cs typeface="Times New Roman" panose="02020603050405020304" pitchFamily="18" charset="0"/>
                        </a:rPr>
                        <a:t>2025</a:t>
                      </a:r>
                      <a:endParaRPr lang="en-IN" sz="1400" dirty="0">
                        <a:latin typeface="Times New Roman" panose="02020603050405020304" pitchFamily="18" charset="0"/>
                        <a:cs typeface="Times New Roman" panose="02020603050405020304" pitchFamily="18" charset="0"/>
                      </a:endParaRPr>
                    </a:p>
                  </a:txBody>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400" dirty="0"/>
                        <a:t>Compares YOLOv5, YOLOv7 and YOLOv8 for identifying different E-waste categories. The models are tested for accuracy and detection speed.</a:t>
                      </a:r>
                      <a:endParaRPr lang="en-IN" sz="1400" dirty="0">
                        <a:latin typeface="Times New Roman" panose="02020603050405020304" pitchFamily="18" charset="0"/>
                        <a:cs typeface="Times New Roman" panose="02020603050405020304" pitchFamily="18" charset="0"/>
                      </a:endParaRPr>
                    </a:p>
                    <a:p>
                      <a:pPr algn="ctr"/>
                      <a:endParaRPr lang="en-IN" sz="1400" dirty="0">
                        <a:latin typeface="Times New Roman" panose="02020603050405020304" pitchFamily="18" charset="0"/>
                        <a:cs typeface="Times New Roman" panose="02020603050405020304" pitchFamily="18" charset="0"/>
                      </a:endParaRPr>
                    </a:p>
                  </a:txBody>
                  <a:tcPr/>
                </a:tc>
                <a:tc>
                  <a:txBody>
                    <a:bodyPr/>
                    <a:lstStyle/>
                    <a:p>
                      <a:pPr algn="ctr"/>
                      <a:r>
                        <a:rPr lang="en-US" sz="1400" dirty="0"/>
                        <a:t>The dataset is relatively small. The model may have difficulty when the object appears in different directions.</a:t>
                      </a:r>
                      <a:endParaRPr lang="en-IN"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230125138"/>
                  </a:ext>
                </a:extLst>
              </a:tr>
              <a:tr h="1521781">
                <a:tc>
                  <a:txBody>
                    <a:bodyPr/>
                    <a:lstStyle/>
                    <a:p>
                      <a:pPr algn="ctr"/>
                      <a:r>
                        <a:rPr lang="en-US" sz="1400" dirty="0">
                          <a:latin typeface="Times New Roman" panose="02020603050405020304" pitchFamily="18" charset="0"/>
                          <a:cs typeface="Times New Roman" panose="02020603050405020304" pitchFamily="18" charset="0"/>
                        </a:rPr>
                        <a:t>5</a:t>
                      </a:r>
                      <a:endParaRPr lang="en-IN" sz="1400" dirty="0">
                        <a:latin typeface="Times New Roman" panose="02020603050405020304" pitchFamily="18" charset="0"/>
                        <a:cs typeface="Times New Roman" panose="02020603050405020304" pitchFamily="18" charset="0"/>
                      </a:endParaRPr>
                    </a:p>
                  </a:txBody>
                  <a:tcPr/>
                </a:tc>
                <a:tc>
                  <a:txBody>
                    <a:bodyPr/>
                    <a:lstStyle/>
                    <a:p>
                      <a:pPr algn="ctr"/>
                      <a:r>
                        <a:rPr lang="en-US" sz="1400" dirty="0">
                          <a:latin typeface="Times New Roman" panose="02020603050405020304" pitchFamily="18" charset="0"/>
                          <a:cs typeface="Times New Roman" panose="02020603050405020304" pitchFamily="18" charset="0"/>
                        </a:rPr>
                        <a:t>Real time electronic-waste classification algorithms using the computer vision based on Convolutional Neural Network (CNN): Enhanced environmental incentives</a:t>
                      </a:r>
                      <a:endParaRPr lang="en-IN" sz="1400" dirty="0">
                        <a:latin typeface="Times New Roman" panose="02020603050405020304" pitchFamily="18" charset="0"/>
                        <a:cs typeface="Times New Roman" panose="02020603050405020304" pitchFamily="18" charset="0"/>
                      </a:endParaRPr>
                    </a:p>
                  </a:txBody>
                  <a:tcPr/>
                </a:tc>
                <a:tc>
                  <a:txBody>
                    <a:bodyPr/>
                    <a:lstStyle/>
                    <a:p>
                      <a:pPr algn="ctr"/>
                      <a:r>
                        <a:rPr lang="en-IN" sz="1400" dirty="0">
                          <a:latin typeface="Times New Roman" panose="02020603050405020304" pitchFamily="18" charset="0"/>
                          <a:cs typeface="Times New Roman" panose="02020603050405020304" pitchFamily="18" charset="0"/>
                        </a:rPr>
                        <a:t>Prashant K. </a:t>
                      </a:r>
                      <a:r>
                        <a:rPr lang="en-IN" sz="1400" dirty="0" err="1">
                          <a:latin typeface="Times New Roman" panose="02020603050405020304" pitchFamily="18" charset="0"/>
                          <a:cs typeface="Times New Roman" panose="02020603050405020304" pitchFamily="18" charset="0"/>
                        </a:rPr>
                        <a:t>Sarswat</a:t>
                      </a:r>
                      <a:r>
                        <a:rPr lang="en-IN" sz="1400" dirty="0">
                          <a:latin typeface="Times New Roman" panose="02020603050405020304" pitchFamily="18" charset="0"/>
                          <a:cs typeface="Times New Roman" panose="02020603050405020304" pitchFamily="18" charset="0"/>
                        </a:rPr>
                        <a:t>, </a:t>
                      </a:r>
                      <a:r>
                        <a:rPr lang="en-IN" sz="1400" dirty="0" err="1">
                          <a:latin typeface="Times New Roman" panose="02020603050405020304" pitchFamily="18" charset="0"/>
                          <a:cs typeface="Times New Roman" panose="02020603050405020304" pitchFamily="18" charset="0"/>
                        </a:rPr>
                        <a:t>Rahulkumar</a:t>
                      </a:r>
                      <a:r>
                        <a:rPr lang="en-IN" sz="1400" dirty="0">
                          <a:latin typeface="Times New Roman" panose="02020603050405020304" pitchFamily="18" charset="0"/>
                          <a:cs typeface="Times New Roman" panose="02020603050405020304" pitchFamily="18" charset="0"/>
                        </a:rPr>
                        <a:t> Sunil Singh, Subbu Venkata </a:t>
                      </a:r>
                      <a:r>
                        <a:rPr lang="en-IN" sz="1400" dirty="0" err="1">
                          <a:latin typeface="Times New Roman" panose="02020603050405020304" pitchFamily="18" charset="0"/>
                          <a:cs typeface="Times New Roman" panose="02020603050405020304" pitchFamily="18" charset="0"/>
                        </a:rPr>
                        <a:t>Satyasri</a:t>
                      </a:r>
                      <a:r>
                        <a:rPr lang="en-IN" sz="1400" dirty="0">
                          <a:latin typeface="Times New Roman" panose="02020603050405020304" pitchFamily="18" charset="0"/>
                          <a:cs typeface="Times New Roman" panose="02020603050405020304" pitchFamily="18" charset="0"/>
                        </a:rPr>
                        <a:t> Harsha </a:t>
                      </a:r>
                      <a:r>
                        <a:rPr lang="en-IN" sz="1400" dirty="0" err="1">
                          <a:latin typeface="Times New Roman" panose="02020603050405020304" pitchFamily="18" charset="0"/>
                          <a:cs typeface="Times New Roman" panose="02020603050405020304" pitchFamily="18" charset="0"/>
                        </a:rPr>
                        <a:t>Pathapati</a:t>
                      </a:r>
                      <a:endParaRPr lang="en-IN" sz="1400" dirty="0">
                        <a:latin typeface="Times New Roman" panose="02020603050405020304" pitchFamily="18" charset="0"/>
                        <a:cs typeface="Times New Roman" panose="02020603050405020304" pitchFamily="18" charset="0"/>
                      </a:endParaRPr>
                    </a:p>
                  </a:txBody>
                  <a:tcPr/>
                </a:tc>
                <a:tc>
                  <a:txBody>
                    <a:bodyPr/>
                    <a:lstStyle/>
                    <a:p>
                      <a:pPr algn="ctr"/>
                      <a:r>
                        <a:rPr lang="en-US" sz="1400" dirty="0">
                          <a:latin typeface="Times New Roman" panose="02020603050405020304" pitchFamily="18" charset="0"/>
                          <a:cs typeface="Times New Roman" panose="02020603050405020304" pitchFamily="18" charset="0"/>
                        </a:rPr>
                        <a:t>2024</a:t>
                      </a:r>
                      <a:endParaRPr lang="en-IN" sz="1400" dirty="0">
                        <a:latin typeface="Times New Roman" panose="02020603050405020304" pitchFamily="18" charset="0"/>
                        <a:cs typeface="Times New Roman" panose="02020603050405020304" pitchFamily="18" charset="0"/>
                      </a:endParaRPr>
                    </a:p>
                  </a:txBody>
                  <a:tcPr/>
                </a:tc>
                <a:tc>
                  <a:txBody>
                    <a:bodyPr/>
                    <a:lstStyle/>
                    <a:p>
                      <a:pPr algn="ctr"/>
                      <a:r>
                        <a:rPr lang="en-US" sz="1400" dirty="0">
                          <a:latin typeface="Times New Roman" panose="02020603050405020304" pitchFamily="18" charset="0"/>
                          <a:cs typeface="Times New Roman" panose="02020603050405020304" pitchFamily="18" charset="0"/>
                        </a:rPr>
                        <a:t>Uses CNN-based computer vision and YOLO models to identify different E-waste materials. It can classify E-waste using images and video input.</a:t>
                      </a:r>
                      <a:endParaRPr lang="en-IN" sz="1400" dirty="0">
                        <a:latin typeface="Times New Roman" panose="02020603050405020304" pitchFamily="18" charset="0"/>
                        <a:cs typeface="Times New Roman" panose="02020603050405020304" pitchFamily="18" charset="0"/>
                      </a:endParaRPr>
                    </a:p>
                  </a:txBody>
                  <a:tcPr/>
                </a:tc>
                <a:tc>
                  <a:txBody>
                    <a:bodyPr/>
                    <a:lstStyle/>
                    <a:p>
                      <a:pPr algn="ctr"/>
                      <a:r>
                        <a:rPr lang="en-US" sz="1400" dirty="0">
                          <a:latin typeface="Times New Roman" panose="02020603050405020304" pitchFamily="18" charset="0"/>
                          <a:cs typeface="Times New Roman" panose="02020603050405020304" pitchFamily="18" charset="0"/>
                        </a:rPr>
                        <a:t>It mainly performs identification and classification. Automatic physical sorting is not completely developed.</a:t>
                      </a:r>
                      <a:endParaRPr lang="en-IN"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441073107"/>
                  </a:ext>
                </a:extLst>
              </a:tr>
            </a:tbl>
          </a:graphicData>
        </a:graphic>
      </p:graphicFrame>
    </p:spTree>
    <p:extLst>
      <p:ext uri="{BB962C8B-B14F-4D97-AF65-F5344CB8AC3E}">
        <p14:creationId xmlns:p14="http://schemas.microsoft.com/office/powerpoint/2010/main" val="30321675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55241" y="188213"/>
            <a:ext cx="9359265" cy="700192"/>
          </a:xfrm>
          <a:prstGeom prst="rect">
            <a:avLst/>
          </a:prstGeom>
          <a:ln w="28575">
            <a:solidFill>
              <a:srgbClr val="2D528F"/>
            </a:solidFill>
          </a:ln>
        </p:spPr>
        <p:txBody>
          <a:bodyPr vert="horz" wrap="square" lIns="0" tIns="144780" rIns="0" bIns="0" rtlCol="0">
            <a:spAutoFit/>
          </a:bodyPr>
          <a:lstStyle/>
          <a:p>
            <a:pPr marR="59055" algn="ctr">
              <a:lnSpc>
                <a:spcPct val="100000"/>
              </a:lnSpc>
              <a:spcBef>
                <a:spcPts val="1140"/>
              </a:spcBef>
            </a:pPr>
            <a:r>
              <a:rPr lang="en-IN" spc="265" dirty="0"/>
              <a:t>CONTENT</a:t>
            </a:r>
            <a:endParaRPr spc="225" dirty="0"/>
          </a:p>
        </p:txBody>
      </p:sp>
      <p:grpSp>
        <p:nvGrpSpPr>
          <p:cNvPr id="3" name="object 3"/>
          <p:cNvGrpSpPr/>
          <p:nvPr/>
        </p:nvGrpSpPr>
        <p:grpSpPr>
          <a:xfrm>
            <a:off x="106869" y="76389"/>
            <a:ext cx="11971020" cy="6706870"/>
            <a:chOff x="106869" y="76389"/>
            <a:chExt cx="11971020" cy="6706870"/>
          </a:xfrm>
        </p:grpSpPr>
        <p:sp>
          <p:nvSpPr>
            <p:cNvPr id="4" name="object 4"/>
            <p:cNvSpPr/>
            <p:nvPr/>
          </p:nvSpPr>
          <p:spPr>
            <a:xfrm>
              <a:off x="121156" y="90676"/>
              <a:ext cx="11942445" cy="6678295"/>
            </a:xfrm>
            <a:custGeom>
              <a:avLst/>
              <a:gdLst/>
              <a:ahLst/>
              <a:cxnLst/>
              <a:rect l="l" t="t" r="r" b="b"/>
              <a:pathLst>
                <a:path w="11942445" h="6678295">
                  <a:moveTo>
                    <a:pt x="0" y="6678168"/>
                  </a:moveTo>
                  <a:lnTo>
                    <a:pt x="11942064" y="6678168"/>
                  </a:lnTo>
                  <a:lnTo>
                    <a:pt x="11942064" y="0"/>
                  </a:lnTo>
                  <a:lnTo>
                    <a:pt x="0" y="0"/>
                  </a:lnTo>
                  <a:lnTo>
                    <a:pt x="0" y="6678168"/>
                  </a:lnTo>
                  <a:close/>
                </a:path>
              </a:pathLst>
            </a:custGeom>
            <a:ln w="28575">
              <a:solidFill>
                <a:srgbClr val="2D528F"/>
              </a:solidFill>
            </a:ln>
          </p:spPr>
          <p:txBody>
            <a:bodyPr wrap="square" lIns="0" tIns="0" rIns="0" bIns="0" rtlCol="0"/>
            <a:lstStyle/>
            <a:p>
              <a:endParaRPr/>
            </a:p>
          </p:txBody>
        </p:sp>
        <p:pic>
          <p:nvPicPr>
            <p:cNvPr id="5" name="object 5"/>
            <p:cNvPicPr/>
            <p:nvPr/>
          </p:nvPicPr>
          <p:blipFill>
            <a:blip r:embed="rId3" cstate="print"/>
            <a:stretch>
              <a:fillRect/>
            </a:stretch>
          </p:blipFill>
          <p:spPr>
            <a:xfrm>
              <a:off x="405384" y="187452"/>
              <a:ext cx="873252" cy="1001268"/>
            </a:xfrm>
            <a:prstGeom prst="rect">
              <a:avLst/>
            </a:prstGeom>
          </p:spPr>
        </p:pic>
      </p:grpSp>
      <p:sp>
        <p:nvSpPr>
          <p:cNvPr id="7" name="object 7"/>
          <p:cNvSpPr txBox="1"/>
          <p:nvPr/>
        </p:nvSpPr>
        <p:spPr>
          <a:xfrm>
            <a:off x="11629770" y="6396132"/>
            <a:ext cx="333630" cy="278281"/>
          </a:xfrm>
          <a:prstGeom prst="rect">
            <a:avLst/>
          </a:prstGeom>
        </p:spPr>
        <p:txBody>
          <a:bodyPr vert="horz" wrap="square" lIns="0" tIns="1270" rIns="0" bIns="0" rtlCol="0">
            <a:spAutoFit/>
          </a:bodyPr>
          <a:lstStyle/>
          <a:p>
            <a:pPr marL="12700">
              <a:lnSpc>
                <a:spcPct val="100000"/>
              </a:lnSpc>
              <a:spcBef>
                <a:spcPts val="10"/>
              </a:spcBef>
            </a:pPr>
            <a:r>
              <a:rPr lang="en-US" b="1" spc="-50" dirty="0">
                <a:solidFill>
                  <a:srgbClr val="2D5395"/>
                </a:solidFill>
                <a:latin typeface="Cambria"/>
                <a:cs typeface="Cambria"/>
              </a:rPr>
              <a:t>10</a:t>
            </a:r>
            <a:endParaRPr sz="1800" dirty="0">
              <a:latin typeface="Cambria"/>
              <a:cs typeface="Cambria"/>
            </a:endParaRPr>
          </a:p>
        </p:txBody>
      </p:sp>
      <p:sp>
        <p:nvSpPr>
          <p:cNvPr id="6" name="TextBox 5">
            <a:extLst>
              <a:ext uri="{FF2B5EF4-FFF2-40B4-BE49-F238E27FC236}">
                <a16:creationId xmlns:a16="http://schemas.microsoft.com/office/drawing/2014/main" id="{36FB1446-CBA6-43A6-B791-1ABB0EF49636}"/>
              </a:ext>
            </a:extLst>
          </p:cNvPr>
          <p:cNvSpPr txBox="1"/>
          <p:nvPr/>
        </p:nvSpPr>
        <p:spPr>
          <a:xfrm>
            <a:off x="1555241" y="1295400"/>
            <a:ext cx="9359265" cy="2123658"/>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Existing System</a:t>
            </a:r>
          </a:p>
          <a:p>
            <a:endParaRPr lang="en-US" b="1" dirty="0">
              <a:latin typeface="Times New Roman" panose="02020603050405020304" pitchFamily="18" charset="0"/>
              <a:cs typeface="Times New Roman" panose="02020603050405020304" pitchFamily="18" charset="0"/>
            </a:endParaRPr>
          </a:p>
          <a:p>
            <a:pPr algn="just"/>
            <a:r>
              <a:rPr lang="en-US" sz="1600" dirty="0">
                <a:latin typeface="Times New Roman" panose="02020603050405020304" pitchFamily="18" charset="0"/>
                <a:cs typeface="Times New Roman" panose="02020603050405020304" pitchFamily="18" charset="0"/>
              </a:rPr>
              <a:t>The existing E-waste sorting process mainly uses </a:t>
            </a:r>
            <a:r>
              <a:rPr lang="en-US" sz="1600" b="1" dirty="0">
                <a:latin typeface="Times New Roman" panose="02020603050405020304" pitchFamily="18" charset="0"/>
                <a:cs typeface="Times New Roman" panose="02020603050405020304" pitchFamily="18" charset="0"/>
              </a:rPr>
              <a:t>manual sorting or AI-based image classification</a:t>
            </a:r>
            <a:r>
              <a:rPr lang="en-US" sz="1600" dirty="0">
                <a:latin typeface="Times New Roman" panose="02020603050405020304" pitchFamily="18" charset="0"/>
                <a:cs typeface="Times New Roman" panose="02020603050405020304" pitchFamily="18" charset="0"/>
              </a:rPr>
              <a:t>. In recent systems, cameras and deep-learning models such as YOLO are used to identify waste items, while conveyors and controllers move items for sorting.</a:t>
            </a:r>
          </a:p>
          <a:p>
            <a:pPr algn="just"/>
            <a:endParaRPr lang="en-US" sz="1600" b="1" dirty="0">
              <a:latin typeface="Times New Roman" panose="02020603050405020304" pitchFamily="18" charset="0"/>
              <a:cs typeface="Times New Roman" panose="02020603050405020304" pitchFamily="18" charset="0"/>
            </a:endParaRPr>
          </a:p>
          <a:p>
            <a:pPr algn="just"/>
            <a:endParaRPr lang="en-US" sz="1600" b="1" dirty="0">
              <a:latin typeface="Times New Roman" panose="02020603050405020304" pitchFamily="18" charset="0"/>
              <a:cs typeface="Times New Roman" panose="02020603050405020304" pitchFamily="18" charset="0"/>
            </a:endParaRPr>
          </a:p>
          <a:p>
            <a:pPr algn="just"/>
            <a:endParaRPr lang="en-IN" sz="1600" b="1" dirty="0">
              <a:latin typeface="Times New Roman" panose="02020603050405020304" pitchFamily="18" charset="0"/>
              <a:cs typeface="Times New Roman" panose="02020603050405020304" pitchFamily="18" charset="0"/>
            </a:endParaRPr>
          </a:p>
        </p:txBody>
      </p:sp>
      <p:sp>
        <p:nvSpPr>
          <p:cNvPr id="8" name="Rectangle 1">
            <a:extLst>
              <a:ext uri="{FF2B5EF4-FFF2-40B4-BE49-F238E27FC236}">
                <a16:creationId xmlns:a16="http://schemas.microsoft.com/office/drawing/2014/main" id="{0905C0E3-5B37-4BA0-A407-BD03A3FC9F04}"/>
              </a:ext>
            </a:extLst>
          </p:cNvPr>
          <p:cNvSpPr>
            <a:spLocks noChangeArrowheads="1"/>
          </p:cNvSpPr>
          <p:nvPr/>
        </p:nvSpPr>
        <p:spPr bwMode="auto">
          <a:xfrm rot="10800000" flipV="1">
            <a:off x="1555240" y="2973288"/>
            <a:ext cx="9359265" cy="28315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lang="en-US" altLang="en-US" b="1" dirty="0">
                <a:solidFill>
                  <a:schemeClr val="tx1"/>
                </a:solidFill>
                <a:latin typeface="Arial" panose="020B0604020202020204" pitchFamily="34" charset="0"/>
              </a:rPr>
              <a:t>Main Existing Approaches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Manual Sorting</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Workers identify and separate E-waste items manually. It is slow and    may lead to human errors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AI-Based Classification</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 camera captures the E-waste image, and an AI model identifies its category. However, some systems focus mainly on detection rather than complete physical sorting.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Automated Conveyor Sorting</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Advanced systems combine a camera, AI model, conveyor, and actuator/controller for automatic sorting. These systems can be more expensive and computationally demanding for a small student prototype. </a:t>
            </a:r>
          </a:p>
        </p:txBody>
      </p:sp>
    </p:spTree>
    <p:extLst>
      <p:ext uri="{BB962C8B-B14F-4D97-AF65-F5344CB8AC3E}">
        <p14:creationId xmlns:p14="http://schemas.microsoft.com/office/powerpoint/2010/main" val="5143649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55241" y="188213"/>
            <a:ext cx="9359265" cy="700192"/>
          </a:xfrm>
          <a:prstGeom prst="rect">
            <a:avLst/>
          </a:prstGeom>
          <a:ln w="28575">
            <a:solidFill>
              <a:srgbClr val="2D528F"/>
            </a:solidFill>
          </a:ln>
        </p:spPr>
        <p:txBody>
          <a:bodyPr vert="horz" wrap="square" lIns="0" tIns="144780" rIns="0" bIns="0" rtlCol="0">
            <a:spAutoFit/>
          </a:bodyPr>
          <a:lstStyle/>
          <a:p>
            <a:pPr marR="59055" algn="ctr">
              <a:lnSpc>
                <a:spcPct val="100000"/>
              </a:lnSpc>
              <a:spcBef>
                <a:spcPts val="1140"/>
              </a:spcBef>
            </a:pPr>
            <a:r>
              <a:rPr lang="en-IN" spc="265" dirty="0"/>
              <a:t>CONTENT</a:t>
            </a:r>
            <a:endParaRPr spc="225" dirty="0"/>
          </a:p>
        </p:txBody>
      </p:sp>
      <p:grpSp>
        <p:nvGrpSpPr>
          <p:cNvPr id="3" name="object 3"/>
          <p:cNvGrpSpPr/>
          <p:nvPr/>
        </p:nvGrpSpPr>
        <p:grpSpPr>
          <a:xfrm>
            <a:off x="106869" y="76389"/>
            <a:ext cx="11971020" cy="6706870"/>
            <a:chOff x="106869" y="76389"/>
            <a:chExt cx="11971020" cy="6706870"/>
          </a:xfrm>
        </p:grpSpPr>
        <p:sp>
          <p:nvSpPr>
            <p:cNvPr id="4" name="object 4"/>
            <p:cNvSpPr/>
            <p:nvPr/>
          </p:nvSpPr>
          <p:spPr>
            <a:xfrm>
              <a:off x="121156" y="90676"/>
              <a:ext cx="11942445" cy="6678295"/>
            </a:xfrm>
            <a:custGeom>
              <a:avLst/>
              <a:gdLst/>
              <a:ahLst/>
              <a:cxnLst/>
              <a:rect l="l" t="t" r="r" b="b"/>
              <a:pathLst>
                <a:path w="11942445" h="6678295">
                  <a:moveTo>
                    <a:pt x="0" y="6678168"/>
                  </a:moveTo>
                  <a:lnTo>
                    <a:pt x="11942064" y="6678168"/>
                  </a:lnTo>
                  <a:lnTo>
                    <a:pt x="11942064" y="0"/>
                  </a:lnTo>
                  <a:lnTo>
                    <a:pt x="0" y="0"/>
                  </a:lnTo>
                  <a:lnTo>
                    <a:pt x="0" y="6678168"/>
                  </a:lnTo>
                  <a:close/>
                </a:path>
              </a:pathLst>
            </a:custGeom>
            <a:ln w="28575">
              <a:solidFill>
                <a:srgbClr val="2D528F"/>
              </a:solidFill>
            </a:ln>
          </p:spPr>
          <p:txBody>
            <a:bodyPr wrap="square" lIns="0" tIns="0" rIns="0" bIns="0" rtlCol="0"/>
            <a:lstStyle/>
            <a:p>
              <a:endParaRPr/>
            </a:p>
          </p:txBody>
        </p:sp>
        <p:pic>
          <p:nvPicPr>
            <p:cNvPr id="5" name="object 5"/>
            <p:cNvPicPr/>
            <p:nvPr/>
          </p:nvPicPr>
          <p:blipFill>
            <a:blip r:embed="rId3" cstate="print"/>
            <a:stretch>
              <a:fillRect/>
            </a:stretch>
          </p:blipFill>
          <p:spPr>
            <a:xfrm>
              <a:off x="405384" y="187452"/>
              <a:ext cx="873252" cy="1001268"/>
            </a:xfrm>
            <a:prstGeom prst="rect">
              <a:avLst/>
            </a:prstGeom>
          </p:spPr>
        </p:pic>
      </p:grpSp>
      <p:sp>
        <p:nvSpPr>
          <p:cNvPr id="6" name="object 6"/>
          <p:cNvSpPr txBox="1"/>
          <p:nvPr/>
        </p:nvSpPr>
        <p:spPr>
          <a:xfrm>
            <a:off x="1555240" y="1421417"/>
            <a:ext cx="9359265" cy="1397819"/>
          </a:xfrm>
          <a:prstGeom prst="rect">
            <a:avLst/>
          </a:prstGeom>
        </p:spPr>
        <p:txBody>
          <a:bodyPr vert="horz" wrap="square" lIns="0" tIns="12700" rIns="0" bIns="0" rtlCol="0">
            <a:spAutoFit/>
          </a:bodyPr>
          <a:lstStyle/>
          <a:p>
            <a:pPr lvl="0"/>
            <a:r>
              <a:rPr lang="en-IN" sz="1600" b="1" dirty="0">
                <a:latin typeface="Times New Roman" panose="02020603050405020304" pitchFamily="18" charset="0"/>
                <a:cs typeface="Times New Roman" panose="02020603050405020304" pitchFamily="18" charset="0"/>
              </a:rPr>
              <a:t>Proposed Methodology </a:t>
            </a:r>
            <a:endParaRPr lang="en-IN" sz="700" b="1" dirty="0">
              <a:latin typeface="Times New Roman" panose="02020603050405020304" pitchFamily="18" charset="0"/>
              <a:cs typeface="Times New Roman" panose="02020603050405020304" pitchFamily="18" charset="0"/>
            </a:endParaRPr>
          </a:p>
          <a:p>
            <a:pPr lvl="1" algn="just">
              <a:lnSpc>
                <a:spcPct val="150000"/>
              </a:lnSpc>
            </a:pPr>
            <a:r>
              <a:rPr lang="en-US" sz="1400" dirty="0">
                <a:latin typeface="Times New Roman" panose="02020603050405020304" pitchFamily="18" charset="0"/>
                <a:cs typeface="Times New Roman" panose="02020603050405020304" pitchFamily="18" charset="0"/>
              </a:rPr>
              <a:t>The proposed system is an Edge-AI Based Automated E-Waste Classification and Sorting System. It uses a camera to identify the type of E-waste and automatically sends it to the correct collection bin using a conveyor and servo motor.</a:t>
            </a:r>
          </a:p>
          <a:p>
            <a:pPr lvl="1"/>
            <a:endParaRPr lang="en-US" sz="1600" dirty="0"/>
          </a:p>
          <a:p>
            <a:pPr lvl="1"/>
            <a:endParaRPr lang="en-IN" sz="1600" dirty="0"/>
          </a:p>
        </p:txBody>
      </p:sp>
      <p:sp>
        <p:nvSpPr>
          <p:cNvPr id="7" name="object 7"/>
          <p:cNvSpPr txBox="1"/>
          <p:nvPr/>
        </p:nvSpPr>
        <p:spPr>
          <a:xfrm>
            <a:off x="11629770" y="6396132"/>
            <a:ext cx="161290" cy="278281"/>
          </a:xfrm>
          <a:prstGeom prst="rect">
            <a:avLst/>
          </a:prstGeom>
        </p:spPr>
        <p:txBody>
          <a:bodyPr vert="horz" wrap="square" lIns="0" tIns="1270" rIns="0" bIns="0" rtlCol="0">
            <a:spAutoFit/>
          </a:bodyPr>
          <a:lstStyle/>
          <a:p>
            <a:pPr marL="12700">
              <a:lnSpc>
                <a:spcPct val="100000"/>
              </a:lnSpc>
              <a:spcBef>
                <a:spcPts val="10"/>
              </a:spcBef>
            </a:pPr>
            <a:r>
              <a:rPr lang="en-US" b="1" spc="-50" dirty="0">
                <a:solidFill>
                  <a:srgbClr val="2D5395"/>
                </a:solidFill>
                <a:latin typeface="Cambria"/>
                <a:cs typeface="Cambria"/>
              </a:rPr>
              <a:t>5</a:t>
            </a:r>
            <a:endParaRPr sz="1800" dirty="0">
              <a:latin typeface="Cambria"/>
              <a:cs typeface="Cambria"/>
            </a:endParaRPr>
          </a:p>
        </p:txBody>
      </p:sp>
      <p:sp>
        <p:nvSpPr>
          <p:cNvPr id="10" name="TextBox 9">
            <a:extLst>
              <a:ext uri="{FF2B5EF4-FFF2-40B4-BE49-F238E27FC236}">
                <a16:creationId xmlns:a16="http://schemas.microsoft.com/office/drawing/2014/main" id="{0DFCA5EC-38AC-4940-AFBE-9AC58AAE78DC}"/>
              </a:ext>
            </a:extLst>
          </p:cNvPr>
          <p:cNvSpPr txBox="1"/>
          <p:nvPr/>
        </p:nvSpPr>
        <p:spPr>
          <a:xfrm rot="10800000" flipH="1" flipV="1">
            <a:off x="1447800" y="1421417"/>
            <a:ext cx="6858000" cy="3931654"/>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lang="en-IN" sz="1600" b="1"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pPr>
            <a:endParaRPr lang="en-IN" sz="1600" b="1"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pPr>
            <a:endParaRPr lang="en-IN" sz="1600" b="1"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pPr>
            <a:endParaRPr lang="en-IN" sz="1600" b="1"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pPr>
            <a:r>
              <a:rPr lang="en-IN" sz="1600" b="1" dirty="0">
                <a:latin typeface="Times New Roman" panose="02020603050405020304" pitchFamily="18" charset="0"/>
                <a:cs typeface="Times New Roman" panose="02020603050405020304" pitchFamily="18" charset="0"/>
              </a:rPr>
              <a:t>Overall Methodology</a:t>
            </a:r>
            <a:endParaRPr lang="en-US" altLang="en-US" sz="1600" b="1" dirty="0">
              <a:solidFill>
                <a:schemeClr val="tx1"/>
              </a:solidFill>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700" b="1"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E-waste Placement</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The user places an E-waste item on the conveyor. </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Object Detection</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An IR sensor detects the item. </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Image Capture</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The camera captures the item's image. </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AI Classification</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The trained ML model identifies the E-waste category. </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Position Tracking</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The conveyor moves the item toward the sorting point. </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Automatic Sorting</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ESP32 controls the servo motor to move the item into the correct bin. </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 Recording</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The system records the type and number of sorted items. </a:t>
            </a:r>
          </a:p>
        </p:txBody>
      </p:sp>
    </p:spTree>
    <p:extLst>
      <p:ext uri="{BB962C8B-B14F-4D97-AF65-F5344CB8AC3E}">
        <p14:creationId xmlns:p14="http://schemas.microsoft.com/office/powerpoint/2010/main" val="33802595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55241" y="188213"/>
            <a:ext cx="9359265" cy="700192"/>
          </a:xfrm>
          <a:prstGeom prst="rect">
            <a:avLst/>
          </a:prstGeom>
          <a:ln w="28575">
            <a:solidFill>
              <a:srgbClr val="2D528F"/>
            </a:solidFill>
          </a:ln>
        </p:spPr>
        <p:txBody>
          <a:bodyPr vert="horz" wrap="square" lIns="0" tIns="144780" rIns="0" bIns="0" rtlCol="0">
            <a:spAutoFit/>
          </a:bodyPr>
          <a:lstStyle/>
          <a:p>
            <a:pPr marR="59055" algn="ctr">
              <a:lnSpc>
                <a:spcPct val="100000"/>
              </a:lnSpc>
              <a:spcBef>
                <a:spcPts val="1140"/>
              </a:spcBef>
            </a:pPr>
            <a:r>
              <a:rPr lang="en-IN" spc="265" dirty="0"/>
              <a:t>CONTENT</a:t>
            </a:r>
            <a:endParaRPr spc="225" dirty="0"/>
          </a:p>
        </p:txBody>
      </p:sp>
      <p:grpSp>
        <p:nvGrpSpPr>
          <p:cNvPr id="3" name="object 3"/>
          <p:cNvGrpSpPr/>
          <p:nvPr/>
        </p:nvGrpSpPr>
        <p:grpSpPr>
          <a:xfrm>
            <a:off x="106869" y="76389"/>
            <a:ext cx="11971020" cy="6706870"/>
            <a:chOff x="106869" y="76389"/>
            <a:chExt cx="11971020" cy="6706870"/>
          </a:xfrm>
        </p:grpSpPr>
        <p:sp>
          <p:nvSpPr>
            <p:cNvPr id="4" name="object 4"/>
            <p:cNvSpPr/>
            <p:nvPr/>
          </p:nvSpPr>
          <p:spPr>
            <a:xfrm>
              <a:off x="121156" y="90676"/>
              <a:ext cx="11942445" cy="6678295"/>
            </a:xfrm>
            <a:custGeom>
              <a:avLst/>
              <a:gdLst/>
              <a:ahLst/>
              <a:cxnLst/>
              <a:rect l="l" t="t" r="r" b="b"/>
              <a:pathLst>
                <a:path w="11942445" h="6678295">
                  <a:moveTo>
                    <a:pt x="0" y="6678168"/>
                  </a:moveTo>
                  <a:lnTo>
                    <a:pt x="11942064" y="6678168"/>
                  </a:lnTo>
                  <a:lnTo>
                    <a:pt x="11942064" y="0"/>
                  </a:lnTo>
                  <a:lnTo>
                    <a:pt x="0" y="0"/>
                  </a:lnTo>
                  <a:lnTo>
                    <a:pt x="0" y="6678168"/>
                  </a:lnTo>
                  <a:close/>
                </a:path>
              </a:pathLst>
            </a:custGeom>
            <a:ln w="28575">
              <a:solidFill>
                <a:srgbClr val="2D528F"/>
              </a:solidFill>
            </a:ln>
          </p:spPr>
          <p:txBody>
            <a:bodyPr wrap="square" lIns="0" tIns="0" rIns="0" bIns="0" rtlCol="0"/>
            <a:lstStyle/>
            <a:p>
              <a:endParaRPr/>
            </a:p>
          </p:txBody>
        </p:sp>
        <p:pic>
          <p:nvPicPr>
            <p:cNvPr id="5" name="object 5"/>
            <p:cNvPicPr/>
            <p:nvPr/>
          </p:nvPicPr>
          <p:blipFill>
            <a:blip r:embed="rId3" cstate="print"/>
            <a:stretch>
              <a:fillRect/>
            </a:stretch>
          </p:blipFill>
          <p:spPr>
            <a:xfrm>
              <a:off x="405384" y="187452"/>
              <a:ext cx="873252" cy="1001268"/>
            </a:xfrm>
            <a:prstGeom prst="rect">
              <a:avLst/>
            </a:prstGeom>
          </p:spPr>
        </p:pic>
      </p:grpSp>
      <p:sp>
        <p:nvSpPr>
          <p:cNvPr id="6" name="object 6"/>
          <p:cNvSpPr txBox="1"/>
          <p:nvPr/>
        </p:nvSpPr>
        <p:spPr>
          <a:xfrm>
            <a:off x="1555241" y="1188720"/>
            <a:ext cx="9874759" cy="1043876"/>
          </a:xfrm>
          <a:prstGeom prst="rect">
            <a:avLst/>
          </a:prstGeom>
        </p:spPr>
        <p:txBody>
          <a:bodyPr vert="horz" wrap="square" lIns="0" tIns="12700" rIns="0" bIns="0" rtlCol="0">
            <a:spAutoFit/>
          </a:bodyPr>
          <a:lstStyle/>
          <a:p>
            <a:pPr lvl="0"/>
            <a:r>
              <a:rPr lang="en-IN" sz="1600" b="1" dirty="0">
                <a:latin typeface="Times New Roman" panose="02020603050405020304" pitchFamily="18" charset="0"/>
                <a:cs typeface="Times New Roman" panose="02020603050405020304" pitchFamily="18" charset="0"/>
              </a:rPr>
              <a:t>System Design </a:t>
            </a:r>
          </a:p>
          <a:p>
            <a:pPr lvl="1"/>
            <a:endParaRPr lang="en-US" sz="700" dirty="0"/>
          </a:p>
          <a:p>
            <a:pPr lvl="1" algn="just"/>
            <a:r>
              <a:rPr lang="en-US" sz="1400" dirty="0">
                <a:latin typeface="Times New Roman" panose="02020603050405020304" pitchFamily="18" charset="0"/>
                <a:cs typeface="Times New Roman" panose="02020603050405020304" pitchFamily="18" charset="0"/>
              </a:rPr>
              <a:t>The block diagram shows the complete AI-based E-waste sorting process, from waste detection and image capture to AI classification.</a:t>
            </a:r>
            <a:br>
              <a:rPr lang="en-US" sz="1400" dirty="0">
                <a:latin typeface="Times New Roman" panose="02020603050405020304" pitchFamily="18" charset="0"/>
                <a:cs typeface="Times New Roman" panose="02020603050405020304" pitchFamily="18" charset="0"/>
              </a:rPr>
            </a:br>
            <a:r>
              <a:rPr lang="en-US" sz="1400" dirty="0">
                <a:latin typeface="Times New Roman" panose="02020603050405020304" pitchFamily="18" charset="0"/>
                <a:cs typeface="Times New Roman" panose="02020603050405020304" pitchFamily="18" charset="0"/>
              </a:rPr>
              <a:t>The classified item is then controlled by ESP32/Arduino and a servo motor and directed into the correct bin.</a:t>
            </a:r>
          </a:p>
          <a:p>
            <a:pPr lvl="1"/>
            <a:endParaRPr lang="en-IN" sz="1600" dirty="0"/>
          </a:p>
        </p:txBody>
      </p:sp>
      <p:sp>
        <p:nvSpPr>
          <p:cNvPr id="7" name="object 7"/>
          <p:cNvSpPr txBox="1"/>
          <p:nvPr/>
        </p:nvSpPr>
        <p:spPr>
          <a:xfrm>
            <a:off x="11629770" y="6396132"/>
            <a:ext cx="161290" cy="278281"/>
          </a:xfrm>
          <a:prstGeom prst="rect">
            <a:avLst/>
          </a:prstGeom>
        </p:spPr>
        <p:txBody>
          <a:bodyPr vert="horz" wrap="square" lIns="0" tIns="1270" rIns="0" bIns="0" rtlCol="0">
            <a:spAutoFit/>
          </a:bodyPr>
          <a:lstStyle/>
          <a:p>
            <a:pPr marL="12700">
              <a:lnSpc>
                <a:spcPct val="100000"/>
              </a:lnSpc>
              <a:spcBef>
                <a:spcPts val="10"/>
              </a:spcBef>
            </a:pPr>
            <a:r>
              <a:rPr lang="en-US" b="1" spc="-50" dirty="0">
                <a:solidFill>
                  <a:srgbClr val="2D5395"/>
                </a:solidFill>
                <a:latin typeface="Cambria"/>
                <a:cs typeface="Cambria"/>
              </a:rPr>
              <a:t>6</a:t>
            </a:r>
            <a:endParaRPr sz="1800" dirty="0">
              <a:latin typeface="Cambria"/>
              <a:cs typeface="Cambria"/>
            </a:endParaRPr>
          </a:p>
        </p:txBody>
      </p:sp>
      <p:pic>
        <p:nvPicPr>
          <p:cNvPr id="9" name="Picture 8">
            <a:extLst>
              <a:ext uri="{FF2B5EF4-FFF2-40B4-BE49-F238E27FC236}">
                <a16:creationId xmlns:a16="http://schemas.microsoft.com/office/drawing/2014/main" id="{A3299C74-1F28-40F1-94AD-9680D02B45E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386137" y="2362200"/>
            <a:ext cx="3697472" cy="3912829"/>
          </a:xfrm>
          <a:prstGeom prst="rect">
            <a:avLst/>
          </a:prstGeom>
        </p:spPr>
      </p:pic>
    </p:spTree>
    <p:extLst>
      <p:ext uri="{BB962C8B-B14F-4D97-AF65-F5344CB8AC3E}">
        <p14:creationId xmlns:p14="http://schemas.microsoft.com/office/powerpoint/2010/main" val="15075794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55241" y="188213"/>
            <a:ext cx="9359265" cy="700192"/>
          </a:xfrm>
          <a:prstGeom prst="rect">
            <a:avLst/>
          </a:prstGeom>
          <a:ln w="28575">
            <a:solidFill>
              <a:srgbClr val="2D528F"/>
            </a:solidFill>
          </a:ln>
        </p:spPr>
        <p:txBody>
          <a:bodyPr vert="horz" wrap="square" lIns="0" tIns="144780" rIns="0" bIns="0" rtlCol="0">
            <a:spAutoFit/>
          </a:bodyPr>
          <a:lstStyle/>
          <a:p>
            <a:pPr marR="59055" algn="ctr">
              <a:lnSpc>
                <a:spcPct val="100000"/>
              </a:lnSpc>
              <a:spcBef>
                <a:spcPts val="1140"/>
              </a:spcBef>
            </a:pPr>
            <a:r>
              <a:rPr lang="en-IN" spc="265" dirty="0"/>
              <a:t>CONTENT</a:t>
            </a:r>
            <a:endParaRPr spc="225" dirty="0"/>
          </a:p>
        </p:txBody>
      </p:sp>
      <p:grpSp>
        <p:nvGrpSpPr>
          <p:cNvPr id="3" name="object 3"/>
          <p:cNvGrpSpPr/>
          <p:nvPr/>
        </p:nvGrpSpPr>
        <p:grpSpPr>
          <a:xfrm>
            <a:off x="106869" y="76389"/>
            <a:ext cx="11971020" cy="6706870"/>
            <a:chOff x="106869" y="76389"/>
            <a:chExt cx="11971020" cy="6706870"/>
          </a:xfrm>
        </p:grpSpPr>
        <p:sp>
          <p:nvSpPr>
            <p:cNvPr id="4" name="object 4"/>
            <p:cNvSpPr/>
            <p:nvPr/>
          </p:nvSpPr>
          <p:spPr>
            <a:xfrm>
              <a:off x="121156" y="90676"/>
              <a:ext cx="11942445" cy="6678295"/>
            </a:xfrm>
            <a:custGeom>
              <a:avLst/>
              <a:gdLst/>
              <a:ahLst/>
              <a:cxnLst/>
              <a:rect l="l" t="t" r="r" b="b"/>
              <a:pathLst>
                <a:path w="11942445" h="6678295">
                  <a:moveTo>
                    <a:pt x="0" y="6678168"/>
                  </a:moveTo>
                  <a:lnTo>
                    <a:pt x="11942064" y="6678168"/>
                  </a:lnTo>
                  <a:lnTo>
                    <a:pt x="11942064" y="0"/>
                  </a:lnTo>
                  <a:lnTo>
                    <a:pt x="0" y="0"/>
                  </a:lnTo>
                  <a:lnTo>
                    <a:pt x="0" y="6678168"/>
                  </a:lnTo>
                  <a:close/>
                </a:path>
              </a:pathLst>
            </a:custGeom>
            <a:ln w="28575">
              <a:solidFill>
                <a:srgbClr val="2D528F"/>
              </a:solidFill>
            </a:ln>
          </p:spPr>
          <p:txBody>
            <a:bodyPr wrap="square" lIns="0" tIns="0" rIns="0" bIns="0" rtlCol="0"/>
            <a:lstStyle/>
            <a:p>
              <a:endParaRPr/>
            </a:p>
          </p:txBody>
        </p:sp>
        <p:pic>
          <p:nvPicPr>
            <p:cNvPr id="5" name="object 5"/>
            <p:cNvPicPr/>
            <p:nvPr/>
          </p:nvPicPr>
          <p:blipFill>
            <a:blip r:embed="rId3" cstate="print"/>
            <a:stretch>
              <a:fillRect/>
            </a:stretch>
          </p:blipFill>
          <p:spPr>
            <a:xfrm>
              <a:off x="405384" y="187452"/>
              <a:ext cx="873252" cy="1001268"/>
            </a:xfrm>
            <a:prstGeom prst="rect">
              <a:avLst/>
            </a:prstGeom>
          </p:spPr>
        </p:pic>
      </p:grpSp>
      <p:sp>
        <p:nvSpPr>
          <p:cNvPr id="6" name="object 6"/>
          <p:cNvSpPr txBox="1"/>
          <p:nvPr/>
        </p:nvSpPr>
        <p:spPr>
          <a:xfrm>
            <a:off x="1991486" y="1172754"/>
            <a:ext cx="9359265" cy="5460469"/>
          </a:xfrm>
          <a:prstGeom prst="rect">
            <a:avLst/>
          </a:prstGeom>
        </p:spPr>
        <p:txBody>
          <a:bodyPr vert="horz" wrap="square" lIns="0" tIns="12700" rIns="0" bIns="0" rtlCol="0">
            <a:spAutoFit/>
          </a:bodyPr>
          <a:lstStyle/>
          <a:p>
            <a:pPr lvl="0"/>
            <a:r>
              <a:rPr lang="en-IN" sz="1600" b="1" dirty="0">
                <a:latin typeface="Times New Roman" panose="02020603050405020304" pitchFamily="18" charset="0"/>
                <a:cs typeface="Times New Roman" panose="02020603050405020304" pitchFamily="18" charset="0"/>
              </a:rPr>
              <a:t>System </a:t>
            </a:r>
            <a:r>
              <a:rPr lang="en-US" sz="1600" b="1" dirty="0">
                <a:latin typeface="Times New Roman" panose="02020603050405020304" pitchFamily="18" charset="0"/>
                <a:cs typeface="Times New Roman" panose="02020603050405020304" pitchFamily="18" charset="0"/>
              </a:rPr>
              <a:t>Architecture </a:t>
            </a:r>
            <a:endParaRPr lang="en-IN" sz="1600" b="1" dirty="0">
              <a:latin typeface="Times New Roman" panose="02020603050405020304" pitchFamily="18" charset="0"/>
              <a:cs typeface="Times New Roman" panose="02020603050405020304" pitchFamily="18" charset="0"/>
            </a:endParaRPr>
          </a:p>
          <a:p>
            <a:pPr lvl="1"/>
            <a:endParaRPr lang="en-US" sz="700" dirty="0"/>
          </a:p>
          <a:p>
            <a:pPr>
              <a:lnSpc>
                <a:spcPct val="150000"/>
              </a:lnSpc>
            </a:pPr>
            <a:r>
              <a:rPr lang="en-US" sz="1400" b="1" dirty="0">
                <a:latin typeface="Times New Roman" panose="02020603050405020304" pitchFamily="18" charset="0"/>
                <a:cs typeface="Times New Roman" panose="02020603050405020304" pitchFamily="18" charset="0"/>
              </a:rPr>
              <a:t>Layer 1 – Input Layer</a:t>
            </a:r>
          </a:p>
          <a:p>
            <a:pPr>
              <a:lnSpc>
                <a:spcPct val="150000"/>
              </a:lnSpc>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Conveyor belt moves the E-waste. </a:t>
            </a:r>
          </a:p>
          <a:p>
            <a:pPr>
              <a:lnSpc>
                <a:spcPct val="150000"/>
              </a:lnSpc>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IR sensor detects the incoming item. </a:t>
            </a:r>
          </a:p>
          <a:p>
            <a:pPr>
              <a:lnSpc>
                <a:spcPct val="150000"/>
              </a:lnSpc>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Camera captures the image. </a:t>
            </a:r>
          </a:p>
          <a:p>
            <a:pPr>
              <a:lnSpc>
                <a:spcPct val="150000"/>
              </a:lnSpc>
            </a:pPr>
            <a:r>
              <a:rPr lang="en-US" sz="1400" b="1" dirty="0">
                <a:latin typeface="Times New Roman" panose="02020603050405020304" pitchFamily="18" charset="0"/>
                <a:cs typeface="Times New Roman" panose="02020603050405020304" pitchFamily="18" charset="0"/>
              </a:rPr>
              <a:t>Layer 2 – AI Processing Layer</a:t>
            </a:r>
          </a:p>
          <a:p>
            <a:pPr>
              <a:lnSpc>
                <a:spcPct val="150000"/>
              </a:lnSpc>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Image is given to the trained AI model. </a:t>
            </a:r>
          </a:p>
          <a:p>
            <a:pPr>
              <a:lnSpc>
                <a:spcPct val="150000"/>
              </a:lnSpc>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Model identifies the E-waste category. </a:t>
            </a:r>
          </a:p>
          <a:p>
            <a:pPr>
              <a:lnSpc>
                <a:spcPct val="150000"/>
              </a:lnSpc>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Classification confidence is calculated. </a:t>
            </a:r>
          </a:p>
          <a:p>
            <a:pPr>
              <a:lnSpc>
                <a:spcPct val="150000"/>
              </a:lnSpc>
            </a:pPr>
            <a:r>
              <a:rPr lang="en-US" sz="1400" b="1" dirty="0">
                <a:latin typeface="Times New Roman" panose="02020603050405020304" pitchFamily="18" charset="0"/>
                <a:cs typeface="Times New Roman" panose="02020603050405020304" pitchFamily="18" charset="0"/>
              </a:rPr>
              <a:t>Layer 3 – Control Layer</a:t>
            </a:r>
          </a:p>
          <a:p>
            <a:pPr>
              <a:lnSpc>
                <a:spcPct val="150000"/>
              </a:lnSpc>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ESP32/Arduino receives the classification result. </a:t>
            </a:r>
          </a:p>
          <a:p>
            <a:pPr>
              <a:lnSpc>
                <a:spcPct val="150000"/>
              </a:lnSpc>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It calculates when the item reaches the sorting point. </a:t>
            </a:r>
          </a:p>
          <a:p>
            <a:pPr>
              <a:lnSpc>
                <a:spcPct val="150000"/>
              </a:lnSpc>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Servo motor is activated accordingly. </a:t>
            </a:r>
          </a:p>
          <a:p>
            <a:pPr>
              <a:lnSpc>
                <a:spcPct val="150000"/>
              </a:lnSpc>
            </a:pPr>
            <a:r>
              <a:rPr lang="en-US" sz="1400" b="1" dirty="0">
                <a:latin typeface="Times New Roman" panose="02020603050405020304" pitchFamily="18" charset="0"/>
                <a:cs typeface="Times New Roman" panose="02020603050405020304" pitchFamily="18" charset="0"/>
              </a:rPr>
              <a:t>Layer 4 – Output Layer</a:t>
            </a:r>
          </a:p>
          <a:p>
            <a:pPr>
              <a:lnSpc>
                <a:spcPct val="150000"/>
              </a:lnSpc>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The servo flap directs the item into the correct bin. </a:t>
            </a:r>
          </a:p>
          <a:p>
            <a:pPr>
              <a:lnSpc>
                <a:spcPct val="150000"/>
              </a:lnSpc>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Sorting information can be stored and displayed on a dashboard. </a:t>
            </a:r>
          </a:p>
          <a:p>
            <a:pPr lvl="1"/>
            <a:endParaRPr lang="en-IN" sz="1600" dirty="0"/>
          </a:p>
        </p:txBody>
      </p:sp>
      <p:sp>
        <p:nvSpPr>
          <p:cNvPr id="7" name="object 7"/>
          <p:cNvSpPr txBox="1"/>
          <p:nvPr/>
        </p:nvSpPr>
        <p:spPr>
          <a:xfrm>
            <a:off x="11629770" y="6396132"/>
            <a:ext cx="161290" cy="278281"/>
          </a:xfrm>
          <a:prstGeom prst="rect">
            <a:avLst/>
          </a:prstGeom>
        </p:spPr>
        <p:txBody>
          <a:bodyPr vert="horz" wrap="square" lIns="0" tIns="1270" rIns="0" bIns="0" rtlCol="0">
            <a:spAutoFit/>
          </a:bodyPr>
          <a:lstStyle/>
          <a:p>
            <a:pPr marL="12700">
              <a:lnSpc>
                <a:spcPct val="100000"/>
              </a:lnSpc>
              <a:spcBef>
                <a:spcPts val="10"/>
              </a:spcBef>
            </a:pPr>
            <a:r>
              <a:rPr lang="en-US" b="1" spc="-50" dirty="0">
                <a:solidFill>
                  <a:srgbClr val="2D5395"/>
                </a:solidFill>
                <a:latin typeface="Cambria"/>
                <a:cs typeface="Cambria"/>
              </a:rPr>
              <a:t>7</a:t>
            </a:r>
            <a:endParaRPr sz="1800" dirty="0">
              <a:latin typeface="Cambria"/>
              <a:cs typeface="Cambria"/>
            </a:endParaRPr>
          </a:p>
        </p:txBody>
      </p:sp>
    </p:spTree>
    <p:extLst>
      <p:ext uri="{BB962C8B-B14F-4D97-AF65-F5344CB8AC3E}">
        <p14:creationId xmlns:p14="http://schemas.microsoft.com/office/powerpoint/2010/main" val="20084725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55241" y="188213"/>
            <a:ext cx="9359265" cy="700192"/>
          </a:xfrm>
          <a:prstGeom prst="rect">
            <a:avLst/>
          </a:prstGeom>
          <a:ln w="28575">
            <a:solidFill>
              <a:srgbClr val="2D528F"/>
            </a:solidFill>
          </a:ln>
        </p:spPr>
        <p:txBody>
          <a:bodyPr vert="horz" wrap="square" lIns="0" tIns="144780" rIns="0" bIns="0" rtlCol="0">
            <a:spAutoFit/>
          </a:bodyPr>
          <a:lstStyle/>
          <a:p>
            <a:pPr marR="59055" algn="ctr">
              <a:lnSpc>
                <a:spcPct val="100000"/>
              </a:lnSpc>
              <a:spcBef>
                <a:spcPts val="1140"/>
              </a:spcBef>
            </a:pPr>
            <a:r>
              <a:rPr lang="en-IN" spc="265" dirty="0"/>
              <a:t>CONTENT</a:t>
            </a:r>
            <a:endParaRPr spc="225" dirty="0"/>
          </a:p>
        </p:txBody>
      </p:sp>
      <p:grpSp>
        <p:nvGrpSpPr>
          <p:cNvPr id="3" name="object 3"/>
          <p:cNvGrpSpPr/>
          <p:nvPr/>
        </p:nvGrpSpPr>
        <p:grpSpPr>
          <a:xfrm>
            <a:off x="106869" y="76389"/>
            <a:ext cx="11971020" cy="6706870"/>
            <a:chOff x="106869" y="76389"/>
            <a:chExt cx="11971020" cy="6706870"/>
          </a:xfrm>
        </p:grpSpPr>
        <p:sp>
          <p:nvSpPr>
            <p:cNvPr id="4" name="object 4"/>
            <p:cNvSpPr/>
            <p:nvPr/>
          </p:nvSpPr>
          <p:spPr>
            <a:xfrm>
              <a:off x="121156" y="90676"/>
              <a:ext cx="11942445" cy="6678295"/>
            </a:xfrm>
            <a:custGeom>
              <a:avLst/>
              <a:gdLst/>
              <a:ahLst/>
              <a:cxnLst/>
              <a:rect l="l" t="t" r="r" b="b"/>
              <a:pathLst>
                <a:path w="11942445" h="6678295">
                  <a:moveTo>
                    <a:pt x="0" y="6678168"/>
                  </a:moveTo>
                  <a:lnTo>
                    <a:pt x="11942064" y="6678168"/>
                  </a:lnTo>
                  <a:lnTo>
                    <a:pt x="11942064" y="0"/>
                  </a:lnTo>
                  <a:lnTo>
                    <a:pt x="0" y="0"/>
                  </a:lnTo>
                  <a:lnTo>
                    <a:pt x="0" y="6678168"/>
                  </a:lnTo>
                  <a:close/>
                </a:path>
              </a:pathLst>
            </a:custGeom>
            <a:ln w="28575">
              <a:solidFill>
                <a:srgbClr val="2D528F"/>
              </a:solidFill>
            </a:ln>
          </p:spPr>
          <p:txBody>
            <a:bodyPr wrap="square" lIns="0" tIns="0" rIns="0" bIns="0" rtlCol="0"/>
            <a:lstStyle/>
            <a:p>
              <a:endParaRPr/>
            </a:p>
          </p:txBody>
        </p:sp>
        <p:pic>
          <p:nvPicPr>
            <p:cNvPr id="5" name="object 5"/>
            <p:cNvPicPr/>
            <p:nvPr/>
          </p:nvPicPr>
          <p:blipFill>
            <a:blip r:embed="rId3" cstate="print"/>
            <a:stretch>
              <a:fillRect/>
            </a:stretch>
          </p:blipFill>
          <p:spPr>
            <a:xfrm>
              <a:off x="405384" y="187452"/>
              <a:ext cx="873252" cy="1001268"/>
            </a:xfrm>
            <a:prstGeom prst="rect">
              <a:avLst/>
            </a:prstGeom>
          </p:spPr>
        </p:pic>
      </p:grpSp>
      <p:sp>
        <p:nvSpPr>
          <p:cNvPr id="7" name="object 7"/>
          <p:cNvSpPr txBox="1"/>
          <p:nvPr/>
        </p:nvSpPr>
        <p:spPr>
          <a:xfrm>
            <a:off x="11629770" y="6396132"/>
            <a:ext cx="333630" cy="278281"/>
          </a:xfrm>
          <a:prstGeom prst="rect">
            <a:avLst/>
          </a:prstGeom>
        </p:spPr>
        <p:txBody>
          <a:bodyPr vert="horz" wrap="square" lIns="0" tIns="1270" rIns="0" bIns="0" rtlCol="0">
            <a:spAutoFit/>
          </a:bodyPr>
          <a:lstStyle/>
          <a:p>
            <a:pPr marL="12700">
              <a:lnSpc>
                <a:spcPct val="100000"/>
              </a:lnSpc>
              <a:spcBef>
                <a:spcPts val="10"/>
              </a:spcBef>
            </a:pPr>
            <a:r>
              <a:rPr lang="en-US" b="1" spc="-50" dirty="0">
                <a:solidFill>
                  <a:srgbClr val="2D5395"/>
                </a:solidFill>
                <a:latin typeface="Cambria"/>
                <a:cs typeface="Cambria"/>
              </a:rPr>
              <a:t>10</a:t>
            </a:r>
            <a:endParaRPr sz="1800" dirty="0">
              <a:latin typeface="Cambria"/>
              <a:cs typeface="Cambria"/>
            </a:endParaRPr>
          </a:p>
        </p:txBody>
      </p:sp>
      <p:sp>
        <p:nvSpPr>
          <p:cNvPr id="6" name="TextBox 5">
            <a:extLst>
              <a:ext uri="{FF2B5EF4-FFF2-40B4-BE49-F238E27FC236}">
                <a16:creationId xmlns:a16="http://schemas.microsoft.com/office/drawing/2014/main" id="{1FCCD884-B2DC-4490-B96D-386412DF839B}"/>
              </a:ext>
            </a:extLst>
          </p:cNvPr>
          <p:cNvSpPr txBox="1"/>
          <p:nvPr/>
        </p:nvSpPr>
        <p:spPr>
          <a:xfrm>
            <a:off x="1555241" y="1371600"/>
            <a:ext cx="9359265"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Flow Chart</a:t>
            </a:r>
            <a:endParaRPr lang="en-IN" b="1" dirty="0">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81F709AD-6661-4270-A2E9-A6741F9AF14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886200" y="1048872"/>
            <a:ext cx="3657600" cy="5486400"/>
          </a:xfrm>
          <a:prstGeom prst="rect">
            <a:avLst/>
          </a:prstGeom>
        </p:spPr>
      </p:pic>
    </p:spTree>
    <p:extLst>
      <p:ext uri="{BB962C8B-B14F-4D97-AF65-F5344CB8AC3E}">
        <p14:creationId xmlns:p14="http://schemas.microsoft.com/office/powerpoint/2010/main" val="21649496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55241" y="188213"/>
            <a:ext cx="9359265" cy="700192"/>
          </a:xfrm>
          <a:prstGeom prst="rect">
            <a:avLst/>
          </a:prstGeom>
          <a:ln w="28575">
            <a:solidFill>
              <a:srgbClr val="2D528F"/>
            </a:solidFill>
          </a:ln>
        </p:spPr>
        <p:txBody>
          <a:bodyPr vert="horz" wrap="square" lIns="0" tIns="144780" rIns="0" bIns="0" rtlCol="0">
            <a:spAutoFit/>
          </a:bodyPr>
          <a:lstStyle/>
          <a:p>
            <a:pPr marR="59055" algn="ctr">
              <a:lnSpc>
                <a:spcPct val="100000"/>
              </a:lnSpc>
              <a:spcBef>
                <a:spcPts val="1140"/>
              </a:spcBef>
            </a:pPr>
            <a:r>
              <a:rPr lang="en-IN" spc="265" dirty="0"/>
              <a:t>CONTENT</a:t>
            </a:r>
            <a:endParaRPr spc="225" dirty="0"/>
          </a:p>
        </p:txBody>
      </p:sp>
      <p:grpSp>
        <p:nvGrpSpPr>
          <p:cNvPr id="3" name="object 3"/>
          <p:cNvGrpSpPr/>
          <p:nvPr/>
        </p:nvGrpSpPr>
        <p:grpSpPr>
          <a:xfrm>
            <a:off x="106869" y="76389"/>
            <a:ext cx="11971020" cy="6706870"/>
            <a:chOff x="106869" y="76389"/>
            <a:chExt cx="11971020" cy="6706870"/>
          </a:xfrm>
        </p:grpSpPr>
        <p:sp>
          <p:nvSpPr>
            <p:cNvPr id="4" name="object 4"/>
            <p:cNvSpPr/>
            <p:nvPr/>
          </p:nvSpPr>
          <p:spPr>
            <a:xfrm>
              <a:off x="121156" y="90676"/>
              <a:ext cx="11942445" cy="6678295"/>
            </a:xfrm>
            <a:custGeom>
              <a:avLst/>
              <a:gdLst/>
              <a:ahLst/>
              <a:cxnLst/>
              <a:rect l="l" t="t" r="r" b="b"/>
              <a:pathLst>
                <a:path w="11942445" h="6678295">
                  <a:moveTo>
                    <a:pt x="0" y="6678168"/>
                  </a:moveTo>
                  <a:lnTo>
                    <a:pt x="11942064" y="6678168"/>
                  </a:lnTo>
                  <a:lnTo>
                    <a:pt x="11942064" y="0"/>
                  </a:lnTo>
                  <a:lnTo>
                    <a:pt x="0" y="0"/>
                  </a:lnTo>
                  <a:lnTo>
                    <a:pt x="0" y="6678168"/>
                  </a:lnTo>
                  <a:close/>
                </a:path>
              </a:pathLst>
            </a:custGeom>
            <a:ln w="28575">
              <a:solidFill>
                <a:srgbClr val="2D528F"/>
              </a:solidFill>
            </a:ln>
          </p:spPr>
          <p:txBody>
            <a:bodyPr wrap="square" lIns="0" tIns="0" rIns="0" bIns="0" rtlCol="0"/>
            <a:lstStyle/>
            <a:p>
              <a:endParaRPr/>
            </a:p>
          </p:txBody>
        </p:sp>
        <p:pic>
          <p:nvPicPr>
            <p:cNvPr id="5" name="object 5"/>
            <p:cNvPicPr/>
            <p:nvPr/>
          </p:nvPicPr>
          <p:blipFill>
            <a:blip r:embed="rId3" cstate="print"/>
            <a:stretch>
              <a:fillRect/>
            </a:stretch>
          </p:blipFill>
          <p:spPr>
            <a:xfrm>
              <a:off x="405384" y="187452"/>
              <a:ext cx="873252" cy="1001268"/>
            </a:xfrm>
            <a:prstGeom prst="rect">
              <a:avLst/>
            </a:prstGeom>
          </p:spPr>
        </p:pic>
      </p:grpSp>
      <p:sp>
        <p:nvSpPr>
          <p:cNvPr id="6" name="object 6"/>
          <p:cNvSpPr txBox="1"/>
          <p:nvPr/>
        </p:nvSpPr>
        <p:spPr>
          <a:xfrm>
            <a:off x="916240" y="1188720"/>
            <a:ext cx="10352276" cy="5845190"/>
          </a:xfrm>
          <a:prstGeom prst="rect">
            <a:avLst/>
          </a:prstGeom>
        </p:spPr>
        <p:txBody>
          <a:bodyPr vert="horz" wrap="square" lIns="0" tIns="12700" rIns="0" bIns="0" rtlCol="0">
            <a:spAutoFit/>
          </a:bodyPr>
          <a:lstStyle/>
          <a:p>
            <a:pPr lvl="0"/>
            <a:r>
              <a:rPr lang="en-IN" sz="1600" b="1" dirty="0"/>
              <a:t>Progress Achieved</a:t>
            </a:r>
            <a:endParaRPr lang="en-US" sz="700" dirty="0"/>
          </a:p>
          <a:p>
            <a:r>
              <a:rPr lang="en-US" sz="1400" b="1" dirty="0"/>
              <a:t>Work Completed So Far</a:t>
            </a:r>
          </a:p>
          <a:p>
            <a:endParaRPr lang="en-US" sz="1400" b="1" dirty="0"/>
          </a:p>
          <a:p>
            <a:pPr marL="285750" indent="-285750" algn="l">
              <a:lnSpc>
                <a:spcPct val="150000"/>
              </a:lnSpc>
              <a:buFont typeface="Arial" panose="020B0604020202020204" pitchFamily="34" charset="0"/>
              <a:buChar char="•"/>
            </a:pPr>
            <a:r>
              <a:rPr lang="en-US" sz="1400" b="1" dirty="0"/>
              <a:t>Literature Survey Completed</a:t>
            </a:r>
            <a:br>
              <a:rPr lang="en-US" sz="1600" dirty="0"/>
            </a:br>
            <a:r>
              <a:rPr lang="en-US" sz="1200" dirty="0"/>
              <a:t>Recent research papers on AI-based E-waste detection, classification, and sorting were studied to identify suitable methods and research gaps. </a:t>
            </a:r>
          </a:p>
          <a:p>
            <a:pPr algn="l">
              <a:lnSpc>
                <a:spcPct val="150000"/>
              </a:lnSpc>
            </a:pPr>
            <a:endParaRPr lang="en-US" sz="700" dirty="0"/>
          </a:p>
          <a:p>
            <a:pPr marL="285750" indent="-285750" algn="l">
              <a:lnSpc>
                <a:spcPct val="150000"/>
              </a:lnSpc>
              <a:buFont typeface="Arial" panose="020B0604020202020204" pitchFamily="34" charset="0"/>
              <a:buChar char="•"/>
            </a:pPr>
            <a:r>
              <a:rPr lang="en-US" sz="1400" b="1" dirty="0">
                <a:latin typeface="Times New Roman" panose="02020603050405020304" pitchFamily="18" charset="0"/>
                <a:cs typeface="Times New Roman" panose="02020603050405020304" pitchFamily="18" charset="0"/>
              </a:rPr>
              <a:t>Problem and System Design Completed</a:t>
            </a:r>
            <a:br>
              <a:rPr lang="en-US" sz="1600" dirty="0"/>
            </a:br>
            <a:r>
              <a:rPr lang="en-US" sz="1200" dirty="0"/>
              <a:t>The problem statement, objectives, system architecture, block diagram, and workflow have been finalized. </a:t>
            </a:r>
          </a:p>
          <a:p>
            <a:pPr marL="171450" indent="-171450" algn="l">
              <a:lnSpc>
                <a:spcPct val="150000"/>
              </a:lnSpc>
              <a:buFont typeface="Arial" panose="020B0604020202020204" pitchFamily="34" charset="0"/>
              <a:buChar char="•"/>
            </a:pPr>
            <a:endParaRPr lang="en-US" sz="700" dirty="0"/>
          </a:p>
          <a:p>
            <a:pPr marL="285750" indent="-285750" algn="l">
              <a:lnSpc>
                <a:spcPct val="150000"/>
              </a:lnSpc>
              <a:buFont typeface="Arial" panose="020B0604020202020204" pitchFamily="34" charset="0"/>
              <a:buChar char="•"/>
            </a:pPr>
            <a:r>
              <a:rPr lang="en-US" sz="1400" b="1" dirty="0"/>
              <a:t>Dataset Preparation Started</a:t>
            </a:r>
            <a:br>
              <a:rPr lang="en-US" sz="1600" dirty="0"/>
            </a:br>
            <a:r>
              <a:rPr lang="en-US" sz="1200" dirty="0"/>
              <a:t>Images of </a:t>
            </a:r>
            <a:r>
              <a:rPr lang="en-US" sz="1200" b="1" dirty="0"/>
              <a:t>PCB, battery, cable/wire, and plastic electronic components</a:t>
            </a:r>
            <a:r>
              <a:rPr lang="en-US" sz="1200" dirty="0"/>
              <a:t> are being collected and organized into separate categories.</a:t>
            </a:r>
          </a:p>
          <a:p>
            <a:pPr algn="l">
              <a:lnSpc>
                <a:spcPct val="150000"/>
              </a:lnSpc>
            </a:pPr>
            <a:r>
              <a:rPr lang="en-US" sz="1200" dirty="0"/>
              <a:t> </a:t>
            </a:r>
          </a:p>
          <a:p>
            <a:pPr marL="285750" indent="-285750" algn="l">
              <a:lnSpc>
                <a:spcPct val="150000"/>
              </a:lnSpc>
              <a:buFont typeface="Arial" panose="020B0604020202020204" pitchFamily="34" charset="0"/>
              <a:buChar char="•"/>
            </a:pPr>
            <a:r>
              <a:rPr lang="en-US" sz="1400" b="1" dirty="0"/>
              <a:t>AI Model Selection</a:t>
            </a:r>
            <a:br>
              <a:rPr lang="en-US" sz="1600" dirty="0"/>
            </a:br>
            <a:r>
              <a:rPr lang="en-US" sz="1200" b="1" dirty="0"/>
              <a:t>YOLO11</a:t>
            </a:r>
            <a:r>
              <a:rPr lang="en-US" sz="1200" dirty="0"/>
              <a:t> has been selected as the initial model because it supports fast image detection and classification. </a:t>
            </a:r>
          </a:p>
          <a:p>
            <a:pPr algn="l">
              <a:lnSpc>
                <a:spcPct val="150000"/>
              </a:lnSpc>
            </a:pPr>
            <a:endParaRPr lang="en-US" sz="700" dirty="0"/>
          </a:p>
          <a:p>
            <a:pPr marL="285750" indent="-285750" algn="l">
              <a:lnSpc>
                <a:spcPct val="150000"/>
              </a:lnSpc>
              <a:buFont typeface="Arial" panose="020B0604020202020204" pitchFamily="34" charset="0"/>
              <a:buChar char="•"/>
            </a:pPr>
            <a:r>
              <a:rPr lang="en-US" sz="1400" b="1" dirty="0"/>
              <a:t>Hardware Design Planned</a:t>
            </a:r>
            <a:br>
              <a:rPr lang="en-US" sz="1600" dirty="0"/>
            </a:br>
            <a:r>
              <a:rPr lang="en-US" sz="1200" dirty="0"/>
              <a:t>The required components such as </a:t>
            </a:r>
            <a:r>
              <a:rPr lang="en-US" sz="1200" b="1" dirty="0"/>
              <a:t>conveyor belt, ESP32/Arduino, camera, IR sensor, DC motor, motor driver, and servo motor</a:t>
            </a:r>
            <a:r>
              <a:rPr lang="en-US" sz="1200" dirty="0"/>
              <a:t> have been identified. </a:t>
            </a:r>
          </a:p>
          <a:p>
            <a:pPr algn="l">
              <a:lnSpc>
                <a:spcPct val="150000"/>
              </a:lnSpc>
            </a:pPr>
            <a:endParaRPr lang="en-US" sz="700" dirty="0"/>
          </a:p>
          <a:p>
            <a:pPr marL="285750" indent="-285750" algn="l">
              <a:lnSpc>
                <a:spcPct val="150000"/>
              </a:lnSpc>
              <a:buFont typeface="Arial" panose="020B0604020202020204" pitchFamily="34" charset="0"/>
              <a:buChar char="•"/>
            </a:pPr>
            <a:r>
              <a:rPr lang="en-US" sz="1400" b="1" dirty="0"/>
              <a:t>Prototype Development Started</a:t>
            </a:r>
            <a:br>
              <a:rPr lang="en-US" sz="1600" dirty="0"/>
            </a:br>
            <a:r>
              <a:rPr lang="en-US" sz="1200" dirty="0"/>
              <a:t>The basic conveyor and sorting mechanism is being designed to connect the AI prediction with automatic physical sorting.</a:t>
            </a:r>
          </a:p>
          <a:p>
            <a:pPr lvl="1" algn="just"/>
            <a:endParaRPr lang="en-IN" sz="1600" dirty="0"/>
          </a:p>
        </p:txBody>
      </p:sp>
      <p:sp>
        <p:nvSpPr>
          <p:cNvPr id="7" name="object 7"/>
          <p:cNvSpPr txBox="1"/>
          <p:nvPr/>
        </p:nvSpPr>
        <p:spPr>
          <a:xfrm>
            <a:off x="11629770" y="6396132"/>
            <a:ext cx="161290" cy="278281"/>
          </a:xfrm>
          <a:prstGeom prst="rect">
            <a:avLst/>
          </a:prstGeom>
        </p:spPr>
        <p:txBody>
          <a:bodyPr vert="horz" wrap="square" lIns="0" tIns="1270" rIns="0" bIns="0" rtlCol="0">
            <a:spAutoFit/>
          </a:bodyPr>
          <a:lstStyle/>
          <a:p>
            <a:pPr marL="12700">
              <a:lnSpc>
                <a:spcPct val="100000"/>
              </a:lnSpc>
              <a:spcBef>
                <a:spcPts val="10"/>
              </a:spcBef>
            </a:pPr>
            <a:r>
              <a:rPr lang="en-US" b="1" spc="-50" dirty="0">
                <a:solidFill>
                  <a:srgbClr val="2D5395"/>
                </a:solidFill>
                <a:latin typeface="Cambria"/>
                <a:cs typeface="Cambria"/>
              </a:rPr>
              <a:t>8</a:t>
            </a:r>
            <a:endParaRPr sz="1800" dirty="0">
              <a:latin typeface="Cambria"/>
              <a:cs typeface="Cambria"/>
            </a:endParaRPr>
          </a:p>
        </p:txBody>
      </p:sp>
    </p:spTree>
    <p:extLst>
      <p:ext uri="{BB962C8B-B14F-4D97-AF65-F5344CB8AC3E}">
        <p14:creationId xmlns:p14="http://schemas.microsoft.com/office/powerpoint/2010/main" val="8668309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55241" y="188213"/>
            <a:ext cx="9359265" cy="700192"/>
          </a:xfrm>
          <a:prstGeom prst="rect">
            <a:avLst/>
          </a:prstGeom>
          <a:ln w="28575">
            <a:solidFill>
              <a:srgbClr val="2D528F"/>
            </a:solidFill>
          </a:ln>
        </p:spPr>
        <p:txBody>
          <a:bodyPr vert="horz" wrap="square" lIns="0" tIns="144780" rIns="0" bIns="0" rtlCol="0">
            <a:spAutoFit/>
          </a:bodyPr>
          <a:lstStyle/>
          <a:p>
            <a:pPr marR="59055" algn="ctr">
              <a:lnSpc>
                <a:spcPct val="100000"/>
              </a:lnSpc>
              <a:spcBef>
                <a:spcPts val="1140"/>
              </a:spcBef>
            </a:pPr>
            <a:r>
              <a:rPr lang="en-IN" spc="265" dirty="0"/>
              <a:t>CONTENT</a:t>
            </a:r>
            <a:endParaRPr spc="225" dirty="0"/>
          </a:p>
        </p:txBody>
      </p:sp>
      <p:grpSp>
        <p:nvGrpSpPr>
          <p:cNvPr id="3" name="object 3"/>
          <p:cNvGrpSpPr/>
          <p:nvPr/>
        </p:nvGrpSpPr>
        <p:grpSpPr>
          <a:xfrm>
            <a:off x="106869" y="76389"/>
            <a:ext cx="11971020" cy="6706870"/>
            <a:chOff x="106869" y="76389"/>
            <a:chExt cx="11971020" cy="6706870"/>
          </a:xfrm>
        </p:grpSpPr>
        <p:sp>
          <p:nvSpPr>
            <p:cNvPr id="4" name="object 4"/>
            <p:cNvSpPr/>
            <p:nvPr/>
          </p:nvSpPr>
          <p:spPr>
            <a:xfrm>
              <a:off x="121156" y="90676"/>
              <a:ext cx="11942445" cy="6678295"/>
            </a:xfrm>
            <a:custGeom>
              <a:avLst/>
              <a:gdLst/>
              <a:ahLst/>
              <a:cxnLst/>
              <a:rect l="l" t="t" r="r" b="b"/>
              <a:pathLst>
                <a:path w="11942445" h="6678295">
                  <a:moveTo>
                    <a:pt x="0" y="6678168"/>
                  </a:moveTo>
                  <a:lnTo>
                    <a:pt x="11942064" y="6678168"/>
                  </a:lnTo>
                  <a:lnTo>
                    <a:pt x="11942064" y="0"/>
                  </a:lnTo>
                  <a:lnTo>
                    <a:pt x="0" y="0"/>
                  </a:lnTo>
                  <a:lnTo>
                    <a:pt x="0" y="6678168"/>
                  </a:lnTo>
                  <a:close/>
                </a:path>
              </a:pathLst>
            </a:custGeom>
            <a:ln w="28575">
              <a:solidFill>
                <a:srgbClr val="2D528F"/>
              </a:solidFill>
            </a:ln>
          </p:spPr>
          <p:txBody>
            <a:bodyPr wrap="square" lIns="0" tIns="0" rIns="0" bIns="0" rtlCol="0"/>
            <a:lstStyle/>
            <a:p>
              <a:endParaRPr/>
            </a:p>
          </p:txBody>
        </p:sp>
        <p:pic>
          <p:nvPicPr>
            <p:cNvPr id="5" name="object 5"/>
            <p:cNvPicPr/>
            <p:nvPr/>
          </p:nvPicPr>
          <p:blipFill>
            <a:blip r:embed="rId3" cstate="print"/>
            <a:stretch>
              <a:fillRect/>
            </a:stretch>
          </p:blipFill>
          <p:spPr>
            <a:xfrm>
              <a:off x="405384" y="187452"/>
              <a:ext cx="873252" cy="1001268"/>
            </a:xfrm>
            <a:prstGeom prst="rect">
              <a:avLst/>
            </a:prstGeom>
          </p:spPr>
        </p:pic>
      </p:grpSp>
      <p:sp>
        <p:nvSpPr>
          <p:cNvPr id="7" name="object 7"/>
          <p:cNvSpPr txBox="1"/>
          <p:nvPr/>
        </p:nvSpPr>
        <p:spPr>
          <a:xfrm>
            <a:off x="11629770" y="6396132"/>
            <a:ext cx="441074" cy="278281"/>
          </a:xfrm>
          <a:prstGeom prst="rect">
            <a:avLst/>
          </a:prstGeom>
        </p:spPr>
        <p:txBody>
          <a:bodyPr vert="horz" wrap="square" lIns="0" tIns="1270" rIns="0" bIns="0" rtlCol="0">
            <a:spAutoFit/>
          </a:bodyPr>
          <a:lstStyle/>
          <a:p>
            <a:pPr marL="12700">
              <a:lnSpc>
                <a:spcPct val="100000"/>
              </a:lnSpc>
              <a:spcBef>
                <a:spcPts val="10"/>
              </a:spcBef>
            </a:pPr>
            <a:r>
              <a:rPr lang="en-US" b="1" spc="-50" dirty="0">
                <a:solidFill>
                  <a:srgbClr val="2D5395"/>
                </a:solidFill>
                <a:latin typeface="Cambria"/>
                <a:cs typeface="Cambria"/>
              </a:rPr>
              <a:t>11</a:t>
            </a:r>
            <a:endParaRPr sz="1800" dirty="0">
              <a:latin typeface="Cambria"/>
              <a:cs typeface="Cambria"/>
            </a:endParaRPr>
          </a:p>
        </p:txBody>
      </p:sp>
      <p:sp>
        <p:nvSpPr>
          <p:cNvPr id="6" name="TextBox 5">
            <a:extLst>
              <a:ext uri="{FF2B5EF4-FFF2-40B4-BE49-F238E27FC236}">
                <a16:creationId xmlns:a16="http://schemas.microsoft.com/office/drawing/2014/main" id="{BB1EB4C0-DFD3-46AF-B862-49B225C1D7FE}"/>
              </a:ext>
            </a:extLst>
          </p:cNvPr>
          <p:cNvSpPr txBox="1"/>
          <p:nvPr/>
        </p:nvSpPr>
        <p:spPr>
          <a:xfrm>
            <a:off x="1555241" y="1524000"/>
            <a:ext cx="9359265" cy="923330"/>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Expected Results</a:t>
            </a:r>
          </a:p>
          <a:p>
            <a:endParaRPr lang="en-US" b="1" dirty="0">
              <a:latin typeface="Times New Roman" panose="02020603050405020304" pitchFamily="18" charset="0"/>
              <a:cs typeface="Times New Roman" panose="02020603050405020304" pitchFamily="18" charset="0"/>
            </a:endParaRPr>
          </a:p>
          <a:p>
            <a:endParaRPr lang="en-IN" b="1" dirty="0">
              <a:latin typeface="Times New Roman" panose="02020603050405020304" pitchFamily="18" charset="0"/>
              <a:cs typeface="Times New Roman" panose="02020603050405020304" pitchFamily="18" charset="0"/>
            </a:endParaRPr>
          </a:p>
        </p:txBody>
      </p:sp>
      <p:sp>
        <p:nvSpPr>
          <p:cNvPr id="8" name="Rectangle 1">
            <a:extLst>
              <a:ext uri="{FF2B5EF4-FFF2-40B4-BE49-F238E27FC236}">
                <a16:creationId xmlns:a16="http://schemas.microsoft.com/office/drawing/2014/main" id="{EA2FEBC4-77AD-4166-AA0F-0EC05C616ECE}"/>
              </a:ext>
            </a:extLst>
          </p:cNvPr>
          <p:cNvSpPr>
            <a:spLocks noChangeArrowheads="1"/>
          </p:cNvSpPr>
          <p:nvPr/>
        </p:nvSpPr>
        <p:spPr bwMode="auto">
          <a:xfrm rot="10800000" flipV="1">
            <a:off x="1484181" y="2076947"/>
            <a:ext cx="9501384"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E-Waste Identification</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The AI model will identify PCB, battery, cable/wire, and plastic components.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Automatic Sorting</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The system will automatically direct each identified item into the correct collection bin.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Working Prototype</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A low-cost prototype integrating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AI, camera, ESP32, conveyor, and servo motor</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will be developed.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Reduced Manual Effort</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The system is expected to make E-waste sorting faster, easier, and more accurate. </a:t>
            </a:r>
          </a:p>
        </p:txBody>
      </p:sp>
    </p:spTree>
    <p:extLst>
      <p:ext uri="{BB962C8B-B14F-4D97-AF65-F5344CB8AC3E}">
        <p14:creationId xmlns:p14="http://schemas.microsoft.com/office/powerpoint/2010/main" val="6217344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55241" y="188213"/>
            <a:ext cx="9359265" cy="700192"/>
          </a:xfrm>
          <a:prstGeom prst="rect">
            <a:avLst/>
          </a:prstGeom>
          <a:ln w="28575">
            <a:solidFill>
              <a:srgbClr val="2D528F"/>
            </a:solidFill>
          </a:ln>
        </p:spPr>
        <p:txBody>
          <a:bodyPr vert="horz" wrap="square" lIns="0" tIns="144780" rIns="0" bIns="0" rtlCol="0">
            <a:spAutoFit/>
          </a:bodyPr>
          <a:lstStyle/>
          <a:p>
            <a:pPr marR="59055" algn="ctr">
              <a:lnSpc>
                <a:spcPct val="100000"/>
              </a:lnSpc>
              <a:spcBef>
                <a:spcPts val="1140"/>
              </a:spcBef>
            </a:pPr>
            <a:r>
              <a:rPr lang="en-IN" spc="265" dirty="0"/>
              <a:t>CONTENT</a:t>
            </a:r>
            <a:endParaRPr spc="225" dirty="0"/>
          </a:p>
        </p:txBody>
      </p:sp>
      <p:grpSp>
        <p:nvGrpSpPr>
          <p:cNvPr id="3" name="object 3"/>
          <p:cNvGrpSpPr/>
          <p:nvPr/>
        </p:nvGrpSpPr>
        <p:grpSpPr>
          <a:xfrm>
            <a:off x="106869" y="76389"/>
            <a:ext cx="11971020" cy="6706870"/>
            <a:chOff x="106869" y="76389"/>
            <a:chExt cx="11971020" cy="6706870"/>
          </a:xfrm>
        </p:grpSpPr>
        <p:sp>
          <p:nvSpPr>
            <p:cNvPr id="4" name="object 4"/>
            <p:cNvSpPr/>
            <p:nvPr/>
          </p:nvSpPr>
          <p:spPr>
            <a:xfrm>
              <a:off x="121156" y="90676"/>
              <a:ext cx="11942445" cy="6678295"/>
            </a:xfrm>
            <a:custGeom>
              <a:avLst/>
              <a:gdLst/>
              <a:ahLst/>
              <a:cxnLst/>
              <a:rect l="l" t="t" r="r" b="b"/>
              <a:pathLst>
                <a:path w="11942445" h="6678295">
                  <a:moveTo>
                    <a:pt x="0" y="6678168"/>
                  </a:moveTo>
                  <a:lnTo>
                    <a:pt x="11942064" y="6678168"/>
                  </a:lnTo>
                  <a:lnTo>
                    <a:pt x="11942064" y="0"/>
                  </a:lnTo>
                  <a:lnTo>
                    <a:pt x="0" y="0"/>
                  </a:lnTo>
                  <a:lnTo>
                    <a:pt x="0" y="6678168"/>
                  </a:lnTo>
                  <a:close/>
                </a:path>
              </a:pathLst>
            </a:custGeom>
            <a:ln w="28575">
              <a:solidFill>
                <a:srgbClr val="2D528F"/>
              </a:solidFill>
            </a:ln>
          </p:spPr>
          <p:txBody>
            <a:bodyPr wrap="square" lIns="0" tIns="0" rIns="0" bIns="0" rtlCol="0"/>
            <a:lstStyle/>
            <a:p>
              <a:endParaRPr/>
            </a:p>
          </p:txBody>
        </p:sp>
        <p:pic>
          <p:nvPicPr>
            <p:cNvPr id="5" name="object 5"/>
            <p:cNvPicPr/>
            <p:nvPr/>
          </p:nvPicPr>
          <p:blipFill>
            <a:blip r:embed="rId3" cstate="print"/>
            <a:stretch>
              <a:fillRect/>
            </a:stretch>
          </p:blipFill>
          <p:spPr>
            <a:xfrm>
              <a:off x="405384" y="187452"/>
              <a:ext cx="873252" cy="1001268"/>
            </a:xfrm>
            <a:prstGeom prst="rect">
              <a:avLst/>
            </a:prstGeom>
          </p:spPr>
        </p:pic>
      </p:grpSp>
      <p:sp>
        <p:nvSpPr>
          <p:cNvPr id="6" name="object 6"/>
          <p:cNvSpPr txBox="1"/>
          <p:nvPr/>
        </p:nvSpPr>
        <p:spPr>
          <a:xfrm>
            <a:off x="1555241" y="1188720"/>
            <a:ext cx="10913110" cy="1490152"/>
          </a:xfrm>
          <a:prstGeom prst="rect">
            <a:avLst/>
          </a:prstGeom>
        </p:spPr>
        <p:txBody>
          <a:bodyPr vert="horz" wrap="square" lIns="0" tIns="12700" rIns="0" bIns="0" rtlCol="0">
            <a:spAutoFit/>
          </a:bodyPr>
          <a:lstStyle/>
          <a:p>
            <a:pPr lvl="0"/>
            <a:r>
              <a:rPr lang="en-IN" sz="1600" b="1" dirty="0">
                <a:latin typeface="Times New Roman" panose="02020603050405020304" pitchFamily="18" charset="0"/>
                <a:cs typeface="Times New Roman" panose="02020603050405020304" pitchFamily="18" charset="0"/>
              </a:rPr>
              <a:t>Work Plan</a:t>
            </a:r>
            <a:endParaRPr lang="en-IN" sz="1600" dirty="0">
              <a:latin typeface="Times New Roman" panose="02020603050405020304" pitchFamily="18" charset="0"/>
              <a:cs typeface="Times New Roman" panose="02020603050405020304" pitchFamily="18" charset="0"/>
            </a:endParaRPr>
          </a:p>
          <a:p>
            <a:pPr lvl="0"/>
            <a:endParaRPr lang="en-IN" sz="2000" dirty="0"/>
          </a:p>
          <a:p>
            <a:r>
              <a:rPr lang="en-IN" sz="2000" dirty="0"/>
              <a:t> </a:t>
            </a:r>
          </a:p>
          <a:p>
            <a:endParaRPr lang="en-IN" sz="2000" dirty="0"/>
          </a:p>
          <a:p>
            <a:pPr lvl="0"/>
            <a:endParaRPr lang="en-IN" sz="2000" dirty="0"/>
          </a:p>
        </p:txBody>
      </p:sp>
      <p:sp>
        <p:nvSpPr>
          <p:cNvPr id="7" name="object 7"/>
          <p:cNvSpPr txBox="1"/>
          <p:nvPr/>
        </p:nvSpPr>
        <p:spPr>
          <a:xfrm>
            <a:off x="11629770" y="6396132"/>
            <a:ext cx="333630" cy="278281"/>
          </a:xfrm>
          <a:prstGeom prst="rect">
            <a:avLst/>
          </a:prstGeom>
        </p:spPr>
        <p:txBody>
          <a:bodyPr vert="horz" wrap="square" lIns="0" tIns="1270" rIns="0" bIns="0" rtlCol="0">
            <a:spAutoFit/>
          </a:bodyPr>
          <a:lstStyle/>
          <a:p>
            <a:pPr marL="12700">
              <a:lnSpc>
                <a:spcPct val="100000"/>
              </a:lnSpc>
              <a:spcBef>
                <a:spcPts val="10"/>
              </a:spcBef>
            </a:pPr>
            <a:r>
              <a:rPr lang="en-US" b="1" spc="-50" dirty="0">
                <a:solidFill>
                  <a:srgbClr val="2D5395"/>
                </a:solidFill>
                <a:latin typeface="Cambria"/>
                <a:cs typeface="Cambria"/>
              </a:rPr>
              <a:t>12</a:t>
            </a:r>
            <a:endParaRPr sz="1800" dirty="0">
              <a:latin typeface="Cambria"/>
              <a:cs typeface="Cambria"/>
            </a:endParaRPr>
          </a:p>
        </p:txBody>
      </p:sp>
      <p:graphicFrame>
        <p:nvGraphicFramePr>
          <p:cNvPr id="9" name="Table 9">
            <a:extLst>
              <a:ext uri="{FF2B5EF4-FFF2-40B4-BE49-F238E27FC236}">
                <a16:creationId xmlns:a16="http://schemas.microsoft.com/office/drawing/2014/main" id="{2F93C695-F9CD-4373-A0DF-59DC223FB9F0}"/>
              </a:ext>
            </a:extLst>
          </p:cNvPr>
          <p:cNvGraphicFramePr>
            <a:graphicFrameLocks noGrp="1"/>
          </p:cNvGraphicFramePr>
          <p:nvPr>
            <p:extLst>
              <p:ext uri="{D42A27DB-BD31-4B8C-83A1-F6EECF244321}">
                <p14:modId xmlns:p14="http://schemas.microsoft.com/office/powerpoint/2010/main" val="3532984938"/>
              </p:ext>
            </p:extLst>
          </p:nvPr>
        </p:nvGraphicFramePr>
        <p:xfrm>
          <a:off x="1253236" y="1516964"/>
          <a:ext cx="10049508" cy="4923762"/>
        </p:xfrm>
        <a:graphic>
          <a:graphicData uri="http://schemas.openxmlformats.org/drawingml/2006/table">
            <a:tbl>
              <a:tblPr firstRow="1" bandRow="1">
                <a:tableStyleId>{5C22544A-7EE6-4342-B048-85BDC9FD1C3A}</a:tableStyleId>
              </a:tblPr>
              <a:tblGrid>
                <a:gridCol w="3349836">
                  <a:extLst>
                    <a:ext uri="{9D8B030D-6E8A-4147-A177-3AD203B41FA5}">
                      <a16:colId xmlns:a16="http://schemas.microsoft.com/office/drawing/2014/main" val="2087425833"/>
                    </a:ext>
                  </a:extLst>
                </a:gridCol>
                <a:gridCol w="3349836">
                  <a:extLst>
                    <a:ext uri="{9D8B030D-6E8A-4147-A177-3AD203B41FA5}">
                      <a16:colId xmlns:a16="http://schemas.microsoft.com/office/drawing/2014/main" val="3598243616"/>
                    </a:ext>
                  </a:extLst>
                </a:gridCol>
                <a:gridCol w="3349836">
                  <a:extLst>
                    <a:ext uri="{9D8B030D-6E8A-4147-A177-3AD203B41FA5}">
                      <a16:colId xmlns:a16="http://schemas.microsoft.com/office/drawing/2014/main" val="2900272065"/>
                    </a:ext>
                  </a:extLst>
                </a:gridCol>
              </a:tblGrid>
              <a:tr h="299437">
                <a:tc>
                  <a:txBody>
                    <a:bodyPr/>
                    <a:lstStyle/>
                    <a:p>
                      <a:pPr algn="ctr"/>
                      <a:r>
                        <a:rPr lang="en-IN" sz="1600" dirty="0"/>
                        <a:t>Phase</a:t>
                      </a:r>
                    </a:p>
                  </a:txBody>
                  <a:tcPr anchor="ctr"/>
                </a:tc>
                <a:tc>
                  <a:txBody>
                    <a:bodyPr/>
                    <a:lstStyle/>
                    <a:p>
                      <a:pPr algn="ctr"/>
                      <a:r>
                        <a:rPr lang="en-IN" sz="1600"/>
                        <a:t>Activity</a:t>
                      </a:r>
                    </a:p>
                  </a:txBody>
                  <a:tcPr anchor="ctr"/>
                </a:tc>
                <a:tc>
                  <a:txBody>
                    <a:bodyPr/>
                    <a:lstStyle/>
                    <a:p>
                      <a:pPr algn="ctr"/>
                      <a:r>
                        <a:rPr lang="en-IN" sz="1600" dirty="0"/>
                        <a:t>Status</a:t>
                      </a:r>
                    </a:p>
                  </a:txBody>
                  <a:tcPr anchor="ctr"/>
                </a:tc>
                <a:extLst>
                  <a:ext uri="{0D108BD9-81ED-4DB2-BD59-A6C34878D82A}">
                    <a16:rowId xmlns:a16="http://schemas.microsoft.com/office/drawing/2014/main" val="90272751"/>
                  </a:ext>
                </a:extLst>
              </a:tr>
              <a:tr h="516836">
                <a:tc>
                  <a:txBody>
                    <a:bodyPr/>
                    <a:lstStyle/>
                    <a:p>
                      <a:pPr algn="ctr"/>
                      <a:r>
                        <a:rPr lang="en-IN" sz="1400" b="1" dirty="0"/>
                        <a:t>1</a:t>
                      </a:r>
                      <a:endParaRPr lang="en-IN" sz="1400" dirty="0"/>
                    </a:p>
                  </a:txBody>
                  <a:tcPr anchor="ctr"/>
                </a:tc>
                <a:tc>
                  <a:txBody>
                    <a:bodyPr/>
                    <a:lstStyle/>
                    <a:p>
                      <a:pPr algn="ctr"/>
                      <a:r>
                        <a:rPr lang="en-US" sz="1400"/>
                        <a:t>Literature survey and problem identification</a:t>
                      </a:r>
                    </a:p>
                  </a:txBody>
                  <a:tcPr anchor="ctr"/>
                </a:tc>
                <a:tc>
                  <a:txBody>
                    <a:bodyPr/>
                    <a:lstStyle/>
                    <a:p>
                      <a:pPr algn="ctr"/>
                      <a:r>
                        <a:rPr lang="en-IN" sz="1400" dirty="0"/>
                        <a:t> Completed</a:t>
                      </a:r>
                    </a:p>
                  </a:txBody>
                  <a:tcPr anchor="ctr"/>
                </a:tc>
                <a:extLst>
                  <a:ext uri="{0D108BD9-81ED-4DB2-BD59-A6C34878D82A}">
                    <a16:rowId xmlns:a16="http://schemas.microsoft.com/office/drawing/2014/main" val="4219380540"/>
                  </a:ext>
                </a:extLst>
              </a:tr>
              <a:tr h="738338">
                <a:tc>
                  <a:txBody>
                    <a:bodyPr/>
                    <a:lstStyle/>
                    <a:p>
                      <a:pPr algn="ctr"/>
                      <a:r>
                        <a:rPr lang="en-IN" sz="1400" b="1"/>
                        <a:t>2</a:t>
                      </a:r>
                      <a:endParaRPr lang="en-IN" sz="1400"/>
                    </a:p>
                  </a:txBody>
                  <a:tcPr anchor="ctr"/>
                </a:tc>
                <a:tc>
                  <a:txBody>
                    <a:bodyPr/>
                    <a:lstStyle/>
                    <a:p>
                      <a:pPr algn="ctr"/>
                      <a:r>
                        <a:rPr lang="en-US" sz="1400" dirty="0"/>
                        <a:t>Problem statement, objectives and system design</a:t>
                      </a:r>
                    </a:p>
                  </a:txBody>
                  <a:tcPr anchor="ctr"/>
                </a:tc>
                <a:tc>
                  <a:txBody>
                    <a:bodyPr/>
                    <a:lstStyle/>
                    <a:p>
                      <a:pPr algn="ctr"/>
                      <a:r>
                        <a:rPr lang="en-IN" sz="1400" dirty="0"/>
                        <a:t> Completed</a:t>
                      </a:r>
                    </a:p>
                  </a:txBody>
                  <a:tcPr anchor="ctr"/>
                </a:tc>
                <a:extLst>
                  <a:ext uri="{0D108BD9-81ED-4DB2-BD59-A6C34878D82A}">
                    <a16:rowId xmlns:a16="http://schemas.microsoft.com/office/drawing/2014/main" val="452340970"/>
                  </a:ext>
                </a:extLst>
              </a:tr>
              <a:tr h="516836">
                <a:tc>
                  <a:txBody>
                    <a:bodyPr/>
                    <a:lstStyle/>
                    <a:p>
                      <a:pPr algn="ctr"/>
                      <a:r>
                        <a:rPr lang="en-IN" sz="1400" b="1"/>
                        <a:t>3</a:t>
                      </a:r>
                      <a:endParaRPr lang="en-IN" sz="1400"/>
                    </a:p>
                  </a:txBody>
                  <a:tcPr anchor="ctr"/>
                </a:tc>
                <a:tc>
                  <a:txBody>
                    <a:bodyPr/>
                    <a:lstStyle/>
                    <a:p>
                      <a:pPr algn="ctr"/>
                      <a:r>
                        <a:rPr lang="en-US" sz="1400"/>
                        <a:t>E-waste dataset collection and preparation</a:t>
                      </a:r>
                    </a:p>
                  </a:txBody>
                  <a:tcPr anchor="ctr"/>
                </a:tc>
                <a:tc>
                  <a:txBody>
                    <a:bodyPr/>
                    <a:lstStyle/>
                    <a:p>
                      <a:pPr algn="ctr"/>
                      <a:r>
                        <a:rPr lang="en-IN" sz="1400" dirty="0"/>
                        <a:t> In Progress</a:t>
                      </a:r>
                    </a:p>
                  </a:txBody>
                  <a:tcPr anchor="ctr"/>
                </a:tc>
                <a:extLst>
                  <a:ext uri="{0D108BD9-81ED-4DB2-BD59-A6C34878D82A}">
                    <a16:rowId xmlns:a16="http://schemas.microsoft.com/office/drawing/2014/main" val="337874389"/>
                  </a:ext>
                </a:extLst>
              </a:tr>
              <a:tr h="516836">
                <a:tc>
                  <a:txBody>
                    <a:bodyPr/>
                    <a:lstStyle/>
                    <a:p>
                      <a:pPr algn="ctr"/>
                      <a:r>
                        <a:rPr lang="en-IN" sz="1400" b="1"/>
                        <a:t>4</a:t>
                      </a:r>
                      <a:endParaRPr lang="en-IN" sz="1400"/>
                    </a:p>
                  </a:txBody>
                  <a:tcPr anchor="ctr"/>
                </a:tc>
                <a:tc>
                  <a:txBody>
                    <a:bodyPr/>
                    <a:lstStyle/>
                    <a:p>
                      <a:pPr algn="ctr"/>
                      <a:r>
                        <a:rPr lang="en-US" sz="1400"/>
                        <a:t>AI/ML model training and testing</a:t>
                      </a:r>
                    </a:p>
                  </a:txBody>
                  <a:tcPr anchor="ctr"/>
                </a:tc>
                <a:tc>
                  <a:txBody>
                    <a:bodyPr/>
                    <a:lstStyle/>
                    <a:p>
                      <a:pPr algn="ctr"/>
                      <a:r>
                        <a:rPr lang="en-IN" sz="1400" dirty="0"/>
                        <a:t> To be completed</a:t>
                      </a:r>
                    </a:p>
                  </a:txBody>
                  <a:tcPr anchor="ctr"/>
                </a:tc>
                <a:extLst>
                  <a:ext uri="{0D108BD9-81ED-4DB2-BD59-A6C34878D82A}">
                    <a16:rowId xmlns:a16="http://schemas.microsoft.com/office/drawing/2014/main" val="3251080187"/>
                  </a:ext>
                </a:extLst>
              </a:tr>
              <a:tr h="516836">
                <a:tc>
                  <a:txBody>
                    <a:bodyPr/>
                    <a:lstStyle/>
                    <a:p>
                      <a:pPr algn="ctr"/>
                      <a:r>
                        <a:rPr lang="en-IN" sz="1400" b="1"/>
                        <a:t>5</a:t>
                      </a:r>
                      <a:endParaRPr lang="en-IN" sz="1400"/>
                    </a:p>
                  </a:txBody>
                  <a:tcPr anchor="ctr"/>
                </a:tc>
                <a:tc>
                  <a:txBody>
                    <a:bodyPr/>
                    <a:lstStyle/>
                    <a:p>
                      <a:pPr algn="ctr"/>
                      <a:r>
                        <a:rPr lang="en-IN" sz="1400"/>
                        <a:t>Conveyor and hardware development</a:t>
                      </a:r>
                    </a:p>
                  </a:txBody>
                  <a:tcPr anchor="ctr"/>
                </a:tc>
                <a:tc>
                  <a:txBody>
                    <a:bodyPr/>
                    <a:lstStyle/>
                    <a:p>
                      <a:pPr algn="ctr"/>
                      <a:r>
                        <a:rPr lang="en-IN" sz="1400" dirty="0"/>
                        <a:t> To be completed</a:t>
                      </a:r>
                    </a:p>
                  </a:txBody>
                  <a:tcPr anchor="ctr"/>
                </a:tc>
                <a:extLst>
                  <a:ext uri="{0D108BD9-81ED-4DB2-BD59-A6C34878D82A}">
                    <a16:rowId xmlns:a16="http://schemas.microsoft.com/office/drawing/2014/main" val="1242615279"/>
                  </a:ext>
                </a:extLst>
              </a:tr>
              <a:tr h="299437">
                <a:tc>
                  <a:txBody>
                    <a:bodyPr/>
                    <a:lstStyle/>
                    <a:p>
                      <a:pPr algn="ctr"/>
                      <a:r>
                        <a:rPr lang="en-IN" sz="1400" b="1"/>
                        <a:t>6</a:t>
                      </a:r>
                      <a:endParaRPr lang="en-IN" sz="1400"/>
                    </a:p>
                  </a:txBody>
                  <a:tcPr anchor="ctr"/>
                </a:tc>
                <a:tc>
                  <a:txBody>
                    <a:bodyPr/>
                    <a:lstStyle/>
                    <a:p>
                      <a:pPr algn="ctr"/>
                      <a:r>
                        <a:rPr lang="en-IN" sz="1400"/>
                        <a:t>AI + hardware integration</a:t>
                      </a:r>
                    </a:p>
                  </a:txBody>
                  <a:tcPr anchor="ctr"/>
                </a:tc>
                <a:tc>
                  <a:txBody>
                    <a:bodyPr/>
                    <a:lstStyle/>
                    <a:p>
                      <a:pPr algn="ctr"/>
                      <a:r>
                        <a:rPr lang="en-IN" sz="1400" dirty="0"/>
                        <a:t> To be completed</a:t>
                      </a:r>
                    </a:p>
                  </a:txBody>
                  <a:tcPr anchor="ctr"/>
                </a:tc>
                <a:extLst>
                  <a:ext uri="{0D108BD9-81ED-4DB2-BD59-A6C34878D82A}">
                    <a16:rowId xmlns:a16="http://schemas.microsoft.com/office/drawing/2014/main" val="4083875406"/>
                  </a:ext>
                </a:extLst>
              </a:tr>
              <a:tr h="738338">
                <a:tc>
                  <a:txBody>
                    <a:bodyPr/>
                    <a:lstStyle/>
                    <a:p>
                      <a:pPr algn="ctr"/>
                      <a:r>
                        <a:rPr lang="en-IN" sz="1400" b="1"/>
                        <a:t>7</a:t>
                      </a:r>
                      <a:endParaRPr lang="en-IN" sz="1400"/>
                    </a:p>
                  </a:txBody>
                  <a:tcPr anchor="ctr"/>
                </a:tc>
                <a:tc>
                  <a:txBody>
                    <a:bodyPr/>
                    <a:lstStyle/>
                    <a:p>
                      <a:pPr algn="ctr"/>
                      <a:r>
                        <a:rPr lang="en-US" sz="1400"/>
                        <a:t>Testing, accuracy evaluation and improvements</a:t>
                      </a:r>
                    </a:p>
                  </a:txBody>
                  <a:tcPr anchor="ctr"/>
                </a:tc>
                <a:tc>
                  <a:txBody>
                    <a:bodyPr/>
                    <a:lstStyle/>
                    <a:p>
                      <a:pPr algn="ctr"/>
                      <a:r>
                        <a:rPr lang="en-IN" sz="1400" dirty="0"/>
                        <a:t> To be completed</a:t>
                      </a:r>
                    </a:p>
                  </a:txBody>
                  <a:tcPr anchor="ctr"/>
                </a:tc>
                <a:extLst>
                  <a:ext uri="{0D108BD9-81ED-4DB2-BD59-A6C34878D82A}">
                    <a16:rowId xmlns:a16="http://schemas.microsoft.com/office/drawing/2014/main" val="3637200464"/>
                  </a:ext>
                </a:extLst>
              </a:tr>
              <a:tr h="738338">
                <a:tc>
                  <a:txBody>
                    <a:bodyPr/>
                    <a:lstStyle/>
                    <a:p>
                      <a:pPr algn="ctr"/>
                      <a:r>
                        <a:rPr lang="en-IN" sz="1400" b="1" dirty="0"/>
                        <a:t>8</a:t>
                      </a:r>
                      <a:endParaRPr lang="en-IN" sz="1400" dirty="0"/>
                    </a:p>
                  </a:txBody>
                  <a:tcPr anchor="ctr"/>
                </a:tc>
                <a:tc>
                  <a:txBody>
                    <a:bodyPr/>
                    <a:lstStyle/>
                    <a:p>
                      <a:pPr algn="ctr"/>
                      <a:r>
                        <a:rPr lang="en-IN" sz="1400"/>
                        <a:t>Final prototype, documentation and presentation</a:t>
                      </a:r>
                    </a:p>
                  </a:txBody>
                  <a:tcPr anchor="ctr"/>
                </a:tc>
                <a:tc>
                  <a:txBody>
                    <a:bodyPr/>
                    <a:lstStyle/>
                    <a:p>
                      <a:pPr algn="ctr"/>
                      <a:r>
                        <a:rPr lang="en-IN" sz="1400" dirty="0"/>
                        <a:t> To be completed</a:t>
                      </a:r>
                    </a:p>
                  </a:txBody>
                  <a:tcPr anchor="ctr"/>
                </a:tc>
                <a:extLst>
                  <a:ext uri="{0D108BD9-81ED-4DB2-BD59-A6C34878D82A}">
                    <a16:rowId xmlns:a16="http://schemas.microsoft.com/office/drawing/2014/main" val="1376106340"/>
                  </a:ext>
                </a:extLst>
              </a:tr>
            </a:tbl>
          </a:graphicData>
        </a:graphic>
      </p:graphicFrame>
    </p:spTree>
    <p:extLst>
      <p:ext uri="{BB962C8B-B14F-4D97-AF65-F5344CB8AC3E}">
        <p14:creationId xmlns:p14="http://schemas.microsoft.com/office/powerpoint/2010/main" val="27960708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55241" y="188213"/>
            <a:ext cx="9359265" cy="700192"/>
          </a:xfrm>
          <a:prstGeom prst="rect">
            <a:avLst/>
          </a:prstGeom>
          <a:ln w="28575">
            <a:solidFill>
              <a:srgbClr val="2D528F"/>
            </a:solidFill>
          </a:ln>
        </p:spPr>
        <p:txBody>
          <a:bodyPr vert="horz" wrap="square" lIns="0" tIns="144780" rIns="0" bIns="0" rtlCol="0">
            <a:spAutoFit/>
          </a:bodyPr>
          <a:lstStyle/>
          <a:p>
            <a:pPr marR="59055" algn="ctr">
              <a:lnSpc>
                <a:spcPct val="100000"/>
              </a:lnSpc>
              <a:spcBef>
                <a:spcPts val="1140"/>
              </a:spcBef>
            </a:pPr>
            <a:r>
              <a:rPr lang="en-IN" spc="265" dirty="0"/>
              <a:t>CONTENT</a:t>
            </a:r>
            <a:endParaRPr spc="225" dirty="0"/>
          </a:p>
        </p:txBody>
      </p:sp>
      <p:grpSp>
        <p:nvGrpSpPr>
          <p:cNvPr id="3" name="object 3"/>
          <p:cNvGrpSpPr/>
          <p:nvPr/>
        </p:nvGrpSpPr>
        <p:grpSpPr>
          <a:xfrm>
            <a:off x="106869" y="76389"/>
            <a:ext cx="11971020" cy="6706870"/>
            <a:chOff x="106869" y="76389"/>
            <a:chExt cx="11971020" cy="6706870"/>
          </a:xfrm>
        </p:grpSpPr>
        <p:sp>
          <p:nvSpPr>
            <p:cNvPr id="4" name="object 4"/>
            <p:cNvSpPr/>
            <p:nvPr/>
          </p:nvSpPr>
          <p:spPr>
            <a:xfrm>
              <a:off x="121156" y="90676"/>
              <a:ext cx="11942445" cy="6678295"/>
            </a:xfrm>
            <a:custGeom>
              <a:avLst/>
              <a:gdLst/>
              <a:ahLst/>
              <a:cxnLst/>
              <a:rect l="l" t="t" r="r" b="b"/>
              <a:pathLst>
                <a:path w="11942445" h="6678295">
                  <a:moveTo>
                    <a:pt x="0" y="6678168"/>
                  </a:moveTo>
                  <a:lnTo>
                    <a:pt x="11942064" y="6678168"/>
                  </a:lnTo>
                  <a:lnTo>
                    <a:pt x="11942064" y="0"/>
                  </a:lnTo>
                  <a:lnTo>
                    <a:pt x="0" y="0"/>
                  </a:lnTo>
                  <a:lnTo>
                    <a:pt x="0" y="6678168"/>
                  </a:lnTo>
                  <a:close/>
                </a:path>
              </a:pathLst>
            </a:custGeom>
            <a:ln w="28575">
              <a:solidFill>
                <a:srgbClr val="2D528F"/>
              </a:solidFill>
            </a:ln>
          </p:spPr>
          <p:txBody>
            <a:bodyPr wrap="square" lIns="0" tIns="0" rIns="0" bIns="0" rtlCol="0"/>
            <a:lstStyle/>
            <a:p>
              <a:endParaRPr/>
            </a:p>
          </p:txBody>
        </p:sp>
        <p:pic>
          <p:nvPicPr>
            <p:cNvPr id="5" name="object 5"/>
            <p:cNvPicPr/>
            <p:nvPr/>
          </p:nvPicPr>
          <p:blipFill>
            <a:blip r:embed="rId3" cstate="print"/>
            <a:stretch>
              <a:fillRect/>
            </a:stretch>
          </p:blipFill>
          <p:spPr>
            <a:xfrm>
              <a:off x="405384" y="187452"/>
              <a:ext cx="873252" cy="1001268"/>
            </a:xfrm>
            <a:prstGeom prst="rect">
              <a:avLst/>
            </a:prstGeom>
          </p:spPr>
        </p:pic>
      </p:grpSp>
      <p:sp>
        <p:nvSpPr>
          <p:cNvPr id="6" name="object 6"/>
          <p:cNvSpPr txBox="1"/>
          <p:nvPr/>
        </p:nvSpPr>
        <p:spPr>
          <a:xfrm>
            <a:off x="2590800" y="1692627"/>
            <a:ext cx="10913110" cy="1736373"/>
          </a:xfrm>
          <a:prstGeom prst="rect">
            <a:avLst/>
          </a:prstGeom>
        </p:spPr>
        <p:txBody>
          <a:bodyPr vert="horz" wrap="square" lIns="0" tIns="12700" rIns="0" bIns="0" rtlCol="0">
            <a:spAutoFit/>
          </a:bodyPr>
          <a:lstStyle/>
          <a:p>
            <a:pPr lvl="0"/>
            <a:r>
              <a:rPr lang="en-IN" sz="1600" b="1" dirty="0">
                <a:latin typeface="Times New Roman" panose="02020603050405020304" pitchFamily="18" charset="0"/>
                <a:cs typeface="Times New Roman" panose="02020603050405020304" pitchFamily="18" charset="0"/>
              </a:rPr>
              <a:t>Expected Outcomes</a:t>
            </a:r>
          </a:p>
          <a:p>
            <a:pPr lvl="0"/>
            <a:r>
              <a:rPr lang="en-IN" sz="1600" dirty="0">
                <a:latin typeface="Times New Roman" panose="02020603050405020304" pitchFamily="18" charset="0"/>
                <a:cs typeface="Times New Roman" panose="02020603050405020304" pitchFamily="18" charset="0"/>
              </a:rPr>
              <a:t> </a:t>
            </a:r>
          </a:p>
          <a:p>
            <a:pPr lvl="0"/>
            <a:endParaRPr lang="en-IN" sz="2000" dirty="0"/>
          </a:p>
          <a:p>
            <a:r>
              <a:rPr lang="en-IN" sz="2000" dirty="0"/>
              <a:t> </a:t>
            </a:r>
          </a:p>
          <a:p>
            <a:endParaRPr lang="en-IN" sz="2000" dirty="0"/>
          </a:p>
          <a:p>
            <a:pPr lvl="0"/>
            <a:endParaRPr lang="en-IN" sz="2000" dirty="0"/>
          </a:p>
        </p:txBody>
      </p:sp>
      <p:sp>
        <p:nvSpPr>
          <p:cNvPr id="7" name="object 7"/>
          <p:cNvSpPr txBox="1"/>
          <p:nvPr/>
        </p:nvSpPr>
        <p:spPr>
          <a:xfrm>
            <a:off x="11629770" y="6396132"/>
            <a:ext cx="333630" cy="278281"/>
          </a:xfrm>
          <a:prstGeom prst="rect">
            <a:avLst/>
          </a:prstGeom>
        </p:spPr>
        <p:txBody>
          <a:bodyPr vert="horz" wrap="square" lIns="0" tIns="1270" rIns="0" bIns="0" rtlCol="0">
            <a:spAutoFit/>
          </a:bodyPr>
          <a:lstStyle/>
          <a:p>
            <a:pPr marL="12700">
              <a:lnSpc>
                <a:spcPct val="100000"/>
              </a:lnSpc>
              <a:spcBef>
                <a:spcPts val="10"/>
              </a:spcBef>
            </a:pPr>
            <a:r>
              <a:rPr lang="en-US" sz="1800" b="1" spc="-50" dirty="0">
                <a:solidFill>
                  <a:srgbClr val="2D5395"/>
                </a:solidFill>
                <a:latin typeface="Cambria"/>
                <a:cs typeface="Cambria"/>
              </a:rPr>
              <a:t>1</a:t>
            </a:r>
            <a:r>
              <a:rPr sz="1800" b="1" spc="-50" dirty="0">
                <a:solidFill>
                  <a:srgbClr val="2D5395"/>
                </a:solidFill>
                <a:latin typeface="Cambria"/>
                <a:cs typeface="Cambria"/>
              </a:rPr>
              <a:t>3</a:t>
            </a:r>
            <a:endParaRPr sz="1800" dirty="0">
              <a:latin typeface="Cambria"/>
              <a:cs typeface="Cambria"/>
            </a:endParaRPr>
          </a:p>
        </p:txBody>
      </p:sp>
      <p:sp>
        <p:nvSpPr>
          <p:cNvPr id="14" name="Rectangle 5">
            <a:extLst>
              <a:ext uri="{FF2B5EF4-FFF2-40B4-BE49-F238E27FC236}">
                <a16:creationId xmlns:a16="http://schemas.microsoft.com/office/drawing/2014/main" id="{CA553312-F82B-4D05-80CF-352198D9FC60}"/>
              </a:ext>
            </a:extLst>
          </p:cNvPr>
          <p:cNvSpPr>
            <a:spLocks noChangeArrowheads="1"/>
          </p:cNvSpPr>
          <p:nvPr/>
        </p:nvSpPr>
        <p:spPr bwMode="auto">
          <a:xfrm>
            <a:off x="2590800" y="2209800"/>
            <a:ext cx="8704706" cy="13450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Arial" panose="020B0604020202020204" pitchFamily="34" charset="0"/>
              </a:rPr>
              <a:t>Accurate Classification</a:t>
            </a:r>
            <a:r>
              <a:rPr kumimoji="0" lang="en-US" altLang="en-US" sz="1400" b="0" i="0" u="none" strike="noStrike" cap="none" normalizeH="0" baseline="0" dirty="0">
                <a:ln>
                  <a:noFill/>
                </a:ln>
                <a:solidFill>
                  <a:schemeClr val="tx1"/>
                </a:solidFill>
                <a:effectLst/>
                <a:latin typeface="Arial" panose="020B0604020202020204" pitchFamily="34" charset="0"/>
              </a:rPr>
              <a:t> – Identify PCB, battery, cable, and plastic using AI.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Arial" panose="020B0604020202020204" pitchFamily="34" charset="0"/>
              </a:rPr>
              <a:t>Automatic Sorting</a:t>
            </a:r>
            <a:r>
              <a:rPr kumimoji="0" lang="en-US" altLang="en-US" sz="1400" b="0" i="0" u="none" strike="noStrike" cap="none" normalizeH="0" baseline="0" dirty="0">
                <a:ln>
                  <a:noFill/>
                </a:ln>
                <a:solidFill>
                  <a:schemeClr val="tx1"/>
                </a:solidFill>
                <a:effectLst/>
                <a:latin typeface="Arial" panose="020B0604020202020204" pitchFamily="34" charset="0"/>
              </a:rPr>
              <a:t> – Sort each E-waste item into the correct bin.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Arial" panose="020B0604020202020204" pitchFamily="34" charset="0"/>
              </a:rPr>
              <a:t>Working Prototype</a:t>
            </a:r>
            <a:r>
              <a:rPr kumimoji="0" lang="en-US" altLang="en-US" sz="1400" b="0" i="0" u="none" strike="noStrike" cap="none" normalizeH="0" baseline="0" dirty="0">
                <a:ln>
                  <a:noFill/>
                </a:ln>
                <a:solidFill>
                  <a:schemeClr val="tx1"/>
                </a:solidFill>
                <a:effectLst/>
                <a:latin typeface="Arial" panose="020B0604020202020204" pitchFamily="34" charset="0"/>
              </a:rPr>
              <a:t> – Develop a low-cost AI-based conveyor sorting system.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Arial" panose="020B0604020202020204" pitchFamily="34" charset="0"/>
              </a:rPr>
              <a:t>Reduced Manual Work</a:t>
            </a:r>
            <a:r>
              <a:rPr kumimoji="0" lang="en-US" altLang="en-US" sz="1400" b="0" i="0" u="none" strike="noStrike" cap="none" normalizeH="0" baseline="0" dirty="0">
                <a:ln>
                  <a:noFill/>
                </a:ln>
                <a:solidFill>
                  <a:schemeClr val="tx1"/>
                </a:solidFill>
                <a:effectLst/>
                <a:latin typeface="Arial" panose="020B0604020202020204" pitchFamily="34" charset="0"/>
              </a:rPr>
              <a:t> – Make E-waste segregation faster and easier. </a:t>
            </a:r>
          </a:p>
        </p:txBody>
      </p:sp>
    </p:spTree>
    <p:extLst>
      <p:ext uri="{BB962C8B-B14F-4D97-AF65-F5344CB8AC3E}">
        <p14:creationId xmlns:p14="http://schemas.microsoft.com/office/powerpoint/2010/main" val="37301064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3" name="object 3"/>
          <p:cNvGrpSpPr/>
          <p:nvPr/>
        </p:nvGrpSpPr>
        <p:grpSpPr>
          <a:xfrm>
            <a:off x="106869" y="76389"/>
            <a:ext cx="11971020" cy="6706870"/>
            <a:chOff x="106869" y="76389"/>
            <a:chExt cx="11971020" cy="6706870"/>
          </a:xfrm>
        </p:grpSpPr>
        <p:sp>
          <p:nvSpPr>
            <p:cNvPr id="4" name="object 4"/>
            <p:cNvSpPr/>
            <p:nvPr/>
          </p:nvSpPr>
          <p:spPr>
            <a:xfrm>
              <a:off x="121156" y="90676"/>
              <a:ext cx="11942445" cy="6678295"/>
            </a:xfrm>
            <a:custGeom>
              <a:avLst/>
              <a:gdLst/>
              <a:ahLst/>
              <a:cxnLst/>
              <a:rect l="l" t="t" r="r" b="b"/>
              <a:pathLst>
                <a:path w="11942445" h="6678295">
                  <a:moveTo>
                    <a:pt x="0" y="6678168"/>
                  </a:moveTo>
                  <a:lnTo>
                    <a:pt x="11942064" y="6678168"/>
                  </a:lnTo>
                  <a:lnTo>
                    <a:pt x="11942064" y="0"/>
                  </a:lnTo>
                  <a:lnTo>
                    <a:pt x="0" y="0"/>
                  </a:lnTo>
                  <a:lnTo>
                    <a:pt x="0" y="6678168"/>
                  </a:lnTo>
                  <a:close/>
                </a:path>
              </a:pathLst>
            </a:custGeom>
            <a:ln w="28575">
              <a:solidFill>
                <a:srgbClr val="2D528F"/>
              </a:solidFill>
            </a:ln>
          </p:spPr>
          <p:txBody>
            <a:bodyPr wrap="square" lIns="0" tIns="0" rIns="0" bIns="0" rtlCol="0"/>
            <a:lstStyle/>
            <a:p>
              <a:endParaRPr/>
            </a:p>
          </p:txBody>
        </p:sp>
        <p:pic>
          <p:nvPicPr>
            <p:cNvPr id="5" name="object 5"/>
            <p:cNvPicPr/>
            <p:nvPr/>
          </p:nvPicPr>
          <p:blipFill>
            <a:blip r:embed="rId3" cstate="print"/>
            <a:stretch>
              <a:fillRect/>
            </a:stretch>
          </p:blipFill>
          <p:spPr>
            <a:xfrm>
              <a:off x="405384" y="187452"/>
              <a:ext cx="873252" cy="1001268"/>
            </a:xfrm>
            <a:prstGeom prst="rect">
              <a:avLst/>
            </a:prstGeom>
          </p:spPr>
        </p:pic>
      </p:grpSp>
      <p:sp>
        <p:nvSpPr>
          <p:cNvPr id="7" name="object 7"/>
          <p:cNvSpPr txBox="1"/>
          <p:nvPr/>
        </p:nvSpPr>
        <p:spPr>
          <a:xfrm>
            <a:off x="11629770" y="6396132"/>
            <a:ext cx="486030" cy="278281"/>
          </a:xfrm>
          <a:prstGeom prst="rect">
            <a:avLst/>
          </a:prstGeom>
        </p:spPr>
        <p:txBody>
          <a:bodyPr vert="horz" wrap="square" lIns="0" tIns="1270" rIns="0" bIns="0" rtlCol="0">
            <a:spAutoFit/>
          </a:bodyPr>
          <a:lstStyle/>
          <a:p>
            <a:pPr marL="12700">
              <a:lnSpc>
                <a:spcPct val="100000"/>
              </a:lnSpc>
              <a:spcBef>
                <a:spcPts val="10"/>
              </a:spcBef>
            </a:pPr>
            <a:r>
              <a:rPr lang="en-US" sz="1800" b="1" spc="-50" dirty="0">
                <a:solidFill>
                  <a:srgbClr val="2D5395"/>
                </a:solidFill>
                <a:latin typeface="Cambria"/>
                <a:cs typeface="Cambria"/>
              </a:rPr>
              <a:t>1</a:t>
            </a:r>
            <a:r>
              <a:rPr lang="en-US" b="1" spc="-50" dirty="0">
                <a:solidFill>
                  <a:srgbClr val="2D5395"/>
                </a:solidFill>
                <a:latin typeface="Cambria"/>
                <a:cs typeface="Cambria"/>
              </a:rPr>
              <a:t>4</a:t>
            </a:r>
            <a:endParaRPr sz="1800" dirty="0">
              <a:latin typeface="Cambria"/>
              <a:cs typeface="Cambria"/>
            </a:endParaRPr>
          </a:p>
        </p:txBody>
      </p:sp>
      <p:sp>
        <p:nvSpPr>
          <p:cNvPr id="14" name="Rectangle 5">
            <a:extLst>
              <a:ext uri="{FF2B5EF4-FFF2-40B4-BE49-F238E27FC236}">
                <a16:creationId xmlns:a16="http://schemas.microsoft.com/office/drawing/2014/main" id="{CA553312-F82B-4D05-80CF-352198D9FC60}"/>
              </a:ext>
            </a:extLst>
          </p:cNvPr>
          <p:cNvSpPr>
            <a:spLocks noChangeArrowheads="1"/>
          </p:cNvSpPr>
          <p:nvPr/>
        </p:nvSpPr>
        <p:spPr bwMode="auto">
          <a:xfrm>
            <a:off x="2057400" y="2286000"/>
            <a:ext cx="8704706" cy="15490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50000"/>
              </a:lnSpc>
              <a:spcBef>
                <a:spcPct val="0"/>
              </a:spcBef>
              <a:spcAft>
                <a:spcPct val="0"/>
              </a:spcAft>
              <a:buClrTx/>
              <a:buSzTx/>
              <a:tabLst/>
            </a:pPr>
            <a:r>
              <a:rPr kumimoji="0" lang="en-US" altLang="en-US" sz="7200" b="1" i="0" u="none" strike="noStrike" cap="none" normalizeH="0" baseline="0" dirty="0">
                <a:ln>
                  <a:noFill/>
                </a:ln>
                <a:solidFill>
                  <a:schemeClr val="tx1"/>
                </a:solidFill>
                <a:effectLst/>
                <a:latin typeface="Arial" panose="020B0604020202020204" pitchFamily="34" charset="0"/>
              </a:rPr>
              <a:t>THANK YOU</a:t>
            </a:r>
            <a:endParaRPr kumimoji="0" lang="en-US" altLang="en-US" sz="72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8188621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575</TotalTime>
  <Words>1496</Words>
  <Application>Microsoft Office PowerPoint</Application>
  <PresentationFormat>Widescreen</PresentationFormat>
  <Paragraphs>231</Paragraphs>
  <Slides>15</Slides>
  <Notes>15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Cambria</vt:lpstr>
      <vt:lpstr>Times New Roman</vt:lpstr>
      <vt:lpstr>Office Theme</vt:lpstr>
      <vt:lpstr>K S INSTITUTE OF TECHNOLOGY DEPARTMENT OF ARTIFICIAL INTELLIGENCE &amp; MACHINE LEARNING</vt:lpstr>
      <vt:lpstr>CONTENT</vt:lpstr>
      <vt:lpstr>CONTENT</vt:lpstr>
      <vt:lpstr>CONTENT</vt:lpstr>
      <vt:lpstr>CONTENT</vt:lpstr>
      <vt:lpstr>CONTENT</vt:lpstr>
      <vt:lpstr>CONTENT</vt:lpstr>
      <vt:lpstr>CONTENT</vt:lpstr>
      <vt:lpstr>CONTENT</vt:lpstr>
      <vt:lpstr>CONTENT</vt:lpstr>
      <vt:lpstr>CONTENT</vt:lpstr>
      <vt:lpstr>CONTENT</vt:lpstr>
      <vt:lpstr>CONTENT</vt:lpstr>
      <vt:lpstr>CONTENT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Bhoomika K</dc:creator>
  <cp:lastModifiedBy>P, Chetan S</cp:lastModifiedBy>
  <cp:revision>65</cp:revision>
  <dcterms:created xsi:type="dcterms:W3CDTF">2024-11-09T04:12:46Z</dcterms:created>
  <dcterms:modified xsi:type="dcterms:W3CDTF">2026-08-22T01:49:25Z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2024-11-08T00:00:00Z</vt:filetime>
  </property>
  <property fmtid="{D5CDD505-2E9C-101B-9397-08002B2CF9AE}" pid="3" name="Creator">
    <vt:lpwstr>Microsoft® PowerPoint® 2021</vt:lpwstr>
  </property>
  <property fmtid="{D5CDD505-2E9C-101B-9397-08002B2CF9AE}" pid="4" name="LastSaved">
    <vt:filetime>2024-11-09T00:00:00Z</vt:filetime>
  </property>
  <property fmtid="{D5CDD505-2E9C-101B-9397-08002B2CF9AE}" pid="5" name="Producer">
    <vt:lpwstr>Microsoft® PowerPoint® 2021</vt:lpwstr>
  </property>
  <property fmtid="{D5CDD505-2E9C-101B-9397-08002B2CF9AE}" pid="6" name="MSIP_Label_dad3be33-4108-4738-9e07-d8656a181486_Enabled">
    <vt:lpwstr>true</vt:lpwstr>
  </property>
  <property fmtid="{D5CDD505-2E9C-101B-9397-08002B2CF9AE}" pid="7" name="MSIP_Label_dad3be33-4108-4738-9e07-d8656a181486_SetDate">
    <vt:lpwstr>2026-08-22T01:49:15Z</vt:lpwstr>
  </property>
  <property fmtid="{D5CDD505-2E9C-101B-9397-08002B2CF9AE}" pid="8" name="MSIP_Label_dad3be33-4108-4738-9e07-d8656a181486_Method">
    <vt:lpwstr>Privileged</vt:lpwstr>
  </property>
  <property fmtid="{D5CDD505-2E9C-101B-9397-08002B2CF9AE}" pid="9" name="MSIP_Label_dad3be33-4108-4738-9e07-d8656a181486_Name">
    <vt:lpwstr>Public No Visual Label</vt:lpwstr>
  </property>
  <property fmtid="{D5CDD505-2E9C-101B-9397-08002B2CF9AE}" pid="10" name="MSIP_Label_dad3be33-4108-4738-9e07-d8656a181486_SiteId">
    <vt:lpwstr>945c199a-83a2-4e80-9f8c-5a91be5752dd</vt:lpwstr>
  </property>
  <property fmtid="{D5CDD505-2E9C-101B-9397-08002B2CF9AE}" pid="11" name="MSIP_Label_dad3be33-4108-4738-9e07-d8656a181486_ActionId">
    <vt:lpwstr>36dab3e0-a586-4084-bf23-ca881d34f4a5</vt:lpwstr>
  </property>
  <property fmtid="{D5CDD505-2E9C-101B-9397-08002B2CF9AE}" pid="12" name="MSIP_Label_dad3be33-4108-4738-9e07-d8656a181486_ContentBits">
    <vt:lpwstr>0</vt:lpwstr>
  </property>
  <property fmtid="{D5CDD505-2E9C-101B-9397-08002B2CF9AE}" pid="13" name="MSIP_Label_dad3be33-4108-4738-9e07-d8656a181486_Tag">
    <vt:lpwstr>10, 0, 1, 1</vt:lpwstr>
  </property>
</Properties>
</file>